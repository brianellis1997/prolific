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diving into a massive shift in the tech landscape. In 2026, the 'gold rush' of simple AI apps is officially over, and a new era of deep, vertical integration has begun. We're going to explore why the 'wrapper' business model is dying and what it actually takes to build a defensible AI company in this consolidated market.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that opening, let's look at the first major chapter of this shift: The Thin Wrapper Apocalypse. We are seeing a brutal consolidation as companies built on simple API connections face extinction. This isn't just a market dip; it's a fundamental reckoning for how AI value is created and captured.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the catalyst for this change. In early 2026, Google's leadership sent shockwaves through the community by stating that the days of simple wrappers are over. This wasn't just a comment; it was a signal to investors that the era of funding companies with no proprietary technology has ended. Within weeks of this warning, we saw funding for these superficial applications contract sharply.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on to the technical side, take a look at this illustration of a typical wrapper interface. These companies essentially 'reskin' capabilities that are available to anyone with an API key. Because they lack fine-tuned models or deep workflow integration, they have no defensible moat. When the underlying model provider like OpenAI or Google adds a new feature, these startups can be wiped out overnight.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the technical vulnerability, the economics have also collapsed. As model providers slashed prices to compete, the margins for intermediaries evaporated. Furthermore, what we used to call 'prompt engineering' has become a basic skill rather than a specialized moat. To survive now, companies must be 'AI-native,' meaning their products are impossible to build without deep, multi-model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if wrappers are dying, what is succeeding? Let's transition into the architecture of Vertical AI Integration. This is where AI moves from being a 'feature' to becoming the foundational infrastructure of enterprise systems. It's about deep, domain-specific engineering that base models simply cannot replicate.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the core of this new architecture: Agentic AI. Unlike simple chatbots, agentic systems are capable of autonomous decision-making without constant human intervention. They don't just answer questions; they execute workflows across ERP and CRM systems. This requires a layered architecture that separates the intelligence layer from the business logic, allowing for updates without retraining the entire model.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the idea of deep integration, the data shows a massive performance gap. Fine-tuning is no longer optional for vertical applications. By investing in proprietary data pipelines and domain-specific training, companies are seeing nearly a 30% jump in accuracy. This level of precision is what enterprise customers now demand for mission-critical workflows like legal or healthcare.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let's discuss the money. The economics of AI have split into two divergent paths. Understanding whether you are scaling infrastructure or scaling intelligence is the most important strategic decision an AI founder can make in 2026.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the divergence in the market. On one side, we have the infrastructure giants like OpenAI and Nvidia, who are betting billions on the computational substrate. On the other side, we have intelligence-focused startups. While the infrastructure game requires massive capital for data centers, the intelligence game is won through specialized accuracy and lower per-request costs through fine-tuning.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wrap up, I want to acknowledge the sources that made this deep dive possible. We've synthesized data from recent market warnings, technical surveys on agentic reasoning, and economic reports on the massive infrastructure investments currently shaping our world. You can find the full list of references in the video description.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the era of the 'thin wrapper' is officially over. To survive the consolidation of 2026, you must build vertical solutions that are deeply embedded into the systems they serve. Focus on proprietary logic and domain-specific accuracy that base models can't match. If you found this breakdown valuable, please subscribe for more technical deep dives and check out the full blog post for the architectural diagrams. Thanks for watching!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097280" y="16459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920240"/>
            <a:ext cx="9966960" cy="1828800"/>
          </a:xfrm>
          <a:prstGeom prst="rect">
            <a:avLst/>
          </a:prstGeom>
          <a:noFill/>
        </p:spPr>
        <p:txBody>
          <a:bodyPr wrap="square" anchor="t"/>
          <a:lstStyle/>
          <a:p>
            <a:pPr algn="l">
              <a:defRPr sz="4000" b="1">
                <a:solidFill>
                  <a:srgbClr val="F0F0F5"/>
                </a:solidFill>
                <a:latin typeface="Arial"/>
              </a:defRPr>
            </a:pPr>
            <a:r>
              <a:t>Beyond the Wrapper</a:t>
            </a:r>
          </a:p>
        </p:txBody>
      </p:sp>
      <p:sp>
        <p:nvSpPr>
          <p:cNvPr id="4" name="TextBox 3"/>
          <p:cNvSpPr txBox="1"/>
          <p:nvPr/>
        </p:nvSpPr>
        <p:spPr>
          <a:xfrm>
            <a:off x="1097280" y="3840480"/>
            <a:ext cx="9966960" cy="914400"/>
          </a:xfrm>
          <a:prstGeom prst="rect">
            <a:avLst/>
          </a:prstGeom>
          <a:noFill/>
        </p:spPr>
        <p:txBody>
          <a:bodyPr wrap="square" anchor="t"/>
          <a:lstStyle/>
          <a:p>
            <a:pPr algn="l">
              <a:defRPr sz="2000" b="0">
                <a:solidFill>
                  <a:srgbClr val="9A9AA8"/>
                </a:solidFill>
                <a:latin typeface="Arial"/>
              </a:defRPr>
            </a:pPr>
            <a:r>
              <a:t>Why 2026 is the Year of Vertical AI Integration</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9A9AA8"/>
                </a:solidFill>
                <a:latin typeface="Arial"/>
              </a:defRPr>
            </a:pPr>
            <a:r>
              <a:t>March 06, 2026  |  Prolific Blog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01</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The Thin Wrapper Apocalypse</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Why AI Startups Are Facing Their Reckoning</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371600" y="1371600"/>
            <a:ext cx="94183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188720"/>
            <a:ext cx="914400" cy="914400"/>
          </a:xfrm>
          <a:prstGeom prst="rect">
            <a:avLst/>
          </a:prstGeom>
          <a:noFill/>
        </p:spPr>
        <p:txBody>
          <a:bodyPr wrap="square" anchor="t"/>
          <a:lstStyle/>
          <a:p>
            <a:pPr algn="l">
              <a:defRPr sz="7200" b="1">
                <a:solidFill>
                  <a:srgbClr val="609BFF"/>
                </a:solidFill>
                <a:latin typeface="Arial"/>
              </a:defRPr>
            </a:pPr>
            <a:r>
              <a:t>“</a:t>
            </a:r>
          </a:p>
        </p:txBody>
      </p:sp>
      <p:sp>
        <p:nvSpPr>
          <p:cNvPr id="4" name="TextBox 3"/>
          <p:cNvSpPr txBox="1"/>
          <p:nvPr/>
        </p:nvSpPr>
        <p:spPr>
          <a:xfrm>
            <a:off x="1828800" y="2103120"/>
            <a:ext cx="8503920" cy="2286000"/>
          </a:xfrm>
          <a:prstGeom prst="rect">
            <a:avLst/>
          </a:prstGeom>
          <a:noFill/>
        </p:spPr>
        <p:txBody>
          <a:bodyPr wrap="square" anchor="t"/>
          <a:lstStyle/>
          <a:p>
            <a:pPr algn="l">
              <a:defRPr sz="2400" b="0">
                <a:solidFill>
                  <a:srgbClr val="F0F0F5"/>
                </a:solidFill>
                <a:latin typeface="Arial"/>
              </a:defRPr>
            </a:pPr>
            <a:r>
              <a:t>The industry doesn't have patience for that anymore. You have to build something that isn't just a wrapper.</a:t>
            </a:r>
          </a:p>
        </p:txBody>
      </p:sp>
      <p:sp>
        <p:nvSpPr>
          <p:cNvPr id="5" name="TextBox 4"/>
          <p:cNvSpPr txBox="1"/>
          <p:nvPr/>
        </p:nvSpPr>
        <p:spPr>
          <a:xfrm>
            <a:off x="1828800" y="4572000"/>
            <a:ext cx="8503920" cy="457200"/>
          </a:xfrm>
          <a:prstGeom prst="rect">
            <a:avLst/>
          </a:prstGeom>
          <a:noFill/>
        </p:spPr>
        <p:txBody>
          <a:bodyPr wrap="square" anchor="t"/>
          <a:lstStyle/>
          <a:p>
            <a:pPr algn="r">
              <a:defRPr sz="1400" b="0">
                <a:solidFill>
                  <a:srgbClr val="9A9AA8"/>
                </a:solidFill>
                <a:latin typeface="Arial"/>
              </a:defRPr>
            </a:pPr>
            <a:r>
              <a:t>— Google VP of Global Startups (February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Anatomy of a Dying Model</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pb0x6adfn.png"/>
          <p:cNvPicPr>
            <a:picLocks noChangeAspect="1"/>
          </p:cNvPicPr>
          <p:nvPr/>
        </p:nvPicPr>
        <p:blipFill>
          <a:blip r:embed="rId2"/>
          <a:stretch>
            <a:fillRect/>
          </a:stretch>
        </p:blipFill>
        <p:spPr>
          <a:xfrm>
            <a:off x="731520" y="1645920"/>
            <a:ext cx="5943600" cy="4114800"/>
          </a:xfrm>
          <a:prstGeom prst="rect">
            <a:avLst/>
          </a:prstGeom>
        </p:spPr>
      </p:pic>
      <p:sp>
        <p:nvSpPr>
          <p:cNvPr id="5" name="TextBox 4"/>
          <p:cNvSpPr txBox="1"/>
          <p:nvPr/>
        </p:nvSpPr>
        <p:spPr>
          <a:xfrm>
            <a:off x="731520" y="5943600"/>
            <a:ext cx="5943600" cy="457200"/>
          </a:xfrm>
          <a:prstGeom prst="rect">
            <a:avLst/>
          </a:prstGeom>
          <a:noFill/>
        </p:spPr>
        <p:txBody>
          <a:bodyPr wrap="square" anchor="t"/>
          <a:lstStyle/>
          <a:p>
            <a:pPr algn="ctr">
              <a:defRPr sz="1200" b="0">
                <a:solidFill>
                  <a:srgbClr val="9A9AA8"/>
                </a:solidFill>
                <a:latin typeface="Arial"/>
              </a:defRPr>
            </a:pPr>
            <a:r>
              <a:t>A conceptual illustration of an AI API wrapper interface.</a:t>
            </a:r>
          </a:p>
        </p:txBody>
      </p:sp>
      <p:sp>
        <p:nvSpPr>
          <p:cNvPr id="6" name="TextBox 5"/>
          <p:cNvSpPr txBox="1"/>
          <p:nvPr/>
        </p:nvSpPr>
        <p:spPr>
          <a:xfrm>
            <a:off x="7132320" y="1645920"/>
            <a:ext cx="4297680" cy="548640"/>
          </a:xfrm>
          <a:prstGeom prst="rect">
            <a:avLst/>
          </a:prstGeom>
          <a:noFill/>
        </p:spPr>
        <p:txBody>
          <a:bodyPr wrap="square" anchor="t"/>
          <a:lstStyle/>
          <a:p>
            <a:pPr algn="l">
              <a:defRPr sz="1500" b="0">
                <a:solidFill>
                  <a:srgbClr val="F0F0F5"/>
                </a:solidFill>
                <a:latin typeface="Arial"/>
              </a:defRPr>
            </a:pPr>
            <a:r>
              <a:t>•  Minimal preprocessing of user requests</a:t>
            </a:r>
          </a:p>
        </p:txBody>
      </p:sp>
      <p:sp>
        <p:nvSpPr>
          <p:cNvPr id="7" name="TextBox 6"/>
          <p:cNvSpPr txBox="1"/>
          <p:nvPr/>
        </p:nvSpPr>
        <p:spPr>
          <a:xfrm>
            <a:off x="7132320" y="2286000"/>
            <a:ext cx="4297680" cy="548640"/>
          </a:xfrm>
          <a:prstGeom prst="rect">
            <a:avLst/>
          </a:prstGeom>
          <a:noFill/>
        </p:spPr>
        <p:txBody>
          <a:bodyPr wrap="square" anchor="t"/>
          <a:lstStyle/>
          <a:p>
            <a:pPr algn="l">
              <a:defRPr sz="1500" b="0">
                <a:solidFill>
                  <a:srgbClr val="F0F0F5"/>
                </a:solidFill>
                <a:latin typeface="Arial"/>
              </a:defRPr>
            </a:pPr>
            <a:r>
              <a:t>•  No proprietary training data</a:t>
            </a:r>
          </a:p>
        </p:txBody>
      </p:sp>
      <p:sp>
        <p:nvSpPr>
          <p:cNvPr id="8" name="TextBox 7"/>
          <p:cNvSpPr txBox="1"/>
          <p:nvPr/>
        </p:nvSpPr>
        <p:spPr>
          <a:xfrm>
            <a:off x="7132320" y="2926080"/>
            <a:ext cx="4297680" cy="548640"/>
          </a:xfrm>
          <a:prstGeom prst="rect">
            <a:avLst/>
          </a:prstGeom>
          <a:noFill/>
        </p:spPr>
        <p:txBody>
          <a:bodyPr wrap="square" anchor="t"/>
          <a:lstStyle/>
          <a:p>
            <a:pPr algn="l">
              <a:defRPr sz="1500" b="0">
                <a:solidFill>
                  <a:srgbClr val="F0F0F5"/>
                </a:solidFill>
                <a:latin typeface="Arial"/>
              </a:defRPr>
            </a:pPr>
            <a:r>
              <a:t>•  Cosmetic features over technical depth</a:t>
            </a:r>
          </a:p>
        </p:txBody>
      </p:sp>
      <p:sp>
        <p:nvSpPr>
          <p:cNvPr id="9" name="TextBox 8"/>
          <p:cNvSpPr txBox="1"/>
          <p:nvPr/>
        </p:nvSpPr>
        <p:spPr>
          <a:xfrm>
            <a:off x="7132320" y="3566160"/>
            <a:ext cx="4297680" cy="548640"/>
          </a:xfrm>
          <a:prstGeom prst="rect">
            <a:avLst/>
          </a:prstGeom>
          <a:noFill/>
        </p:spPr>
        <p:txBody>
          <a:bodyPr wrap="square" anchor="t"/>
          <a:lstStyle/>
          <a:p>
            <a:pPr algn="l">
              <a:defRPr sz="1500" b="0">
                <a:solidFill>
                  <a:srgbClr val="F0F0F5"/>
                </a:solidFill>
                <a:latin typeface="Arial"/>
              </a:defRPr>
            </a:pPr>
            <a:r>
              <a:t>•  Vulnerable to model provider updates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Economics of Commoditization</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API prices dropped 70-80% in 18 months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Capability convergence across top models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Prompt engineering cannot be patented</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Shift from 'AI-first' to 'AI-native' architectures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02</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Building Beyond the API</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The Architecture of Vertical AI Integration</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Agentic AI Frameworks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Autonomous multi-step task execution</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Integration with ERP and CRM systems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Persistent context management</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Human-in-the-loop safety controls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371600" y="1371600"/>
            <a:ext cx="94183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188720"/>
            <a:ext cx="914400" cy="914400"/>
          </a:xfrm>
          <a:prstGeom prst="rect">
            <a:avLst/>
          </a:prstGeom>
          <a:noFill/>
        </p:spPr>
        <p:txBody>
          <a:bodyPr wrap="square" anchor="t"/>
          <a:lstStyle/>
          <a:p>
            <a:pPr algn="l">
              <a:defRPr sz="7200" b="1">
                <a:solidFill>
                  <a:srgbClr val="609BFF"/>
                </a:solidFill>
                <a:latin typeface="Arial"/>
              </a:defRPr>
            </a:pPr>
            <a:r>
              <a:t>“</a:t>
            </a:r>
          </a:p>
        </p:txBody>
      </p:sp>
      <p:sp>
        <p:nvSpPr>
          <p:cNvPr id="4" name="TextBox 3"/>
          <p:cNvSpPr txBox="1"/>
          <p:nvPr/>
        </p:nvSpPr>
        <p:spPr>
          <a:xfrm>
            <a:off x="1828800" y="2103120"/>
            <a:ext cx="8503920" cy="2286000"/>
          </a:xfrm>
          <a:prstGeom prst="rect">
            <a:avLst/>
          </a:prstGeom>
          <a:noFill/>
        </p:spPr>
        <p:txBody>
          <a:bodyPr wrap="square" anchor="t"/>
          <a:lstStyle/>
          <a:p>
            <a:pPr algn="l">
              <a:defRPr sz="2400" b="0">
                <a:solidFill>
                  <a:srgbClr val="F0F0F5"/>
                </a:solidFill>
                <a:latin typeface="Arial"/>
              </a:defRPr>
            </a:pPr>
            <a:r>
              <a:t>Companies deploying fine-tuned models achieve 28.3% higher accuracy on domain-specific tasks compared to prompt-only approaches.</a:t>
            </a:r>
          </a:p>
        </p:txBody>
      </p:sp>
      <p:sp>
        <p:nvSpPr>
          <p:cNvPr id="5" name="TextBox 4"/>
          <p:cNvSpPr txBox="1"/>
          <p:nvPr/>
        </p:nvSpPr>
        <p:spPr>
          <a:xfrm>
            <a:off x="1828800" y="4572000"/>
            <a:ext cx="8503920" cy="457200"/>
          </a:xfrm>
          <a:prstGeom prst="rect">
            <a:avLst/>
          </a:prstGeom>
          <a:noFill/>
        </p:spPr>
        <p:txBody>
          <a:bodyPr wrap="square" anchor="t"/>
          <a:lstStyle/>
          <a:p>
            <a:pPr algn="r">
              <a:defRPr sz="1400" b="0">
                <a:solidFill>
                  <a:srgbClr val="9A9AA8"/>
                </a:solidFill>
                <a:latin typeface="Arial"/>
              </a:defRPr>
            </a:pPr>
            <a:r>
              <a:t>— Industry Performance Metrics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03</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Scaling Intelligence</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Infrastructure Economics and the Path Forward</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$30B Strategy Split</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Infrastructure: Competing on computational density</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Intelligence: Competing on task completion rates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Hardware providers investing in their own customers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Data center capacity needs reaching 122GW by 2030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Sources &amp; References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029200" cy="365760"/>
          </a:xfrm>
          <a:prstGeom prst="rect">
            <a:avLst/>
          </a:prstGeom>
          <a:noFill/>
        </p:spPr>
        <p:txBody>
          <a:bodyPr wrap="square" anchor="t"/>
          <a:lstStyle/>
          <a:p>
            <a:pPr algn="l">
              <a:defRPr sz="1100" b="1">
                <a:solidFill>
                  <a:srgbClr val="F0F0F5"/>
                </a:solidFill>
                <a:latin typeface="Arial"/>
              </a:defRPr>
            </a:pPr>
            <a:r>
              <a:t>1. AI Trends for 2026 – Investor Discipline Supplants AI Valuation ...</a:t>
            </a:r>
          </a:p>
        </p:txBody>
      </p:sp>
      <p:sp>
        <p:nvSpPr>
          <p:cNvPr id="5" name="TextBox 4"/>
          <p:cNvSpPr txBox="1"/>
          <p:nvPr/>
        </p:nvSpPr>
        <p:spPr>
          <a:xfrm>
            <a:off x="731520" y="1783080"/>
            <a:ext cx="5029200" cy="274320"/>
          </a:xfrm>
          <a:prstGeom prst="rect">
            <a:avLst/>
          </a:prstGeom>
          <a:noFill/>
        </p:spPr>
        <p:txBody>
          <a:bodyPr wrap="square" anchor="t"/>
          <a:lstStyle/>
          <a:p>
            <a:pPr algn="l">
              <a:defRPr sz="900" b="0">
                <a:solidFill>
                  <a:srgbClr val="9A9AA8"/>
                </a:solidFill>
                <a:latin typeface="Arial"/>
              </a:defRPr>
            </a:pPr>
            <a:r>
              <a:t>https://www.jdsupra.com/legalnews/ai-trends-for-2026-investo...</a:t>
            </a:r>
          </a:p>
        </p:txBody>
      </p:sp>
      <p:sp>
        <p:nvSpPr>
          <p:cNvPr id="6" name="TextBox 5"/>
          <p:cNvSpPr txBox="1"/>
          <p:nvPr/>
        </p:nvSpPr>
        <p:spPr>
          <a:xfrm>
            <a:off x="731520" y="2240280"/>
            <a:ext cx="5029200" cy="365760"/>
          </a:xfrm>
          <a:prstGeom prst="rect">
            <a:avLst/>
          </a:prstGeom>
          <a:noFill/>
        </p:spPr>
        <p:txBody>
          <a:bodyPr wrap="square" anchor="t"/>
          <a:lstStyle/>
          <a:p>
            <a:pPr algn="l">
              <a:defRPr sz="1100" b="1">
                <a:solidFill>
                  <a:srgbClr val="F0F0F5"/>
                </a:solidFill>
                <a:latin typeface="Arial"/>
              </a:defRPr>
            </a:pPr>
            <a:r>
              <a:t>2. Agentic AI Frameworks for Building Autonomous AI Agents</a:t>
            </a:r>
          </a:p>
        </p:txBody>
      </p:sp>
      <p:sp>
        <p:nvSpPr>
          <p:cNvPr id="7" name="TextBox 6"/>
          <p:cNvSpPr txBox="1"/>
          <p:nvPr/>
        </p:nvSpPr>
        <p:spPr>
          <a:xfrm>
            <a:off x="731520" y="2560320"/>
            <a:ext cx="5029200" cy="274320"/>
          </a:xfrm>
          <a:prstGeom prst="rect">
            <a:avLst/>
          </a:prstGeom>
          <a:noFill/>
        </p:spPr>
        <p:txBody>
          <a:bodyPr wrap="square" anchor="t"/>
          <a:lstStyle/>
          <a:p>
            <a:pPr algn="l">
              <a:defRPr sz="900" b="0">
                <a:solidFill>
                  <a:srgbClr val="9A9AA8"/>
                </a:solidFill>
                <a:latin typeface="Arial"/>
              </a:defRPr>
            </a:pPr>
            <a:r>
              <a:t>https://www.digitalocean.com/community/tutorials/agentic-ai-...</a:t>
            </a:r>
          </a:p>
        </p:txBody>
      </p:sp>
      <p:sp>
        <p:nvSpPr>
          <p:cNvPr id="8" name="TextBox 7"/>
          <p:cNvSpPr txBox="1"/>
          <p:nvPr/>
        </p:nvSpPr>
        <p:spPr>
          <a:xfrm>
            <a:off x="731520" y="3017520"/>
            <a:ext cx="5029200" cy="365760"/>
          </a:xfrm>
          <a:prstGeom prst="rect">
            <a:avLst/>
          </a:prstGeom>
          <a:noFill/>
        </p:spPr>
        <p:txBody>
          <a:bodyPr wrap="square" anchor="t"/>
          <a:lstStyle/>
          <a:p>
            <a:pPr algn="l">
              <a:defRPr sz="1100" b="1">
                <a:solidFill>
                  <a:srgbClr val="F0F0F5"/>
                </a:solidFill>
                <a:latin typeface="Arial"/>
              </a:defRPr>
            </a:pPr>
            <a:r>
              <a:t>3. LLM-based Agentic Reasoning Frameworks: A Survey from Methods ...</a:t>
            </a:r>
          </a:p>
        </p:txBody>
      </p:sp>
      <p:sp>
        <p:nvSpPr>
          <p:cNvPr id="9" name="TextBox 8"/>
          <p:cNvSpPr txBox="1"/>
          <p:nvPr/>
        </p:nvSpPr>
        <p:spPr>
          <a:xfrm>
            <a:off x="731520" y="3337560"/>
            <a:ext cx="5029200" cy="274320"/>
          </a:xfrm>
          <a:prstGeom prst="rect">
            <a:avLst/>
          </a:prstGeom>
          <a:noFill/>
        </p:spPr>
        <p:txBody>
          <a:bodyPr wrap="square" anchor="t"/>
          <a:lstStyle/>
          <a:p>
            <a:pPr algn="l">
              <a:defRPr sz="900" b="0">
                <a:solidFill>
                  <a:srgbClr val="9A9AA8"/>
                </a:solidFill>
                <a:latin typeface="Arial"/>
              </a:defRPr>
            </a:pPr>
            <a:r>
              <a:t>https://arxiv.org/html/2508.17692v1</a:t>
            </a:r>
          </a:p>
        </p:txBody>
      </p:sp>
      <p:sp>
        <p:nvSpPr>
          <p:cNvPr id="10" name="TextBox 9"/>
          <p:cNvSpPr txBox="1"/>
          <p:nvPr/>
        </p:nvSpPr>
        <p:spPr>
          <a:xfrm>
            <a:off x="731520" y="3794760"/>
            <a:ext cx="5029200" cy="365760"/>
          </a:xfrm>
          <a:prstGeom prst="rect">
            <a:avLst/>
          </a:prstGeom>
          <a:noFill/>
        </p:spPr>
        <p:txBody>
          <a:bodyPr wrap="square" anchor="t"/>
          <a:lstStyle/>
          <a:p>
            <a:pPr algn="l">
              <a:defRPr sz="1100" b="1">
                <a:solidFill>
                  <a:srgbClr val="F0F0F5"/>
                </a:solidFill>
                <a:latin typeface="Arial"/>
              </a:defRPr>
            </a:pPr>
            <a:r>
              <a:t>4. Prompt Engineering vs Fine Tuning: When to Use Each | Codecademy</a:t>
            </a:r>
          </a:p>
        </p:txBody>
      </p:sp>
      <p:sp>
        <p:nvSpPr>
          <p:cNvPr id="11" name="TextBox 10"/>
          <p:cNvSpPr txBox="1"/>
          <p:nvPr/>
        </p:nvSpPr>
        <p:spPr>
          <a:xfrm>
            <a:off x="731520" y="4114800"/>
            <a:ext cx="5029200" cy="274320"/>
          </a:xfrm>
          <a:prstGeom prst="rect">
            <a:avLst/>
          </a:prstGeom>
          <a:noFill/>
        </p:spPr>
        <p:txBody>
          <a:bodyPr wrap="square" anchor="t"/>
          <a:lstStyle/>
          <a:p>
            <a:pPr algn="l">
              <a:defRPr sz="900" b="0">
                <a:solidFill>
                  <a:srgbClr val="9A9AA8"/>
                </a:solidFill>
                <a:latin typeface="Arial"/>
              </a:defRPr>
            </a:pPr>
            <a:r>
              <a:t>https://www.codecademy.com/article/prompt-engineering-vs-fin...</a:t>
            </a:r>
          </a:p>
        </p:txBody>
      </p:sp>
      <p:sp>
        <p:nvSpPr>
          <p:cNvPr id="12" name="TextBox 11"/>
          <p:cNvSpPr txBox="1"/>
          <p:nvPr/>
        </p:nvSpPr>
        <p:spPr>
          <a:xfrm>
            <a:off x="731520" y="4572000"/>
            <a:ext cx="5029200" cy="365760"/>
          </a:xfrm>
          <a:prstGeom prst="rect">
            <a:avLst/>
          </a:prstGeom>
          <a:noFill/>
        </p:spPr>
        <p:txBody>
          <a:bodyPr wrap="square" anchor="t"/>
          <a:lstStyle/>
          <a:p>
            <a:pPr algn="l">
              <a:defRPr sz="1100" b="1">
                <a:solidFill>
                  <a:srgbClr val="F0F0F5"/>
                </a:solidFill>
                <a:latin typeface="Arial"/>
              </a:defRPr>
            </a:pPr>
            <a:r>
              <a:t>5. The U.S. Is Betting the Economy on 'Scaling' AI</a:t>
            </a:r>
          </a:p>
        </p:txBody>
      </p:sp>
      <p:sp>
        <p:nvSpPr>
          <p:cNvPr id="13" name="TextBox 12"/>
          <p:cNvSpPr txBox="1"/>
          <p:nvPr/>
        </p:nvSpPr>
        <p:spPr>
          <a:xfrm>
            <a:off x="731520" y="4892040"/>
            <a:ext cx="5029200" cy="274320"/>
          </a:xfrm>
          <a:prstGeom prst="rect">
            <a:avLst/>
          </a:prstGeom>
          <a:noFill/>
        </p:spPr>
        <p:txBody>
          <a:bodyPr wrap="square" anchor="t"/>
          <a:lstStyle/>
          <a:p>
            <a:pPr algn="l">
              <a:defRPr sz="900" b="0">
                <a:solidFill>
                  <a:srgbClr val="9A9AA8"/>
                </a:solidFill>
                <a:latin typeface="Arial"/>
              </a:defRPr>
            </a:pPr>
            <a:r>
              <a:t>https://www.ineteconomics.org/perspectives/blog/the-u-s-is-b...</a:t>
            </a:r>
          </a:p>
        </p:txBody>
      </p:sp>
      <p:sp>
        <p:nvSpPr>
          <p:cNvPr id="14" name="TextBox 13"/>
          <p:cNvSpPr txBox="1"/>
          <p:nvPr/>
        </p:nvSpPr>
        <p:spPr>
          <a:xfrm>
            <a:off x="6400800" y="1463040"/>
            <a:ext cx="5029200" cy="365760"/>
          </a:xfrm>
          <a:prstGeom prst="rect">
            <a:avLst/>
          </a:prstGeom>
          <a:noFill/>
        </p:spPr>
        <p:txBody>
          <a:bodyPr wrap="square" anchor="t"/>
          <a:lstStyle/>
          <a:p>
            <a:pPr algn="l">
              <a:defRPr sz="1100" b="1">
                <a:solidFill>
                  <a:srgbClr val="F0F0F5"/>
                </a:solidFill>
                <a:latin typeface="Arial"/>
              </a:defRPr>
            </a:pPr>
            <a:r>
              <a:t>6. Google VP warns that days for these AI startups are over; says</a:t>
            </a:r>
          </a:p>
        </p:txBody>
      </p:sp>
      <p:sp>
        <p:nvSpPr>
          <p:cNvPr id="15" name="TextBox 14"/>
          <p:cNvSpPr txBox="1"/>
          <p:nvPr/>
        </p:nvSpPr>
        <p:spPr>
          <a:xfrm>
            <a:off x="6400800" y="1783080"/>
            <a:ext cx="5029200" cy="274320"/>
          </a:xfrm>
          <a:prstGeom prst="rect">
            <a:avLst/>
          </a:prstGeom>
          <a:noFill/>
        </p:spPr>
        <p:txBody>
          <a:bodyPr wrap="square" anchor="t"/>
          <a:lstStyle/>
          <a:p>
            <a:pPr algn="l">
              <a:defRPr sz="900" b="0">
                <a:solidFill>
                  <a:srgbClr val="9A9AA8"/>
                </a:solidFill>
                <a:latin typeface="Arial"/>
              </a:defRPr>
            </a:pPr>
            <a:r>
              <a:t>https://timesofindia.indiatimes.com/technology/tech-news/goo...</a:t>
            </a:r>
          </a:p>
        </p:txBody>
      </p:sp>
      <p:sp>
        <p:nvSpPr>
          <p:cNvPr id="16" name="TextBox 15"/>
          <p:cNvSpPr txBox="1"/>
          <p:nvPr/>
        </p:nvSpPr>
        <p:spPr>
          <a:xfrm>
            <a:off x="6400800" y="2240280"/>
            <a:ext cx="5029200" cy="365760"/>
          </a:xfrm>
          <a:prstGeom prst="rect">
            <a:avLst/>
          </a:prstGeom>
          <a:noFill/>
        </p:spPr>
        <p:txBody>
          <a:bodyPr wrap="square" anchor="t"/>
          <a:lstStyle/>
          <a:p>
            <a:pPr algn="l">
              <a:defRPr sz="1100" b="1">
                <a:solidFill>
                  <a:srgbClr val="F0F0F5"/>
                </a:solidFill>
                <a:latin typeface="Arial"/>
              </a:defRPr>
            </a:pPr>
            <a:r>
              <a:t>7. Google VP warns AI wrapper startups may struggle to survive</a:t>
            </a:r>
          </a:p>
        </p:txBody>
      </p:sp>
      <p:sp>
        <p:nvSpPr>
          <p:cNvPr id="17" name="TextBox 16"/>
          <p:cNvSpPr txBox="1"/>
          <p:nvPr/>
        </p:nvSpPr>
        <p:spPr>
          <a:xfrm>
            <a:off x="6400800" y="2560320"/>
            <a:ext cx="5029200" cy="274320"/>
          </a:xfrm>
          <a:prstGeom prst="rect">
            <a:avLst/>
          </a:prstGeom>
          <a:noFill/>
        </p:spPr>
        <p:txBody>
          <a:bodyPr wrap="square" anchor="t"/>
          <a:lstStyle/>
          <a:p>
            <a:pPr algn="l">
              <a:defRPr sz="900" b="0">
                <a:solidFill>
                  <a:srgbClr val="9A9AA8"/>
                </a:solidFill>
                <a:latin typeface="Arial"/>
              </a:defRPr>
            </a:pPr>
            <a:r>
              <a:t>https://www.techinasia.com/news/google-vp-warns-ai-wrapper-s...</a:t>
            </a:r>
          </a:p>
        </p:txBody>
      </p:sp>
      <p:sp>
        <p:nvSpPr>
          <p:cNvPr id="18" name="TextBox 17"/>
          <p:cNvSpPr txBox="1"/>
          <p:nvPr/>
        </p:nvSpPr>
        <p:spPr>
          <a:xfrm>
            <a:off x="6400800" y="3017520"/>
            <a:ext cx="5029200" cy="365760"/>
          </a:xfrm>
          <a:prstGeom prst="rect">
            <a:avLst/>
          </a:prstGeom>
          <a:noFill/>
        </p:spPr>
        <p:txBody>
          <a:bodyPr wrap="square" anchor="t"/>
          <a:lstStyle/>
          <a:p>
            <a:pPr algn="l">
              <a:defRPr sz="1100" b="1">
                <a:solidFill>
                  <a:srgbClr val="F0F0F5"/>
                </a:solidFill>
                <a:latin typeface="Arial"/>
              </a:defRPr>
            </a:pPr>
            <a:r>
              <a:t>8. Google VP warns that two types of AI startups may not survive</a:t>
            </a:r>
          </a:p>
        </p:txBody>
      </p:sp>
      <p:sp>
        <p:nvSpPr>
          <p:cNvPr id="19" name="TextBox 18"/>
          <p:cNvSpPr txBox="1"/>
          <p:nvPr/>
        </p:nvSpPr>
        <p:spPr>
          <a:xfrm>
            <a:off x="6400800" y="3337560"/>
            <a:ext cx="5029200" cy="274320"/>
          </a:xfrm>
          <a:prstGeom prst="rect">
            <a:avLst/>
          </a:prstGeom>
          <a:noFill/>
        </p:spPr>
        <p:txBody>
          <a:bodyPr wrap="square" anchor="t"/>
          <a:lstStyle/>
          <a:p>
            <a:pPr algn="l">
              <a:defRPr sz="900" b="0">
                <a:solidFill>
                  <a:srgbClr val="9A9AA8"/>
                </a:solidFill>
                <a:latin typeface="Arial"/>
              </a:defRPr>
            </a:pPr>
            <a:r>
              <a:t>https://techcrunch.com/2026/02/21/google-vp-warns-that-two-t...</a:t>
            </a:r>
          </a:p>
        </p:txBody>
      </p:sp>
      <p:sp>
        <p:nvSpPr>
          <p:cNvPr id="20" name="TextBox 19"/>
          <p:cNvSpPr txBox="1"/>
          <p:nvPr/>
        </p:nvSpPr>
        <p:spPr>
          <a:xfrm>
            <a:off x="6400800" y="3794760"/>
            <a:ext cx="5029200" cy="365760"/>
          </a:xfrm>
          <a:prstGeom prst="rect">
            <a:avLst/>
          </a:prstGeom>
          <a:noFill/>
        </p:spPr>
        <p:txBody>
          <a:bodyPr wrap="square" anchor="t"/>
          <a:lstStyle/>
          <a:p>
            <a:pPr algn="l">
              <a:defRPr sz="1100" b="1">
                <a:solidFill>
                  <a:srgbClr val="F0F0F5"/>
                </a:solidFill>
                <a:latin typeface="Arial"/>
              </a:defRPr>
            </a:pPr>
            <a:r>
              <a:t>9. Google Exec Warns AI Wrapper Startups Could Be in Trouble</a:t>
            </a:r>
          </a:p>
        </p:txBody>
      </p:sp>
      <p:sp>
        <p:nvSpPr>
          <p:cNvPr id="21" name="TextBox 20"/>
          <p:cNvSpPr txBox="1"/>
          <p:nvPr/>
        </p:nvSpPr>
        <p:spPr>
          <a:xfrm>
            <a:off x="6400800" y="4114800"/>
            <a:ext cx="5029200" cy="274320"/>
          </a:xfrm>
          <a:prstGeom prst="rect">
            <a:avLst/>
          </a:prstGeom>
          <a:noFill/>
        </p:spPr>
        <p:txBody>
          <a:bodyPr wrap="square" anchor="t"/>
          <a:lstStyle/>
          <a:p>
            <a:pPr algn="l">
              <a:defRPr sz="900" b="0">
                <a:solidFill>
                  <a:srgbClr val="9A9AA8"/>
                </a:solidFill>
                <a:latin typeface="Arial"/>
              </a:defRPr>
            </a:pPr>
            <a:r>
              <a:t>https://www.pymnts.com/artificial-intelligence-2/2026/google...</a:t>
            </a:r>
          </a:p>
        </p:txBody>
      </p:sp>
      <p:sp>
        <p:nvSpPr>
          <p:cNvPr id="22" name="TextBox 21"/>
          <p:cNvSpPr txBox="1"/>
          <p:nvPr/>
        </p:nvSpPr>
        <p:spPr>
          <a:xfrm>
            <a:off x="6400800" y="4572000"/>
            <a:ext cx="5029200" cy="365760"/>
          </a:xfrm>
          <a:prstGeom prst="rect">
            <a:avLst/>
          </a:prstGeom>
          <a:noFill/>
        </p:spPr>
        <p:txBody>
          <a:bodyPr wrap="square" anchor="t"/>
          <a:lstStyle/>
          <a:p>
            <a:pPr algn="l">
              <a:defRPr sz="1100" b="1">
                <a:solidFill>
                  <a:srgbClr val="F0F0F5"/>
                </a:solidFill>
                <a:latin typeface="Arial"/>
              </a:defRPr>
            </a:pPr>
            <a:r>
              <a:t>10. Agentic Large Language Models, a survey - arXiv.org</a:t>
            </a:r>
          </a:p>
        </p:txBody>
      </p:sp>
      <p:sp>
        <p:nvSpPr>
          <p:cNvPr id="23" name="TextBox 22"/>
          <p:cNvSpPr txBox="1"/>
          <p:nvPr/>
        </p:nvSpPr>
        <p:spPr>
          <a:xfrm>
            <a:off x="6400800" y="4892040"/>
            <a:ext cx="5029200" cy="274320"/>
          </a:xfrm>
          <a:prstGeom prst="rect">
            <a:avLst/>
          </a:prstGeom>
          <a:noFill/>
        </p:spPr>
        <p:txBody>
          <a:bodyPr wrap="square" anchor="t"/>
          <a:lstStyle/>
          <a:p>
            <a:pPr algn="l">
              <a:defRPr sz="900" b="0">
                <a:solidFill>
                  <a:srgbClr val="9A9AA8"/>
                </a:solidFill>
                <a:latin typeface="Arial"/>
              </a:defRPr>
            </a:pPr>
            <a:r>
              <a:t>https://arxiv.org/html/2503.23037v3</a:t>
            </a:r>
          </a:p>
        </p:txBody>
      </p:sp>
      <p:sp>
        <p:nvSpPr>
          <p:cNvPr id="24" name="TextBox 23"/>
          <p:cNvSpPr txBox="1"/>
          <p:nvPr/>
        </p:nvSpPr>
        <p:spPr>
          <a:xfrm>
            <a:off x="731520" y="5943600"/>
            <a:ext cx="10698480" cy="457200"/>
          </a:xfrm>
          <a:prstGeom prst="rect">
            <a:avLst/>
          </a:prstGeom>
          <a:noFill/>
        </p:spPr>
        <p:txBody>
          <a:bodyPr wrap="square" anchor="t"/>
          <a:lstStyle/>
          <a:p>
            <a:pPr algn="ctr">
              <a:defRPr sz="1200" b="0">
                <a:solidFill>
                  <a:srgbClr val="609BFF"/>
                </a:solidFill>
                <a:latin typeface="Arial"/>
              </a:defRPr>
            </a:pPr>
            <a:r>
              <a:t>Full article with all citations available on the blog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Rectangle 1"/>
          <p:cNvSpPr/>
          <p:nvPr/>
        </p:nvSpPr>
        <p:spPr>
          <a:xfrm>
            <a:off x="1097280" y="182880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03120"/>
            <a:ext cx="9966960" cy="1828800"/>
          </a:xfrm>
          <a:prstGeom prst="rect">
            <a:avLst/>
          </a:prstGeom>
          <a:noFill/>
        </p:spPr>
        <p:txBody>
          <a:bodyPr wrap="square" anchor="t"/>
          <a:lstStyle/>
          <a:p>
            <a:pPr algn="l">
              <a:defRPr sz="3000" b="1">
                <a:solidFill>
                  <a:srgbClr val="F0F0F5"/>
                </a:solidFill>
                <a:latin typeface="Arial"/>
              </a:defRPr>
            </a:pPr>
            <a:r>
              <a:t>Survival in the 2026 AI market requires moving beyond simple API wrappers to create deeply integrated vertical solutions that utilize custom agentic frameworks and domain-specific fine-tuning.</a:t>
            </a:r>
          </a:p>
        </p:txBody>
      </p:sp>
      <p:sp>
        <p:nvSpPr>
          <p:cNvPr id="4" name="TextBox 3"/>
          <p:cNvSpPr txBox="1"/>
          <p:nvPr/>
        </p:nvSpPr>
        <p:spPr>
          <a:xfrm>
            <a:off x="1097280" y="4114800"/>
            <a:ext cx="9966960" cy="914400"/>
          </a:xfrm>
          <a:prstGeom prst="rect">
            <a:avLst/>
          </a:prstGeom>
          <a:noFill/>
        </p:spPr>
        <p:txBody>
          <a:bodyPr wrap="square" anchor="t"/>
          <a:lstStyle/>
          <a:p>
            <a:pPr algn="l">
              <a:defRPr sz="2000" b="0">
                <a:solidFill>
                  <a:srgbClr val="9A9AA8"/>
                </a:solidFill>
                <a:latin typeface="Arial"/>
              </a:defRPr>
            </a:pPr>
            <a:r>
              <a:t>Building for the Next Era of AI</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609BFF"/>
                </a:solidFill>
                <a:latin typeface="Arial"/>
              </a:defRPr>
            </a:pPr>
            <a:r>
              <a:t>Like &amp; Subscribe  |  Prolific Blog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