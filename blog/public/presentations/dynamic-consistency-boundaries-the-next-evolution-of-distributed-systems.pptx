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are diving into a massive shift in how we build distributed systems: Dynamic Consistency Boundaries, or DCB. For years, we've been trapped in rigid microservices architectures where consistency was a permanent design-time decision, but in 2026, that's all changing. We're going to explore how systems are now adapting their consistency models in real-time to balance performance and correctness like never before.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start, let's look at why the old way of doing things is breaking down. Traditional microservices locked teams into 'architectural straitjackets' where you had to over-provision just to handle worst-case scenarios. Chapter one of our deep dive looks at the evolution beyond these static models and how we are finally decoupling state from topology.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on the idea of fluid boundaries, DCB transforms consistency into a dynamic runtime capability. Instead of a service being 'strong' or 'eventual' forever, it can now enforce strict serializable guarantees for a financial transfer while using eventual consistency for a social media 'like.' This is achieved by shifting the focus from entire event streams to individual events, allowing for much finer control.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important to remember what we are aiming for when we talk about 'strong' consistency. As noted by the Jepsen models, strict serializability is the peak of the hierarchy because it unifies both multi-object and single-object operations. DCB allows us to invoke this high level of protection only when the business value justifies the performance cost.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how do we actually choose which model to use? Modern systems use AI engines to calculate a 'consistency cost ratio' in real-time. By analyzing factors like transaction amount and system load, these systems have shown a 53% reduction in latency. Essentially, we are finally treating consistency as an engineering optimization problem rather than a philosophical debate.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into our second chapter, we need to talk about how these systems stay upright. The operational success of DCB depends on intelligent orchestration. We're moving away from manual intervention and toward AI-driven traffic management that anticipates failures before they happen.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of the most exciting developments in 2026 is predictive fault line analysis. Using LSTM and GRU neural networks, systems can now predict consistency violations with up to 90% accuracy. This gives the orchestrator a 15-minute window to proactively shift boundaries or throttle traffic, preventing a minor lag from becoming a catastrophic outage.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predictive capability is vital because of the fundamental laws of distributed systems. As this claim highlights, once you move to models like snapshot isolation, you mathematically sacrifice total availability in asynchronous networks. DCB manages this reality by dynamically 'flexing' the boundary so that only the most critical components face that availability risk.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our final chapter, we look at the 'how.' Implementing DCB isn't just a theory; it requires a sophisticated stack. We'll look at how modern service meshes and consensus protocols like Raft provide the actual plumbing for these adaptive boundaries.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practical foundation for DCB is the modern service mesh. By using sidecarless architectures like Istio Ambient or Cilium, we've reduced the latency overhead of consistency checks to just a few milliseconds. This allows us to layer DCB-aware policy engines on top of existing infrastructure, making it possible to adopt these patterns incrementally rather than all at once.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those looking to dive deeper into the technical proofs, here are the primary sources. We've relied heavily on the Jepsen consistency hierarchy, Martin Fowler's work on microservices, and recent 2025-2026 research papers on predictive fault detection. These documents provide the mathematical and architectural basis for everything we've discussed today.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Dynamic Consistency Boundaries represent the end of the 'one-size-fits-all' approach to distributed data. By decoupling state from topology and using AI to orchestrate traffic, we can finally build systems that are both fast and correct. If you found this breakdown helpful, please subscribe for more technical deep dives and check out the full blog post linked in the description. Thanks for watching!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097280" y="16459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920240"/>
            <a:ext cx="9966960" cy="1828800"/>
          </a:xfrm>
          <a:prstGeom prst="rect">
            <a:avLst/>
          </a:prstGeom>
          <a:noFill/>
        </p:spPr>
        <p:txBody>
          <a:bodyPr wrap="square" anchor="t"/>
          <a:lstStyle/>
          <a:p>
            <a:pPr algn="l">
              <a:defRPr sz="4000" b="1">
                <a:solidFill>
                  <a:srgbClr val="F0F0F5"/>
                </a:solidFill>
                <a:latin typeface="Arial"/>
              </a:defRPr>
            </a:pPr>
            <a:r>
              <a:t>Dynamic Consistency Boundaries</a:t>
            </a:r>
          </a:p>
        </p:txBody>
      </p:sp>
      <p:sp>
        <p:nvSpPr>
          <p:cNvPr id="4" name="TextBox 3"/>
          <p:cNvSpPr txBox="1"/>
          <p:nvPr/>
        </p:nvSpPr>
        <p:spPr>
          <a:xfrm>
            <a:off x="1097280" y="3840480"/>
            <a:ext cx="9966960" cy="914400"/>
          </a:xfrm>
          <a:prstGeom prst="rect">
            <a:avLst/>
          </a:prstGeom>
          <a:noFill/>
        </p:spPr>
        <p:txBody>
          <a:bodyPr wrap="square" anchor="t"/>
          <a:lstStyle/>
          <a:p>
            <a:pPr algn="l">
              <a:defRPr sz="2000" b="0">
                <a:solidFill>
                  <a:srgbClr val="9A9AA8"/>
                </a:solidFill>
                <a:latin typeface="Arial"/>
              </a:defRPr>
            </a:pPr>
            <a:r>
              <a:t>The Next Evolution of Distributed Systems</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9A9AA8"/>
                </a:solidFill>
                <a:latin typeface="Arial"/>
              </a:defRPr>
            </a:pPr>
            <a:r>
              <a:t>March 05, 2026  |  Prolific Blog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01</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The Paradigm Shift</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From Static Architectures to Fluid Boundaries</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 DCB Revolution</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Consistency as a runtime capability</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Decoupling state from service topology</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Granularity shifted to individual events</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Adaptive scope based on business rules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371600" y="1371600"/>
            <a:ext cx="9418320" cy="4114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188720"/>
            <a:ext cx="914400" cy="914400"/>
          </a:xfrm>
          <a:prstGeom prst="rect">
            <a:avLst/>
          </a:prstGeom>
          <a:noFill/>
        </p:spPr>
        <p:txBody>
          <a:bodyPr wrap="square" anchor="t"/>
          <a:lstStyle/>
          <a:p>
            <a:pPr algn="l">
              <a:defRPr sz="7200" b="1">
                <a:solidFill>
                  <a:srgbClr val="609BFF"/>
                </a:solidFill>
                <a:latin typeface="Arial"/>
              </a:defRPr>
            </a:pPr>
            <a:r>
              <a:t>“</a:t>
            </a:r>
          </a:p>
        </p:txBody>
      </p:sp>
      <p:sp>
        <p:nvSpPr>
          <p:cNvPr id="4" name="TextBox 3"/>
          <p:cNvSpPr txBox="1"/>
          <p:nvPr/>
        </p:nvSpPr>
        <p:spPr>
          <a:xfrm>
            <a:off x="1828800" y="2103120"/>
            <a:ext cx="8503920" cy="2286000"/>
          </a:xfrm>
          <a:prstGeom prst="rect">
            <a:avLst/>
          </a:prstGeom>
          <a:noFill/>
        </p:spPr>
        <p:txBody>
          <a:bodyPr wrap="square" anchor="t"/>
          <a:lstStyle/>
          <a:p>
            <a:pPr algn="l">
              <a:defRPr sz="2400" b="0">
                <a:solidFill>
                  <a:srgbClr val="F0F0F5"/>
                </a:solidFill>
                <a:latin typeface="Arial"/>
              </a:defRPr>
            </a:pPr>
            <a:r>
              <a:t>Strict serializable is the strongest consistency model in the hierarchy, unifying multi-object transactions and single-object operations.</a:t>
            </a:r>
          </a:p>
        </p:txBody>
      </p:sp>
      <p:sp>
        <p:nvSpPr>
          <p:cNvPr id="5" name="TextBox 4"/>
          <p:cNvSpPr txBox="1"/>
          <p:nvPr/>
        </p:nvSpPr>
        <p:spPr>
          <a:xfrm>
            <a:off x="1828800" y="4572000"/>
            <a:ext cx="8503920" cy="457200"/>
          </a:xfrm>
          <a:prstGeom prst="rect">
            <a:avLst/>
          </a:prstGeom>
          <a:noFill/>
        </p:spPr>
        <p:txBody>
          <a:bodyPr wrap="square" anchor="t"/>
          <a:lstStyle/>
          <a:p>
            <a:pPr algn="r">
              <a:defRPr sz="1400" b="0">
                <a:solidFill>
                  <a:srgbClr val="9A9AA8"/>
                </a:solidFill>
                <a:latin typeface="Arial"/>
              </a:defRPr>
            </a:pPr>
            <a:r>
              <a:t>— Jepsen Consistency Models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Hybrid Consistency Models</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Dynamic selection via AI decision engines</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Consistency cost ratio optimization</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53% reduction in transaction latency</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Alignment of technical cost with business risk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02</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Intelligent Orchestration</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Predictive Resilience in DCB Systems</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Predictive Failure Isolation</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90% accuracy in predicting violations</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LSTM and GRU model architectures</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15-minute warning windows for faults</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Automated boundary reconfiguration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371600" y="1371600"/>
            <a:ext cx="9418320" cy="4114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188720"/>
            <a:ext cx="914400" cy="914400"/>
          </a:xfrm>
          <a:prstGeom prst="rect">
            <a:avLst/>
          </a:prstGeom>
          <a:noFill/>
        </p:spPr>
        <p:txBody>
          <a:bodyPr wrap="square" anchor="t"/>
          <a:lstStyle/>
          <a:p>
            <a:pPr algn="l">
              <a:defRPr sz="7200" b="1">
                <a:solidFill>
                  <a:srgbClr val="609BFF"/>
                </a:solidFill>
                <a:latin typeface="Arial"/>
              </a:defRPr>
            </a:pPr>
            <a:r>
              <a:t>“</a:t>
            </a:r>
          </a:p>
        </p:txBody>
      </p:sp>
      <p:sp>
        <p:nvSpPr>
          <p:cNvPr id="4" name="TextBox 3"/>
          <p:cNvSpPr txBox="1"/>
          <p:nvPr/>
        </p:nvSpPr>
        <p:spPr>
          <a:xfrm>
            <a:off x="1828800" y="2103120"/>
            <a:ext cx="8503920" cy="2286000"/>
          </a:xfrm>
          <a:prstGeom prst="rect">
            <a:avLst/>
          </a:prstGeom>
          <a:noFill/>
        </p:spPr>
        <p:txBody>
          <a:bodyPr wrap="square" anchor="t"/>
          <a:lstStyle/>
          <a:p>
            <a:pPr algn="l">
              <a:defRPr sz="2400" b="0">
                <a:solidFill>
                  <a:srgbClr val="F0F0F5"/>
                </a:solidFill>
                <a:latin typeface="Arial"/>
              </a:defRPr>
            </a:pPr>
            <a:r>
              <a:t>Consistency models at or stronger than cursor stability, snapshot isolation, and sequential consistency cannot achieve total availability in asynchronous networks.</a:t>
            </a:r>
          </a:p>
        </p:txBody>
      </p:sp>
      <p:sp>
        <p:nvSpPr>
          <p:cNvPr id="5" name="TextBox 4"/>
          <p:cNvSpPr txBox="1"/>
          <p:nvPr/>
        </p:nvSpPr>
        <p:spPr>
          <a:xfrm>
            <a:off x="1828800" y="4572000"/>
            <a:ext cx="8503920" cy="457200"/>
          </a:xfrm>
          <a:prstGeom prst="rect">
            <a:avLst/>
          </a:prstGeom>
          <a:noFill/>
        </p:spPr>
        <p:txBody>
          <a:bodyPr wrap="square" anchor="t"/>
          <a:lstStyle/>
          <a:p>
            <a:pPr algn="r">
              <a:defRPr sz="1400" b="0">
                <a:solidFill>
                  <a:srgbClr val="9A9AA8"/>
                </a:solidFill>
                <a:latin typeface="Arial"/>
              </a:defRPr>
            </a:pPr>
            <a:r>
              <a:t>— Distributed Systems Research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03</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Implementing DCB</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Service Meshes and Global Consensus</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Modern Infrastructure Stack</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Sidecarless models (Cilium/Ambient)</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3-8ms latency overhead for DCB</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DCB-aware policy engines</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Progressive adoption via pilot services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Sources &amp; References</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5029200" cy="365760"/>
          </a:xfrm>
          <a:prstGeom prst="rect">
            <a:avLst/>
          </a:prstGeom>
          <a:noFill/>
        </p:spPr>
        <p:txBody>
          <a:bodyPr wrap="square" anchor="t"/>
          <a:lstStyle/>
          <a:p>
            <a:pPr algn="l">
              <a:defRPr sz="1100" b="1">
                <a:solidFill>
                  <a:srgbClr val="F0F0F5"/>
                </a:solidFill>
                <a:latin typeface="Arial"/>
              </a:defRPr>
            </a:pPr>
            <a:r>
              <a:t>1. Consistency Models</a:t>
            </a:r>
          </a:p>
        </p:txBody>
      </p:sp>
      <p:sp>
        <p:nvSpPr>
          <p:cNvPr id="5" name="TextBox 4"/>
          <p:cNvSpPr txBox="1"/>
          <p:nvPr/>
        </p:nvSpPr>
        <p:spPr>
          <a:xfrm>
            <a:off x="731520" y="1783080"/>
            <a:ext cx="5029200" cy="274320"/>
          </a:xfrm>
          <a:prstGeom prst="rect">
            <a:avLst/>
          </a:prstGeom>
          <a:noFill/>
        </p:spPr>
        <p:txBody>
          <a:bodyPr wrap="square" anchor="t"/>
          <a:lstStyle/>
          <a:p>
            <a:pPr algn="l">
              <a:defRPr sz="900" b="0">
                <a:solidFill>
                  <a:srgbClr val="9A9AA8"/>
                </a:solidFill>
                <a:latin typeface="Arial"/>
              </a:defRPr>
            </a:pPr>
            <a:r>
              <a:t>https://jepsen.io/consistency/models</a:t>
            </a:r>
          </a:p>
        </p:txBody>
      </p:sp>
      <p:sp>
        <p:nvSpPr>
          <p:cNvPr id="6" name="TextBox 5"/>
          <p:cNvSpPr txBox="1"/>
          <p:nvPr/>
        </p:nvSpPr>
        <p:spPr>
          <a:xfrm>
            <a:off x="731520" y="2240280"/>
            <a:ext cx="5029200" cy="365760"/>
          </a:xfrm>
          <a:prstGeom prst="rect">
            <a:avLst/>
          </a:prstGeom>
          <a:noFill/>
        </p:spPr>
        <p:txBody>
          <a:bodyPr wrap="square" anchor="t"/>
          <a:lstStyle/>
          <a:p>
            <a:pPr algn="l">
              <a:defRPr sz="1100" b="1">
                <a:solidFill>
                  <a:srgbClr val="F0F0F5"/>
                </a:solidFill>
                <a:latin typeface="Arial"/>
              </a:defRPr>
            </a:pPr>
            <a:r>
              <a:t>2. Microservices - Martin Fowler</a:t>
            </a:r>
          </a:p>
        </p:txBody>
      </p:sp>
      <p:sp>
        <p:nvSpPr>
          <p:cNvPr id="7" name="TextBox 6"/>
          <p:cNvSpPr txBox="1"/>
          <p:nvPr/>
        </p:nvSpPr>
        <p:spPr>
          <a:xfrm>
            <a:off x="731520" y="2560320"/>
            <a:ext cx="5029200" cy="274320"/>
          </a:xfrm>
          <a:prstGeom prst="rect">
            <a:avLst/>
          </a:prstGeom>
          <a:noFill/>
        </p:spPr>
        <p:txBody>
          <a:bodyPr wrap="square" anchor="t"/>
          <a:lstStyle/>
          <a:p>
            <a:pPr algn="l">
              <a:defRPr sz="900" b="0">
                <a:solidFill>
                  <a:srgbClr val="9A9AA8"/>
                </a:solidFill>
                <a:latin typeface="Arial"/>
              </a:defRPr>
            </a:pPr>
            <a:r>
              <a:t>https://martinfowler.com/articles/microservices.html</a:t>
            </a:r>
          </a:p>
        </p:txBody>
      </p:sp>
      <p:sp>
        <p:nvSpPr>
          <p:cNvPr id="8" name="TextBox 7"/>
          <p:cNvSpPr txBox="1"/>
          <p:nvPr/>
        </p:nvSpPr>
        <p:spPr>
          <a:xfrm>
            <a:off x="731520" y="3017520"/>
            <a:ext cx="5029200" cy="365760"/>
          </a:xfrm>
          <a:prstGeom prst="rect">
            <a:avLst/>
          </a:prstGeom>
          <a:noFill/>
        </p:spPr>
        <p:txBody>
          <a:bodyPr wrap="square" anchor="t"/>
          <a:lstStyle/>
          <a:p>
            <a:pPr algn="l">
              <a:defRPr sz="1100" b="1">
                <a:solidFill>
                  <a:srgbClr val="F0F0F5"/>
                </a:solidFill>
                <a:latin typeface="Arial"/>
              </a:defRPr>
            </a:pPr>
            <a:r>
              <a:t>3. Heidi Howard — Paxos vs Raft: Have we reached consensus on ...</a:t>
            </a:r>
          </a:p>
        </p:txBody>
      </p:sp>
      <p:sp>
        <p:nvSpPr>
          <p:cNvPr id="9" name="TextBox 8"/>
          <p:cNvSpPr txBox="1"/>
          <p:nvPr/>
        </p:nvSpPr>
        <p:spPr>
          <a:xfrm>
            <a:off x="731520" y="3337560"/>
            <a:ext cx="5029200" cy="274320"/>
          </a:xfrm>
          <a:prstGeom prst="rect">
            <a:avLst/>
          </a:prstGeom>
          <a:noFill/>
        </p:spPr>
        <p:txBody>
          <a:bodyPr wrap="square" anchor="t"/>
          <a:lstStyle/>
          <a:p>
            <a:pPr algn="l">
              <a:defRPr sz="900" b="0">
                <a:solidFill>
                  <a:srgbClr val="9A9AA8"/>
                </a:solidFill>
                <a:latin typeface="Arial"/>
              </a:defRPr>
            </a:pPr>
            <a:r>
              <a:t>https://www.youtube.com/watch?v=0K6kt39wyH0</a:t>
            </a:r>
          </a:p>
        </p:txBody>
      </p:sp>
      <p:sp>
        <p:nvSpPr>
          <p:cNvPr id="10" name="TextBox 9"/>
          <p:cNvSpPr txBox="1"/>
          <p:nvPr/>
        </p:nvSpPr>
        <p:spPr>
          <a:xfrm>
            <a:off x="731520" y="3794760"/>
            <a:ext cx="5029200" cy="365760"/>
          </a:xfrm>
          <a:prstGeom prst="rect">
            <a:avLst/>
          </a:prstGeom>
          <a:noFill/>
        </p:spPr>
        <p:txBody>
          <a:bodyPr wrap="square" anchor="t"/>
          <a:lstStyle/>
          <a:p>
            <a:pPr algn="l">
              <a:defRPr sz="1100" b="1">
                <a:solidFill>
                  <a:srgbClr val="F0F0F5"/>
                </a:solidFill>
                <a:latin typeface="Arial"/>
              </a:defRPr>
            </a:pPr>
            <a:r>
              <a:t>4. [PDF] Data-Driven Fault Detection and Isolation Enhanced with System ....</a:t>
            </a:r>
          </a:p>
        </p:txBody>
      </p:sp>
      <p:sp>
        <p:nvSpPr>
          <p:cNvPr id="11" name="TextBox 10"/>
          <p:cNvSpPr txBox="1"/>
          <p:nvPr/>
        </p:nvSpPr>
        <p:spPr>
          <a:xfrm>
            <a:off x="731520" y="4114800"/>
            <a:ext cx="5029200" cy="274320"/>
          </a:xfrm>
          <a:prstGeom prst="rect">
            <a:avLst/>
          </a:prstGeom>
          <a:noFill/>
        </p:spPr>
        <p:txBody>
          <a:bodyPr wrap="square" anchor="t"/>
          <a:lstStyle/>
          <a:p>
            <a:pPr algn="l">
              <a:defRPr sz="900" b="0">
                <a:solidFill>
                  <a:srgbClr val="9A9AA8"/>
                </a:solidFill>
                <a:latin typeface="Arial"/>
              </a:defRPr>
            </a:pPr>
            <a:r>
              <a:t>https://drops.dagstuhl.de/storage/01oasics/oasics-vol136-dx2...</a:t>
            </a:r>
          </a:p>
        </p:txBody>
      </p:sp>
      <p:sp>
        <p:nvSpPr>
          <p:cNvPr id="12" name="TextBox 11"/>
          <p:cNvSpPr txBox="1"/>
          <p:nvPr/>
        </p:nvSpPr>
        <p:spPr>
          <a:xfrm>
            <a:off x="731520" y="4572000"/>
            <a:ext cx="5029200" cy="365760"/>
          </a:xfrm>
          <a:prstGeom prst="rect">
            <a:avLst/>
          </a:prstGeom>
          <a:noFill/>
        </p:spPr>
        <p:txBody>
          <a:bodyPr wrap="square" anchor="t"/>
          <a:lstStyle/>
          <a:p>
            <a:pPr algn="l">
              <a:defRPr sz="1100" b="1">
                <a:solidFill>
                  <a:srgbClr val="F0F0F5"/>
                </a:solidFill>
                <a:latin typeface="Arial"/>
              </a:defRPr>
            </a:pPr>
            <a:r>
              <a:t>5. A Formal Framework for Predicting Distributed System Performance ...</a:t>
            </a:r>
          </a:p>
        </p:txBody>
      </p:sp>
      <p:sp>
        <p:nvSpPr>
          <p:cNvPr id="13" name="TextBox 12"/>
          <p:cNvSpPr txBox="1"/>
          <p:nvPr/>
        </p:nvSpPr>
        <p:spPr>
          <a:xfrm>
            <a:off x="731520" y="4892040"/>
            <a:ext cx="5029200" cy="274320"/>
          </a:xfrm>
          <a:prstGeom prst="rect">
            <a:avLst/>
          </a:prstGeom>
          <a:noFill/>
        </p:spPr>
        <p:txBody>
          <a:bodyPr wrap="square" anchor="t"/>
          <a:lstStyle/>
          <a:p>
            <a:pPr algn="l">
              <a:defRPr sz="900" b="0">
                <a:solidFill>
                  <a:srgbClr val="9A9AA8"/>
                </a:solidFill>
                <a:latin typeface="Arial"/>
              </a:defRPr>
            </a:pPr>
            <a:r>
              <a:t>https://arxiv.org/html/2602.19088v1</a:t>
            </a:r>
          </a:p>
        </p:txBody>
      </p:sp>
      <p:sp>
        <p:nvSpPr>
          <p:cNvPr id="14" name="TextBox 13"/>
          <p:cNvSpPr txBox="1"/>
          <p:nvPr/>
        </p:nvSpPr>
        <p:spPr>
          <a:xfrm>
            <a:off x="6400800" y="1463040"/>
            <a:ext cx="5029200" cy="365760"/>
          </a:xfrm>
          <a:prstGeom prst="rect">
            <a:avLst/>
          </a:prstGeom>
          <a:noFill/>
        </p:spPr>
        <p:txBody>
          <a:bodyPr wrap="square" anchor="t"/>
          <a:lstStyle/>
          <a:p>
            <a:pPr algn="l">
              <a:defRPr sz="1100" b="1">
                <a:solidFill>
                  <a:srgbClr val="F0F0F5"/>
                </a:solidFill>
                <a:latin typeface="Arial"/>
              </a:defRPr>
            </a:pPr>
            <a:r>
              <a:t>6. Mastering Data Consistency Across Microservices</a:t>
            </a:r>
          </a:p>
        </p:txBody>
      </p:sp>
      <p:sp>
        <p:nvSpPr>
          <p:cNvPr id="15" name="TextBox 14"/>
          <p:cNvSpPr txBox="1"/>
          <p:nvPr/>
        </p:nvSpPr>
        <p:spPr>
          <a:xfrm>
            <a:off x="6400800" y="1783080"/>
            <a:ext cx="5029200" cy="274320"/>
          </a:xfrm>
          <a:prstGeom prst="rect">
            <a:avLst/>
          </a:prstGeom>
          <a:noFill/>
        </p:spPr>
        <p:txBody>
          <a:bodyPr wrap="square" anchor="t"/>
          <a:lstStyle/>
          <a:p>
            <a:pPr algn="l">
              <a:defRPr sz="900" b="0">
                <a:solidFill>
                  <a:srgbClr val="9A9AA8"/>
                </a:solidFill>
                <a:latin typeface="Arial"/>
              </a:defRPr>
            </a:pPr>
            <a:r>
              <a:t>https://blog.bytebytego.com/p/mastering-data-consistency-acr...</a:t>
            </a:r>
          </a:p>
        </p:txBody>
      </p:sp>
      <p:sp>
        <p:nvSpPr>
          <p:cNvPr id="16" name="TextBox 15"/>
          <p:cNvSpPr txBox="1"/>
          <p:nvPr/>
        </p:nvSpPr>
        <p:spPr>
          <a:xfrm>
            <a:off x="6400800" y="2240280"/>
            <a:ext cx="5029200" cy="365760"/>
          </a:xfrm>
          <a:prstGeom prst="rect">
            <a:avLst/>
          </a:prstGeom>
          <a:noFill/>
        </p:spPr>
        <p:txBody>
          <a:bodyPr wrap="square" anchor="t"/>
          <a:lstStyle/>
          <a:p>
            <a:pPr algn="l">
              <a:defRPr sz="1100" b="1">
                <a:solidFill>
                  <a:srgbClr val="F0F0F5"/>
                </a:solidFill>
                <a:latin typeface="Arial"/>
              </a:defRPr>
            </a:pPr>
            <a:r>
              <a:t>7. [1902.03305] Consistency models in distributed systems</a:t>
            </a:r>
          </a:p>
        </p:txBody>
      </p:sp>
      <p:sp>
        <p:nvSpPr>
          <p:cNvPr id="17" name="TextBox 16"/>
          <p:cNvSpPr txBox="1"/>
          <p:nvPr/>
        </p:nvSpPr>
        <p:spPr>
          <a:xfrm>
            <a:off x="6400800" y="2560320"/>
            <a:ext cx="5029200" cy="274320"/>
          </a:xfrm>
          <a:prstGeom prst="rect">
            <a:avLst/>
          </a:prstGeom>
          <a:noFill/>
        </p:spPr>
        <p:txBody>
          <a:bodyPr wrap="square" anchor="t"/>
          <a:lstStyle/>
          <a:p>
            <a:pPr algn="l">
              <a:defRPr sz="900" b="0">
                <a:solidFill>
                  <a:srgbClr val="9A9AA8"/>
                </a:solidFill>
                <a:latin typeface="Arial"/>
              </a:defRPr>
            </a:pPr>
            <a:r>
              <a:t>https://arxiv.org/abs/1902.03305</a:t>
            </a:r>
          </a:p>
        </p:txBody>
      </p:sp>
      <p:sp>
        <p:nvSpPr>
          <p:cNvPr id="18" name="TextBox 17"/>
          <p:cNvSpPr txBox="1"/>
          <p:nvPr/>
        </p:nvSpPr>
        <p:spPr>
          <a:xfrm>
            <a:off x="6400800" y="3017520"/>
            <a:ext cx="5029200" cy="365760"/>
          </a:xfrm>
          <a:prstGeom prst="rect">
            <a:avLst/>
          </a:prstGeom>
          <a:noFill/>
        </p:spPr>
        <p:txBody>
          <a:bodyPr wrap="square" anchor="t"/>
          <a:lstStyle/>
          <a:p>
            <a:pPr algn="l">
              <a:defRPr sz="1100" b="1">
                <a:solidFill>
                  <a:srgbClr val="F0F0F5"/>
                </a:solidFill>
                <a:latin typeface="Arial"/>
              </a:defRPr>
            </a:pPr>
            <a:r>
              <a:t>8. How to use service mesh to improve AI model security</a:t>
            </a:r>
          </a:p>
        </p:txBody>
      </p:sp>
      <p:sp>
        <p:nvSpPr>
          <p:cNvPr id="19" name="TextBox 18"/>
          <p:cNvSpPr txBox="1"/>
          <p:nvPr/>
        </p:nvSpPr>
        <p:spPr>
          <a:xfrm>
            <a:off x="6400800" y="3337560"/>
            <a:ext cx="5029200" cy="274320"/>
          </a:xfrm>
          <a:prstGeom prst="rect">
            <a:avLst/>
          </a:prstGeom>
          <a:noFill/>
        </p:spPr>
        <p:txBody>
          <a:bodyPr wrap="square" anchor="t"/>
          <a:lstStyle/>
          <a:p>
            <a:pPr algn="l">
              <a:defRPr sz="900" b="0">
                <a:solidFill>
                  <a:srgbClr val="9A9AA8"/>
                </a:solidFill>
                <a:latin typeface="Arial"/>
              </a:defRPr>
            </a:pPr>
            <a:r>
              <a:t>https://developers.redhat.com/articles/2025/06/16/how-use-se...</a:t>
            </a:r>
          </a:p>
        </p:txBody>
      </p:sp>
      <p:sp>
        <p:nvSpPr>
          <p:cNvPr id="20" name="TextBox 19"/>
          <p:cNvSpPr txBox="1"/>
          <p:nvPr/>
        </p:nvSpPr>
        <p:spPr>
          <a:xfrm>
            <a:off x="6400800" y="3794760"/>
            <a:ext cx="5029200" cy="365760"/>
          </a:xfrm>
          <a:prstGeom prst="rect">
            <a:avLst/>
          </a:prstGeom>
          <a:noFill/>
        </p:spPr>
        <p:txBody>
          <a:bodyPr wrap="square" anchor="t"/>
          <a:lstStyle/>
          <a:p>
            <a:pPr algn="l">
              <a:defRPr sz="1100" b="1">
                <a:solidFill>
                  <a:srgbClr val="F0F0F5"/>
                </a:solidFill>
                <a:latin typeface="Arial"/>
              </a:defRPr>
            </a:pPr>
            <a:r>
              <a:t>9. Evaluating Fault Tolerance in Distributed Systems using Predictive ...</a:t>
            </a:r>
          </a:p>
        </p:txBody>
      </p:sp>
      <p:sp>
        <p:nvSpPr>
          <p:cNvPr id="21" name="TextBox 20"/>
          <p:cNvSpPr txBox="1"/>
          <p:nvPr/>
        </p:nvSpPr>
        <p:spPr>
          <a:xfrm>
            <a:off x="6400800" y="4114800"/>
            <a:ext cx="5029200" cy="274320"/>
          </a:xfrm>
          <a:prstGeom prst="rect">
            <a:avLst/>
          </a:prstGeom>
          <a:noFill/>
        </p:spPr>
        <p:txBody>
          <a:bodyPr wrap="square" anchor="t"/>
          <a:lstStyle/>
          <a:p>
            <a:pPr algn="l">
              <a:defRPr sz="900" b="0">
                <a:solidFill>
                  <a:srgbClr val="9A9AA8"/>
                </a:solidFill>
                <a:latin typeface="Arial"/>
              </a:defRPr>
            </a:pPr>
            <a:r>
              <a:t>https://jisem-journal.com/index.php/journal/article/view/442...</a:t>
            </a:r>
          </a:p>
        </p:txBody>
      </p:sp>
      <p:sp>
        <p:nvSpPr>
          <p:cNvPr id="22" name="TextBox 21"/>
          <p:cNvSpPr txBox="1"/>
          <p:nvPr/>
        </p:nvSpPr>
        <p:spPr>
          <a:xfrm>
            <a:off x="6400800" y="4572000"/>
            <a:ext cx="5029200" cy="365760"/>
          </a:xfrm>
          <a:prstGeom prst="rect">
            <a:avLst/>
          </a:prstGeom>
          <a:noFill/>
        </p:spPr>
        <p:txBody>
          <a:bodyPr wrap="square" anchor="t"/>
          <a:lstStyle/>
          <a:p>
            <a:pPr algn="l">
              <a:defRPr sz="1100" b="1">
                <a:solidFill>
                  <a:srgbClr val="F0F0F5"/>
                </a:solidFill>
                <a:latin typeface="Arial"/>
              </a:defRPr>
            </a:pPr>
            <a:r>
              <a:t>10. Implementation and evaluation of Paxos and Raft distributed ...</a:t>
            </a:r>
          </a:p>
        </p:txBody>
      </p:sp>
      <p:sp>
        <p:nvSpPr>
          <p:cNvPr id="23" name="TextBox 22"/>
          <p:cNvSpPr txBox="1"/>
          <p:nvPr/>
        </p:nvSpPr>
        <p:spPr>
          <a:xfrm>
            <a:off x="6400800" y="4892040"/>
            <a:ext cx="5029200" cy="274320"/>
          </a:xfrm>
          <a:prstGeom prst="rect">
            <a:avLst/>
          </a:prstGeom>
          <a:noFill/>
        </p:spPr>
        <p:txBody>
          <a:bodyPr wrap="square" anchor="t"/>
          <a:lstStyle/>
          <a:p>
            <a:pPr algn="l">
              <a:defRPr sz="900" b="0">
                <a:solidFill>
                  <a:srgbClr val="9A9AA8"/>
                </a:solidFill>
                <a:latin typeface="Arial"/>
              </a:defRPr>
            </a:pPr>
            <a:r>
              <a:t>https://repositories.lib.utexas.edu/items/a5469a57-daf4-4830...</a:t>
            </a:r>
          </a:p>
        </p:txBody>
      </p:sp>
      <p:sp>
        <p:nvSpPr>
          <p:cNvPr id="24" name="TextBox 23"/>
          <p:cNvSpPr txBox="1"/>
          <p:nvPr/>
        </p:nvSpPr>
        <p:spPr>
          <a:xfrm>
            <a:off x="731520" y="5943600"/>
            <a:ext cx="10698480" cy="457200"/>
          </a:xfrm>
          <a:prstGeom prst="rect">
            <a:avLst/>
          </a:prstGeom>
          <a:noFill/>
        </p:spPr>
        <p:txBody>
          <a:bodyPr wrap="square" anchor="t"/>
          <a:lstStyle/>
          <a:p>
            <a:pPr algn="ctr">
              <a:defRPr sz="1200" b="0">
                <a:solidFill>
                  <a:srgbClr val="609BFF"/>
                </a:solidFill>
                <a:latin typeface="Arial"/>
              </a:defRPr>
            </a:pPr>
            <a:r>
              <a:t>Full article with all citations available on the blog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Rectangle 1"/>
          <p:cNvSpPr/>
          <p:nvPr/>
        </p:nvSpPr>
        <p:spPr>
          <a:xfrm>
            <a:off x="1097280" y="182880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103120"/>
            <a:ext cx="9966960" cy="1828800"/>
          </a:xfrm>
          <a:prstGeom prst="rect">
            <a:avLst/>
          </a:prstGeom>
          <a:noFill/>
        </p:spPr>
        <p:txBody>
          <a:bodyPr wrap="square" anchor="t"/>
          <a:lstStyle/>
          <a:p>
            <a:pPr algn="l">
              <a:defRPr sz="3000" b="1">
                <a:solidFill>
                  <a:srgbClr val="F0F0F5"/>
                </a:solidFill>
                <a:latin typeface="Arial"/>
              </a:defRPr>
            </a:pPr>
            <a:r>
              <a:t>Dynamic Consistency Boundaries transform consistency from a static architectural constraint into a real-time, AI-driven capability that optimizes the trade-off between performance and correctness based on business context.</a:t>
            </a:r>
          </a:p>
        </p:txBody>
      </p:sp>
      <p:sp>
        <p:nvSpPr>
          <p:cNvPr id="4" name="TextBox 3"/>
          <p:cNvSpPr txBox="1"/>
          <p:nvPr/>
        </p:nvSpPr>
        <p:spPr>
          <a:xfrm>
            <a:off x="1097280" y="4114800"/>
            <a:ext cx="9966960" cy="914400"/>
          </a:xfrm>
          <a:prstGeom prst="rect">
            <a:avLst/>
          </a:prstGeom>
          <a:noFill/>
        </p:spPr>
        <p:txBody>
          <a:bodyPr wrap="square" anchor="t"/>
          <a:lstStyle/>
          <a:p>
            <a:pPr algn="l">
              <a:defRPr sz="2000" b="0">
                <a:solidFill>
                  <a:srgbClr val="9A9AA8"/>
                </a:solidFill>
                <a:latin typeface="Arial"/>
              </a:defRPr>
            </a:pPr>
            <a:r>
              <a:t>Embracing Dynamic Consistency</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609BFF"/>
                </a:solidFill>
                <a:latin typeface="Arial"/>
              </a:defRPr>
            </a:pPr>
            <a:r>
              <a:t>Like &amp; Subscribe  |  Prolific Blog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