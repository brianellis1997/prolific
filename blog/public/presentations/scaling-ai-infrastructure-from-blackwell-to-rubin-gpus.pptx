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diving into the massive shift occurring in AI compute as we move from NVIDIA's Blackwell architecture toward the upcoming Rubin GPUs. We're going to explore how silicon design, networking, and data center cooling are all being reinvented to support models with trillions of parameters. By the end of this session, you'll understand why the next two years represent the most significant infrastructure build-out in the history of computing.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start, let's look at the silicon itself. The transition from Blackwell to Rubin isn't just a speed boost; it's a fundamental change in how GPUs are built. We are moving away from single-chip designs toward massive, multi-die systems that act as a single computational engine.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that architectural shift, Blackwell is NVIDIA's answer to the 'memory wall.' By using a dual-die approach, they've managed to pack 208 billion transistors into a single package that functions as one unit. This design allows for a staggering 30-fold increase in performance for Mixture-of-Experts models compared to the previous Hopper generation.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to 2026, the Rubin architecture takes things even further by focusing on cluster-level coherence. Instead of just scaling a single GPU, Rubin allows an entire rack to behave like one giant processor with a unified address space. It also introduces dynamic precision scaling, allowing the hardware to automatically switch between formats like INT4 and FP16 depending on the specific task the AI is performing.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we've covered the chips, we need to talk about the 'pipes' and 'power' that keep them running. Scaling to a million GPUs requires a total rethink of networking and thermal management.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the biggest hurdles in hyperscale AI is network congestion. Traditional Ethernet often sees its efficiency collapse under heavy AI workloads, but the Spectrum-X platform changes that. It uses adaptive routing to hit 95% efficiency even when you are connecting over 100,000 GPUs in a single cluster.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networking improves, power density is skyrocketing. We are now seeing racks that pull over 120 kilowatts, which is roughly ten times the density of a traditional server rack. At this level, air cooling simply doesn't work anymore, forcing a transition to direct liquid cooling to prevent the hardware from melting under its own computational load.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let's look at the big picture. What does this massive build-out cost, and what is the impact on our planet?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numbers here are staggering. Tech giants like Meta and Microsoft are spending tens of billions of dollars every quarter on this infrastructure. However, the hardware is only part of the cost; the electricity required to run a 100,000 GPU cluster can actually exceed the initial multi-billion dollar hardware investment within just a few years.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energy hunger is driving some radical solutions. As you can see in this conceptual design, the future of AI depends on integrating renewable energy directly into the data center footprint. We're already seeing this in the real world, with Microsoft literally restarting a nuclear power plant just to keep their AI services online.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those who want to dive deeper into the technical specifications, I've compiled the primary sources used for this analysis. These include official NVIDIA whitepapers and independent infrastructure reports from Deloitte and the IEEE.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the leap from Blackwell to Rubin represents a total transformation of the data center. From liquid cooling to unified memory fabrics, the way we build computers is changing forever. If you found this breakdown helpful, please hit the like button and subscribe for more technical deep dives. Thanks for watching, and I'll see you in the next 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097280" y="16459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66960" cy="1828800"/>
          </a:xfrm>
          <a:prstGeom prst="rect">
            <a:avLst/>
          </a:prstGeom>
          <a:noFill/>
        </p:spPr>
        <p:txBody>
          <a:bodyPr wrap="square" anchor="t"/>
          <a:lstStyle/>
          <a:p>
            <a:pPr algn="l">
              <a:defRPr sz="4000" b="1">
                <a:solidFill>
                  <a:srgbClr val="F0F0F5"/>
                </a:solidFill>
                <a:latin typeface="Arial"/>
              </a:defRPr>
            </a:pPr>
            <a:r>
              <a:t>Scaling AI Infrastructure: From Blackwell to Rubin GPUs</a:t>
            </a:r>
          </a:p>
        </p:txBody>
      </p:sp>
      <p:sp>
        <p:nvSpPr>
          <p:cNvPr id="4" name="TextBox 3"/>
          <p:cNvSpPr txBox="1"/>
          <p:nvPr/>
        </p:nvSpPr>
        <p:spPr>
          <a:xfrm>
            <a:off x="1097280" y="3840480"/>
            <a:ext cx="9966960" cy="914400"/>
          </a:xfrm>
          <a:prstGeom prst="rect">
            <a:avLst/>
          </a:prstGeom>
          <a:noFill/>
        </p:spPr>
        <p:txBody>
          <a:bodyPr wrap="square" anchor="t"/>
          <a:lstStyle/>
          <a:p>
            <a:pPr algn="l">
              <a:defRPr sz="2000" b="0">
                <a:solidFill>
                  <a:srgbClr val="9A9AA8"/>
                </a:solidFill>
                <a:latin typeface="Arial"/>
              </a:defRPr>
            </a:pPr>
            <a:r>
              <a:t>The Architectural Evolution of the Trillion-Parameter Era</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9A9AA8"/>
                </a:solidFill>
                <a:latin typeface="Arial"/>
              </a:defRPr>
            </a:pPr>
            <a:r>
              <a:t>February 21, 2026  |  Prolific Blog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01</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1: The Next Generation of AI Compute</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Blackwell and Rubin Architectures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Blackwell: Breaking the 200 Billion Transistor Barrier</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208 billion transistors in a dual-die design</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10 TB/s high-bandwidth chip-to-chip interconnect</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5th Gen Tensor Cores with native FP4 support</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30X performance increase for GPT-MoE training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Rubin: 2026's Answer to Exascale AI</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Next-gen NVLink for cluster-wide coherent memory</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Dynamic precision scaling between FP16, INT8, and INT4</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Enhanced sparsity acceleration for real-time inference</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Optimized for multimodal vision-language models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02</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2: Building the Million-GPU Data Center</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Infrastructure and Interconnect</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The NVIDIA Spectrum-X Ethernet platform improves network performance by 1.6x and maintains 95% efficiency in deployments exceeding 100,000 GPUs.</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NVIDIA Technical Documentation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Thermal and Power Infrastructure</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120kW+ rack densities make air cooling obsolete</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GB200 NVL72 generates heat equivalent to 25 ovens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Direct liquid cooling provides 30% better power utilization</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Water requirements projected to increase 170% by 2030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03</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3: The Future of AI Infrastructure</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Economics, Environment, and Evolution</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Economics of Hyperscale AI</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100k GPU clusters cost over $4 billion in server CapEx</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Individual GB200 NVL72 systems priced at ~$3 million</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Electricity costs can exceed hardware investment in years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Rapid depreciation due to one-year release cycles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Environmental Impact and Sustainability</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p60jvhlq.png"/>
          <p:cNvPicPr>
            <a:picLocks noChangeAspect="1"/>
          </p:cNvPicPr>
          <p:nvPr/>
        </p:nvPicPr>
        <p:blipFill>
          <a:blip r:embed="rId2"/>
          <a:stretch>
            <a:fillRect/>
          </a:stretch>
        </p:blipFill>
        <p:spPr>
          <a:xfrm>
            <a:off x="731520" y="1645920"/>
            <a:ext cx="5943600" cy="4114800"/>
          </a:xfrm>
          <a:prstGeom prst="rect">
            <a:avLst/>
          </a:prstGeom>
        </p:spPr>
      </p:pic>
      <p:sp>
        <p:nvSpPr>
          <p:cNvPr id="5" name="TextBox 4"/>
          <p:cNvSpPr txBox="1"/>
          <p:nvPr/>
        </p:nvSpPr>
        <p:spPr>
          <a:xfrm>
            <a:off x="731520" y="5943600"/>
            <a:ext cx="5943600" cy="457200"/>
          </a:xfrm>
          <a:prstGeom prst="rect">
            <a:avLst/>
          </a:prstGeom>
          <a:noFill/>
        </p:spPr>
        <p:txBody>
          <a:bodyPr wrap="square" anchor="t"/>
          <a:lstStyle/>
          <a:p>
            <a:pPr algn="ctr">
              <a:defRPr sz="1200" b="0">
                <a:solidFill>
                  <a:srgbClr val="9A9AA8"/>
                </a:solidFill>
                <a:latin typeface="Arial"/>
              </a:defRPr>
            </a:pPr>
            <a:r>
              <a:t>A futuristic, sustainable data center powered by integrated solar panels and wind turbines.</a:t>
            </a:r>
          </a:p>
        </p:txBody>
      </p:sp>
      <p:sp>
        <p:nvSpPr>
          <p:cNvPr id="6" name="TextBox 5"/>
          <p:cNvSpPr txBox="1"/>
          <p:nvPr/>
        </p:nvSpPr>
        <p:spPr>
          <a:xfrm>
            <a:off x="7132320" y="1645920"/>
            <a:ext cx="4297680" cy="548640"/>
          </a:xfrm>
          <a:prstGeom prst="rect">
            <a:avLst/>
          </a:prstGeom>
          <a:noFill/>
        </p:spPr>
        <p:txBody>
          <a:bodyPr wrap="square" anchor="t"/>
          <a:lstStyle/>
          <a:p>
            <a:pPr algn="l">
              <a:defRPr sz="1500" b="0">
                <a:solidFill>
                  <a:srgbClr val="F0F0F5"/>
                </a:solidFill>
                <a:latin typeface="Arial"/>
              </a:defRPr>
            </a:pPr>
            <a:r>
              <a:t>•  AI facilities consuming power equivalent to small cities</a:t>
            </a:r>
          </a:p>
        </p:txBody>
      </p:sp>
      <p:sp>
        <p:nvSpPr>
          <p:cNvPr id="7" name="TextBox 6"/>
          <p:cNvSpPr txBox="1"/>
          <p:nvPr/>
        </p:nvSpPr>
        <p:spPr>
          <a:xfrm>
            <a:off x="7132320" y="2286000"/>
            <a:ext cx="4297680" cy="548640"/>
          </a:xfrm>
          <a:prstGeom prst="rect">
            <a:avLst/>
          </a:prstGeom>
          <a:noFill/>
        </p:spPr>
        <p:txBody>
          <a:bodyPr wrap="square" anchor="t"/>
          <a:lstStyle/>
          <a:p>
            <a:pPr algn="l">
              <a:defRPr sz="1500" b="0">
                <a:solidFill>
                  <a:srgbClr val="F0F0F5"/>
                </a:solidFill>
                <a:latin typeface="Arial"/>
              </a:defRPr>
            </a:pPr>
            <a:r>
              <a:t>•  Microsoft restarting Three Mile Island nuclear plant</a:t>
            </a:r>
          </a:p>
        </p:txBody>
      </p:sp>
      <p:sp>
        <p:nvSpPr>
          <p:cNvPr id="8" name="TextBox 7"/>
          <p:cNvSpPr txBox="1"/>
          <p:nvPr/>
        </p:nvSpPr>
        <p:spPr>
          <a:xfrm>
            <a:off x="7132320" y="2926080"/>
            <a:ext cx="4297680" cy="548640"/>
          </a:xfrm>
          <a:prstGeom prst="rect">
            <a:avLst/>
          </a:prstGeom>
          <a:noFill/>
        </p:spPr>
        <p:txBody>
          <a:bodyPr wrap="square" anchor="t"/>
          <a:lstStyle/>
          <a:p>
            <a:pPr algn="l">
              <a:defRPr sz="1500" b="0">
                <a:solidFill>
                  <a:srgbClr val="F0F0F5"/>
                </a:solidFill>
                <a:latin typeface="Arial"/>
              </a:defRPr>
            </a:pPr>
            <a:r>
              <a:t>•  Projected 123GW US data center demand by 2035</a:t>
            </a:r>
          </a:p>
        </p:txBody>
      </p:sp>
      <p:sp>
        <p:nvSpPr>
          <p:cNvPr id="9" name="TextBox 8"/>
          <p:cNvSpPr txBox="1"/>
          <p:nvPr/>
        </p:nvSpPr>
        <p:spPr>
          <a:xfrm>
            <a:off x="7132320" y="3566160"/>
            <a:ext cx="4297680" cy="548640"/>
          </a:xfrm>
          <a:prstGeom prst="rect">
            <a:avLst/>
          </a:prstGeom>
          <a:noFill/>
        </p:spPr>
        <p:txBody>
          <a:bodyPr wrap="square" anchor="t"/>
          <a:lstStyle/>
          <a:p>
            <a:pPr algn="l">
              <a:defRPr sz="1500" b="0">
                <a:solidFill>
                  <a:srgbClr val="F0F0F5"/>
                </a:solidFill>
                <a:latin typeface="Arial"/>
              </a:defRPr>
            </a:pPr>
            <a:r>
              <a:t>•  Shift toward natural cooling in regions like Greenland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Sources &amp; References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365760"/>
          </a:xfrm>
          <a:prstGeom prst="rect">
            <a:avLst/>
          </a:prstGeom>
          <a:noFill/>
        </p:spPr>
        <p:txBody>
          <a:bodyPr wrap="square" anchor="t"/>
          <a:lstStyle/>
          <a:p>
            <a:pPr algn="l">
              <a:defRPr sz="1100" b="1">
                <a:solidFill>
                  <a:srgbClr val="F0F0F5"/>
                </a:solidFill>
                <a:latin typeface="Arial"/>
              </a:defRPr>
            </a:pPr>
            <a:r>
              <a:t>1. The NVIDIA Spectrum Ethernet Platform - Networking</a:t>
            </a:r>
          </a:p>
        </p:txBody>
      </p:sp>
      <p:sp>
        <p:nvSpPr>
          <p:cNvPr id="5" name="TextBox 4"/>
          <p:cNvSpPr txBox="1"/>
          <p:nvPr/>
        </p:nvSpPr>
        <p:spPr>
          <a:xfrm>
            <a:off x="731520" y="1783080"/>
            <a:ext cx="5029200" cy="274320"/>
          </a:xfrm>
          <a:prstGeom prst="rect">
            <a:avLst/>
          </a:prstGeom>
          <a:noFill/>
        </p:spPr>
        <p:txBody>
          <a:bodyPr wrap="square" anchor="t"/>
          <a:lstStyle/>
          <a:p>
            <a:pPr algn="l">
              <a:defRPr sz="900" b="0">
                <a:solidFill>
                  <a:srgbClr val="9A9AA8"/>
                </a:solidFill>
                <a:latin typeface="Arial"/>
              </a:defRPr>
            </a:pPr>
            <a:r>
              <a:t>https://www.nvidia.com/en-us/networking/products/ethernet/</a:t>
            </a:r>
          </a:p>
        </p:txBody>
      </p:sp>
      <p:sp>
        <p:nvSpPr>
          <p:cNvPr id="6" name="TextBox 5"/>
          <p:cNvSpPr txBox="1"/>
          <p:nvPr/>
        </p:nvSpPr>
        <p:spPr>
          <a:xfrm>
            <a:off x="731520" y="2240280"/>
            <a:ext cx="5029200" cy="365760"/>
          </a:xfrm>
          <a:prstGeom prst="rect">
            <a:avLst/>
          </a:prstGeom>
          <a:noFill/>
        </p:spPr>
        <p:txBody>
          <a:bodyPr wrap="square" anchor="t"/>
          <a:lstStyle/>
          <a:p>
            <a:pPr algn="l">
              <a:defRPr sz="1100" b="1">
                <a:solidFill>
                  <a:srgbClr val="F0F0F5"/>
                </a:solidFill>
                <a:latin typeface="Arial"/>
              </a:defRPr>
            </a:pPr>
            <a:r>
              <a:t>2. Quartet: Native FP4 Training Can Be Optimal for Large ...</a:t>
            </a:r>
          </a:p>
        </p:txBody>
      </p:sp>
      <p:sp>
        <p:nvSpPr>
          <p:cNvPr id="7" name="TextBox 6"/>
          <p:cNvSpPr txBox="1"/>
          <p:nvPr/>
        </p:nvSpPr>
        <p:spPr>
          <a:xfrm>
            <a:off x="731520" y="2560320"/>
            <a:ext cx="5029200" cy="274320"/>
          </a:xfrm>
          <a:prstGeom prst="rect">
            <a:avLst/>
          </a:prstGeom>
          <a:noFill/>
        </p:spPr>
        <p:txBody>
          <a:bodyPr wrap="square" anchor="t"/>
          <a:lstStyle/>
          <a:p>
            <a:pPr algn="l">
              <a:defRPr sz="900" b="0">
                <a:solidFill>
                  <a:srgbClr val="9A9AA8"/>
                </a:solidFill>
                <a:latin typeface="Arial"/>
              </a:defRPr>
            </a:pPr>
            <a:r>
              <a:t>https://neurips.cc/virtual/2025/poster/117521</a:t>
            </a:r>
          </a:p>
        </p:txBody>
      </p:sp>
      <p:sp>
        <p:nvSpPr>
          <p:cNvPr id="8" name="TextBox 7"/>
          <p:cNvSpPr txBox="1"/>
          <p:nvPr/>
        </p:nvSpPr>
        <p:spPr>
          <a:xfrm>
            <a:off x="731520" y="3017520"/>
            <a:ext cx="5029200" cy="365760"/>
          </a:xfrm>
          <a:prstGeom prst="rect">
            <a:avLst/>
          </a:prstGeom>
          <a:noFill/>
        </p:spPr>
        <p:txBody>
          <a:bodyPr wrap="square" anchor="t"/>
          <a:lstStyle/>
          <a:p>
            <a:pPr algn="l">
              <a:defRPr sz="1100" b="1">
                <a:solidFill>
                  <a:srgbClr val="F0F0F5"/>
                </a:solidFill>
                <a:latin typeface="Arial"/>
              </a:defRPr>
            </a:pPr>
            <a:r>
              <a:t>3. Introducing NVFP4 for Efficient and Accurate Low- ...</a:t>
            </a:r>
          </a:p>
        </p:txBody>
      </p:sp>
      <p:sp>
        <p:nvSpPr>
          <p:cNvPr id="9" name="TextBox 8"/>
          <p:cNvSpPr txBox="1"/>
          <p:nvPr/>
        </p:nvSpPr>
        <p:spPr>
          <a:xfrm>
            <a:off x="731520" y="3337560"/>
            <a:ext cx="5029200" cy="274320"/>
          </a:xfrm>
          <a:prstGeom prst="rect">
            <a:avLst/>
          </a:prstGeom>
          <a:noFill/>
        </p:spPr>
        <p:txBody>
          <a:bodyPr wrap="square" anchor="t"/>
          <a:lstStyle/>
          <a:p>
            <a:pPr algn="l">
              <a:defRPr sz="900" b="0">
                <a:solidFill>
                  <a:srgbClr val="9A9AA8"/>
                </a:solidFill>
                <a:latin typeface="Arial"/>
              </a:defRPr>
            </a:pPr>
            <a:r>
              <a:t>https://developer.nvidia.com/blog/introducing-nvfp4-for-effi...</a:t>
            </a:r>
          </a:p>
        </p:txBody>
      </p:sp>
      <p:sp>
        <p:nvSpPr>
          <p:cNvPr id="10" name="TextBox 9"/>
          <p:cNvSpPr txBox="1"/>
          <p:nvPr/>
        </p:nvSpPr>
        <p:spPr>
          <a:xfrm>
            <a:off x="731520" y="3794760"/>
            <a:ext cx="5029200" cy="365760"/>
          </a:xfrm>
          <a:prstGeom prst="rect">
            <a:avLst/>
          </a:prstGeom>
          <a:noFill/>
        </p:spPr>
        <p:txBody>
          <a:bodyPr wrap="square" anchor="t"/>
          <a:lstStyle/>
          <a:p>
            <a:pPr algn="l">
              <a:defRPr sz="1100" b="1">
                <a:solidFill>
                  <a:srgbClr val="F0F0F5"/>
                </a:solidFill>
                <a:latin typeface="Arial"/>
              </a:defRPr>
            </a:pPr>
            <a:r>
              <a:t>4. [PDF] Proposal - "802.3 Ethernet Interconnect for AI" Assessment - IEE...</a:t>
            </a:r>
          </a:p>
        </p:txBody>
      </p:sp>
      <p:sp>
        <p:nvSpPr>
          <p:cNvPr id="11" name="TextBox 10"/>
          <p:cNvSpPr txBox="1"/>
          <p:nvPr/>
        </p:nvSpPr>
        <p:spPr>
          <a:xfrm>
            <a:off x="731520" y="4114800"/>
            <a:ext cx="5029200" cy="274320"/>
          </a:xfrm>
          <a:prstGeom prst="rect">
            <a:avLst/>
          </a:prstGeom>
          <a:noFill/>
        </p:spPr>
        <p:txBody>
          <a:bodyPr wrap="square" anchor="t"/>
          <a:lstStyle/>
          <a:p>
            <a:pPr algn="l">
              <a:defRPr sz="900" b="0">
                <a:solidFill>
                  <a:srgbClr val="9A9AA8"/>
                </a:solidFill>
                <a:latin typeface="Arial"/>
              </a:defRPr>
            </a:pPr>
            <a:r>
              <a:t>https://www.ieee802.org/3/ad_hoc/ngrates/public/25_01/dambro...</a:t>
            </a:r>
          </a:p>
        </p:txBody>
      </p:sp>
      <p:sp>
        <p:nvSpPr>
          <p:cNvPr id="12" name="TextBox 11"/>
          <p:cNvSpPr txBox="1"/>
          <p:nvPr/>
        </p:nvSpPr>
        <p:spPr>
          <a:xfrm>
            <a:off x="731520" y="4572000"/>
            <a:ext cx="5029200" cy="365760"/>
          </a:xfrm>
          <a:prstGeom prst="rect">
            <a:avLst/>
          </a:prstGeom>
          <a:noFill/>
        </p:spPr>
        <p:txBody>
          <a:bodyPr wrap="square" anchor="t"/>
          <a:lstStyle/>
          <a:p>
            <a:pPr algn="l">
              <a:defRPr sz="1100" b="1">
                <a:solidFill>
                  <a:srgbClr val="F0F0F5"/>
                </a:solidFill>
                <a:latin typeface="Arial"/>
              </a:defRPr>
            </a:pPr>
            <a:r>
              <a:t>5. [PDF] Supermicro NVIDIA GB200 NVL72 Datasheet</a:t>
            </a:r>
          </a:p>
        </p:txBody>
      </p:sp>
      <p:sp>
        <p:nvSpPr>
          <p:cNvPr id="13" name="TextBox 12"/>
          <p:cNvSpPr txBox="1"/>
          <p:nvPr/>
        </p:nvSpPr>
        <p:spPr>
          <a:xfrm>
            <a:off x="731520" y="4892040"/>
            <a:ext cx="5029200" cy="274320"/>
          </a:xfrm>
          <a:prstGeom prst="rect">
            <a:avLst/>
          </a:prstGeom>
          <a:noFill/>
        </p:spPr>
        <p:txBody>
          <a:bodyPr wrap="square" anchor="t"/>
          <a:lstStyle/>
          <a:p>
            <a:pPr algn="l">
              <a:defRPr sz="900" b="0">
                <a:solidFill>
                  <a:srgbClr val="9A9AA8"/>
                </a:solidFill>
                <a:latin typeface="Arial"/>
              </a:defRPr>
            </a:pPr>
            <a:r>
              <a:t>https://www.supermicro.com/datasheet/datasheet_SuperCluster_...</a:t>
            </a:r>
          </a:p>
        </p:txBody>
      </p:sp>
      <p:sp>
        <p:nvSpPr>
          <p:cNvPr id="14" name="TextBox 13"/>
          <p:cNvSpPr txBox="1"/>
          <p:nvPr/>
        </p:nvSpPr>
        <p:spPr>
          <a:xfrm>
            <a:off x="6400800" y="1463040"/>
            <a:ext cx="5029200" cy="365760"/>
          </a:xfrm>
          <a:prstGeom prst="rect">
            <a:avLst/>
          </a:prstGeom>
          <a:noFill/>
        </p:spPr>
        <p:txBody>
          <a:bodyPr wrap="square" anchor="t"/>
          <a:lstStyle/>
          <a:p>
            <a:pPr algn="l">
              <a:defRPr sz="1100" b="1">
                <a:solidFill>
                  <a:srgbClr val="F0F0F5"/>
                </a:solidFill>
                <a:latin typeface="Arial"/>
              </a:defRPr>
            </a:pPr>
            <a:r>
              <a:t>6. Can US infrastructure keep up with the AI economy? - Deloitte</a:t>
            </a:r>
          </a:p>
        </p:txBody>
      </p:sp>
      <p:sp>
        <p:nvSpPr>
          <p:cNvPr id="15" name="TextBox 14"/>
          <p:cNvSpPr txBox="1"/>
          <p:nvPr/>
        </p:nvSpPr>
        <p:spPr>
          <a:xfrm>
            <a:off x="6400800" y="1783080"/>
            <a:ext cx="5029200" cy="274320"/>
          </a:xfrm>
          <a:prstGeom prst="rect">
            <a:avLst/>
          </a:prstGeom>
          <a:noFill/>
        </p:spPr>
        <p:txBody>
          <a:bodyPr wrap="square" anchor="t"/>
          <a:lstStyle/>
          <a:p>
            <a:pPr algn="l">
              <a:defRPr sz="900" b="0">
                <a:solidFill>
                  <a:srgbClr val="9A9AA8"/>
                </a:solidFill>
                <a:latin typeface="Arial"/>
              </a:defRPr>
            </a:pPr>
            <a:r>
              <a:t>https://www.deloitte.com/us/en/insights/industry/power-and-u...</a:t>
            </a:r>
          </a:p>
        </p:txBody>
      </p:sp>
      <p:sp>
        <p:nvSpPr>
          <p:cNvPr id="16" name="TextBox 15"/>
          <p:cNvSpPr txBox="1"/>
          <p:nvPr/>
        </p:nvSpPr>
        <p:spPr>
          <a:xfrm>
            <a:off x="6400800" y="2240280"/>
            <a:ext cx="5029200" cy="365760"/>
          </a:xfrm>
          <a:prstGeom prst="rect">
            <a:avLst/>
          </a:prstGeom>
          <a:noFill/>
        </p:spPr>
        <p:txBody>
          <a:bodyPr wrap="square" anchor="t"/>
          <a:lstStyle/>
          <a:p>
            <a:pPr algn="l">
              <a:defRPr sz="1100" b="1">
                <a:solidFill>
                  <a:srgbClr val="F0F0F5"/>
                </a:solidFill>
                <a:latin typeface="Arial"/>
              </a:defRPr>
            </a:pPr>
            <a:r>
              <a:t>7. Nvidia Rubin revealed as Blackwell successor, powerful Vera CPU ...</a:t>
            </a:r>
          </a:p>
        </p:txBody>
      </p:sp>
      <p:sp>
        <p:nvSpPr>
          <p:cNvPr id="17" name="TextBox 16"/>
          <p:cNvSpPr txBox="1"/>
          <p:nvPr/>
        </p:nvSpPr>
        <p:spPr>
          <a:xfrm>
            <a:off x="6400800" y="2560320"/>
            <a:ext cx="5029200" cy="274320"/>
          </a:xfrm>
          <a:prstGeom prst="rect">
            <a:avLst/>
          </a:prstGeom>
          <a:noFill/>
        </p:spPr>
        <p:txBody>
          <a:bodyPr wrap="square" anchor="t"/>
          <a:lstStyle/>
          <a:p>
            <a:pPr algn="l">
              <a:defRPr sz="900" b="0">
                <a:solidFill>
                  <a:srgbClr val="9A9AA8"/>
                </a:solidFill>
                <a:latin typeface="Arial"/>
              </a:defRPr>
            </a:pPr>
            <a:r>
              <a:t>https://www.tomshardware.com/pc-components/gpus/nvidia-rubin...</a:t>
            </a:r>
          </a:p>
        </p:txBody>
      </p:sp>
      <p:sp>
        <p:nvSpPr>
          <p:cNvPr id="18" name="TextBox 17"/>
          <p:cNvSpPr txBox="1"/>
          <p:nvPr/>
        </p:nvSpPr>
        <p:spPr>
          <a:xfrm>
            <a:off x="6400800" y="3017520"/>
            <a:ext cx="5029200" cy="365760"/>
          </a:xfrm>
          <a:prstGeom prst="rect">
            <a:avLst/>
          </a:prstGeom>
          <a:noFill/>
        </p:spPr>
        <p:txBody>
          <a:bodyPr wrap="square" anchor="t"/>
          <a:lstStyle/>
          <a:p>
            <a:pPr algn="l">
              <a:defRPr sz="1100" b="1">
                <a:solidFill>
                  <a:srgbClr val="F0F0F5"/>
                </a:solidFill>
                <a:latin typeface="Arial"/>
              </a:defRPr>
            </a:pPr>
            <a:r>
              <a:t>8. Next Gen Data Center CPU | NVIDIA Vera CPU</a:t>
            </a:r>
          </a:p>
        </p:txBody>
      </p:sp>
      <p:sp>
        <p:nvSpPr>
          <p:cNvPr id="19" name="TextBox 18"/>
          <p:cNvSpPr txBox="1"/>
          <p:nvPr/>
        </p:nvSpPr>
        <p:spPr>
          <a:xfrm>
            <a:off x="6400800" y="3337560"/>
            <a:ext cx="5029200" cy="274320"/>
          </a:xfrm>
          <a:prstGeom prst="rect">
            <a:avLst/>
          </a:prstGeom>
          <a:noFill/>
        </p:spPr>
        <p:txBody>
          <a:bodyPr wrap="square" anchor="t"/>
          <a:lstStyle/>
          <a:p>
            <a:pPr algn="l">
              <a:defRPr sz="900" b="0">
                <a:solidFill>
                  <a:srgbClr val="9A9AA8"/>
                </a:solidFill>
                <a:latin typeface="Arial"/>
              </a:defRPr>
            </a:pPr>
            <a:r>
              <a:t>https://www.nvidia.com/en-us/data-center/vera-cpu/</a:t>
            </a:r>
          </a:p>
        </p:txBody>
      </p:sp>
      <p:sp>
        <p:nvSpPr>
          <p:cNvPr id="20" name="TextBox 19"/>
          <p:cNvSpPr txBox="1"/>
          <p:nvPr/>
        </p:nvSpPr>
        <p:spPr>
          <a:xfrm>
            <a:off x="6400800" y="3794760"/>
            <a:ext cx="5029200" cy="365760"/>
          </a:xfrm>
          <a:prstGeom prst="rect">
            <a:avLst/>
          </a:prstGeom>
          <a:noFill/>
        </p:spPr>
        <p:txBody>
          <a:bodyPr wrap="square" anchor="t"/>
          <a:lstStyle/>
          <a:p>
            <a:pPr algn="l">
              <a:defRPr sz="1100" b="1">
                <a:solidFill>
                  <a:srgbClr val="F0F0F5"/>
                </a:solidFill>
                <a:latin typeface="Arial"/>
              </a:defRPr>
            </a:pPr>
            <a:r>
              <a:t>9. FP4 Tensor Cores in Modern GPUs</a:t>
            </a:r>
          </a:p>
        </p:txBody>
      </p:sp>
      <p:sp>
        <p:nvSpPr>
          <p:cNvPr id="21" name="TextBox 20"/>
          <p:cNvSpPr txBox="1"/>
          <p:nvPr/>
        </p:nvSpPr>
        <p:spPr>
          <a:xfrm>
            <a:off x="6400800" y="4114800"/>
            <a:ext cx="5029200" cy="274320"/>
          </a:xfrm>
          <a:prstGeom prst="rect">
            <a:avLst/>
          </a:prstGeom>
          <a:noFill/>
        </p:spPr>
        <p:txBody>
          <a:bodyPr wrap="square" anchor="t"/>
          <a:lstStyle/>
          <a:p>
            <a:pPr algn="l">
              <a:defRPr sz="900" b="0">
                <a:solidFill>
                  <a:srgbClr val="9A9AA8"/>
                </a:solidFill>
                <a:latin typeface="Arial"/>
              </a:defRPr>
            </a:pPr>
            <a:r>
              <a:t>https://www.emergentmind.com/topics/fp4-tensor-cores</a:t>
            </a:r>
          </a:p>
        </p:txBody>
      </p:sp>
      <p:sp>
        <p:nvSpPr>
          <p:cNvPr id="22" name="TextBox 21"/>
          <p:cNvSpPr txBox="1"/>
          <p:nvPr/>
        </p:nvSpPr>
        <p:spPr>
          <a:xfrm>
            <a:off x="6400800" y="4572000"/>
            <a:ext cx="5029200" cy="365760"/>
          </a:xfrm>
          <a:prstGeom prst="rect">
            <a:avLst/>
          </a:prstGeom>
          <a:noFill/>
        </p:spPr>
        <p:txBody>
          <a:bodyPr wrap="square" anchor="t"/>
          <a:lstStyle/>
          <a:p>
            <a:pPr algn="l">
              <a:defRPr sz="1100" b="1">
                <a:solidFill>
                  <a:srgbClr val="F0F0F5"/>
                </a:solidFill>
                <a:latin typeface="Arial"/>
              </a:defRPr>
            </a:pPr>
            <a:r>
              <a:t>10. Tensor Cores: Versatility for HPC &amp; AI</a:t>
            </a:r>
          </a:p>
        </p:txBody>
      </p:sp>
      <p:sp>
        <p:nvSpPr>
          <p:cNvPr id="23" name="TextBox 22"/>
          <p:cNvSpPr txBox="1"/>
          <p:nvPr/>
        </p:nvSpPr>
        <p:spPr>
          <a:xfrm>
            <a:off x="6400800" y="4892040"/>
            <a:ext cx="5029200" cy="274320"/>
          </a:xfrm>
          <a:prstGeom prst="rect">
            <a:avLst/>
          </a:prstGeom>
          <a:noFill/>
        </p:spPr>
        <p:txBody>
          <a:bodyPr wrap="square" anchor="t"/>
          <a:lstStyle/>
          <a:p>
            <a:pPr algn="l">
              <a:defRPr sz="900" b="0">
                <a:solidFill>
                  <a:srgbClr val="9A9AA8"/>
                </a:solidFill>
                <a:latin typeface="Arial"/>
              </a:defRPr>
            </a:pPr>
            <a:r>
              <a:t>https://www.nvidia.com/en-us/data-center/tensor-cores/</a:t>
            </a:r>
          </a:p>
        </p:txBody>
      </p:sp>
      <p:sp>
        <p:nvSpPr>
          <p:cNvPr id="24" name="TextBox 23"/>
          <p:cNvSpPr txBox="1"/>
          <p:nvPr/>
        </p:nvSpPr>
        <p:spPr>
          <a:xfrm>
            <a:off x="731520" y="5943600"/>
            <a:ext cx="10698480" cy="457200"/>
          </a:xfrm>
          <a:prstGeom prst="rect">
            <a:avLst/>
          </a:prstGeom>
          <a:noFill/>
        </p:spPr>
        <p:txBody>
          <a:bodyPr wrap="square" anchor="t"/>
          <a:lstStyle/>
          <a:p>
            <a:pPr algn="ctr">
              <a:defRPr sz="1200" b="0">
                <a:solidFill>
                  <a:srgbClr val="609BFF"/>
                </a:solidFill>
                <a:latin typeface="Arial"/>
              </a:defRPr>
            </a:pPr>
            <a:r>
              <a:t>Full article with all citations available on the blog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Rectangle 1"/>
          <p:cNvSpPr/>
          <p:nvPr/>
        </p:nvSpPr>
        <p:spPr>
          <a:xfrm>
            <a:off x="1097280" y="182880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966960" cy="1828800"/>
          </a:xfrm>
          <a:prstGeom prst="rect">
            <a:avLst/>
          </a:prstGeom>
          <a:noFill/>
        </p:spPr>
        <p:txBody>
          <a:bodyPr wrap="square" anchor="t"/>
          <a:lstStyle/>
          <a:p>
            <a:pPr algn="l">
              <a:defRPr sz="3000" b="1">
                <a:solidFill>
                  <a:srgbClr val="F0F0F5"/>
                </a:solidFill>
                <a:latin typeface="Arial"/>
              </a:defRPr>
            </a:pPr>
            <a:r>
              <a:t>Scaling to trillion-parameter AI models requires a holistic evolution where silicon architecture (Blackwell/Rubin), networking (Spectrum-X), and thermal management (Liquid Cooling) function as a single, integrated system rather than independent components.</a:t>
            </a:r>
          </a:p>
        </p:txBody>
      </p:sp>
      <p:sp>
        <p:nvSpPr>
          <p:cNvPr id="4" name="TextBox 3"/>
          <p:cNvSpPr txBox="1"/>
          <p:nvPr/>
        </p:nvSpPr>
        <p:spPr>
          <a:xfrm>
            <a:off x="1097280" y="4114800"/>
            <a:ext cx="9966960" cy="914400"/>
          </a:xfrm>
          <a:prstGeom prst="rect">
            <a:avLst/>
          </a:prstGeom>
          <a:noFill/>
        </p:spPr>
        <p:txBody>
          <a:bodyPr wrap="square" anchor="t"/>
          <a:lstStyle/>
          <a:p>
            <a:pPr algn="l">
              <a:defRPr sz="2000" b="0">
                <a:solidFill>
                  <a:srgbClr val="9A9AA8"/>
                </a:solidFill>
                <a:latin typeface="Arial"/>
              </a:defRPr>
            </a:pPr>
            <a:r>
              <a:t>Stay Ahead of the AI Infrastructure Curve</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609BFF"/>
                </a:solidFill>
                <a:latin typeface="Arial"/>
              </a:defRPr>
            </a:pPr>
            <a:r>
              <a:t>Like &amp; Subscribe  |  Prolific Blog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