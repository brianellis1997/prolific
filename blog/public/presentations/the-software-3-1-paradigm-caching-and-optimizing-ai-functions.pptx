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diving into a fundamental shift in how we build applications: the 'Software 3.1' paradigm. As AI moves from experimental chat interfaces into the very core of our infrastructure, we face a massive challenge: how do we turn unpredictable, expensive AI outputs into stable, high-performance software? We are going to explore how caching and optimization are turning stochastic tokens into deterministic code.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first chapter, we look at why the current way of using LLMs is hitting a wall. We'll define what Software 3.1 actually is and why the transition from probabilistic inference to deterministic execution is the only way forward for enterprise-grade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the idea of a new lifecycle, Software 3.1 moves through three distinct stages. First, we use the LLM's creativity to generate code. Second, we move that code into a sandbox for rigorous validation to catch errors like undeclared variables. Finally, once it's certified, we cache it. This turns a 'maybe' into a 'definitely,' allowing us to serve validated logic with the speed of traditional compiled software.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talk about the money. You simply cannot scale a business if every function call costs a fortune in compute. With LLM calls being up to 100 times more expensive than a database lookup, caching isn't just a performance optimization—it is an existential requirement for any organization building AI at scale.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this visualization, you can see how the ecosystem fits together. We aren't just talking about a script; we're talking about a whole infrastructure where automated tools and secure environments work in tandem. This isometric view represents the complexity of managing these glowing digital interfaces and data charts that now define our development stacks.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into the technical weeds, how do we actually build this? In Chapter 2, we explore the storage substrates and the 'Natural Language Compiler' that makes semantic retrieval possible.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engineering the cache, we have a choice to make. Vector databases are great for 'fuzzy' matching—finding a function that is 'close enough' to what the user asked for. However, for absolute speed and consistency, traditional Key-Value stores like Redis are still king. Most production systems are now moving toward a hybrid design to get the best of both worlds.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that storage layer, we treat the system like a compiler. Since roughly 40% of enterprise LLM calls are semantically similar, we can use vector embeddings to match intent. By setting our similarity thresholds correctly—usually between 0.85 and 0.95—we can slash LLM costs by up to half while maintaining high precision.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we have to address the 'scary' part: security. Running AI-generated code in production isn't like running your own code. We need to talk about isolation and the unique challenges of multi-tenant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production setting, security is paramount. We use process isolation and sandboxing to ensure that one tenant's AI-generated function can't leak data to another. We also implement DNS-based filtering to make sure these functions don't make unauthorized external calls. It's about creating a 'blast radius' to contain any potential issues from non-deterministic code.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was built on a foundation of cutting-edge research. From the DORADD papers on deterministic execution to practical insights from Redis and GitHub on agentic workflows, these sources represent the current state of the art in AI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things up: the shift to Software 3.1 is inevitable. By moving from stochastic inference to deterministic, cached execution, we can build AI applications that are faster, cheaper, and more secure. If you enjoyed this deep dive, please like the video, subscribe for more technical breakdowns, and check out the full blog post in the description.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The 'Software 3.1' Paradigm</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Caching and Optimizing AI Functions</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February 25,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Dawn of Software 3.1</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From Probabilistic Tokens to Deterministic Code</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Software 3.1 Lifecycle</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Phase 1: Stochastic Inference (Generation)</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Phase 2: Validation and Stabilization</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Phase 3: Deterministic Execution (Caching)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LLM calls can be 100 times more expensive than a standard database lookup.</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Software 3.1 Paradigm Research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Software 3.1 Ecosystem</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ojcd0qdb.jpg"/>
          <p:cNvPicPr>
            <a:picLocks noChangeAspect="1"/>
          </p:cNvPicPr>
          <p:nvPr/>
        </p:nvPicPr>
        <p:blipFill>
          <a:blip r:embed="rId2"/>
          <a:stretch>
            <a:fillRect/>
          </a:stretch>
        </p:blipFill>
        <p:spPr>
          <a:xfrm>
            <a:off x="731520" y="1645920"/>
            <a:ext cx="5943600" cy="4114800"/>
          </a:xfrm>
          <a:prstGeom prst="rect">
            <a:avLst/>
          </a:prstGeom>
        </p:spPr>
      </p:pic>
      <p:sp>
        <p:nvSpPr>
          <p:cNvPr id="5" name="TextBox 4"/>
          <p:cNvSpPr txBox="1"/>
          <p:nvPr/>
        </p:nvSpPr>
        <p:spPr>
          <a:xfrm>
            <a:off x="731520" y="5943600"/>
            <a:ext cx="5943600" cy="457200"/>
          </a:xfrm>
          <a:prstGeom prst="rect">
            <a:avLst/>
          </a:prstGeom>
          <a:noFill/>
        </p:spPr>
        <p:txBody>
          <a:bodyPr wrap="square" anchor="t"/>
          <a:lstStyle/>
          <a:p>
            <a:pPr algn="ctr">
              <a:defRPr sz="1200" b="0">
                <a:solidFill>
                  <a:srgbClr val="9A9AA8"/>
                </a:solidFill>
                <a:latin typeface="Arial"/>
              </a:defRPr>
            </a:pPr>
            <a:r>
              <a:t>A conceptual visualization of the Software 3.1 ecosystem.</a:t>
            </a:r>
          </a:p>
        </p:txBody>
      </p:sp>
      <p:sp>
        <p:nvSpPr>
          <p:cNvPr id="6" name="TextBox 5"/>
          <p:cNvSpPr txBox="1"/>
          <p:nvPr/>
        </p:nvSpPr>
        <p:spPr>
          <a:xfrm>
            <a:off x="7132320" y="1645920"/>
            <a:ext cx="4297680" cy="548640"/>
          </a:xfrm>
          <a:prstGeom prst="rect">
            <a:avLst/>
          </a:prstGeom>
          <a:noFill/>
        </p:spPr>
        <p:txBody>
          <a:bodyPr wrap="square" anchor="t"/>
          <a:lstStyle/>
          <a:p>
            <a:pPr algn="l">
              <a:defRPr sz="1500" b="0">
                <a:solidFill>
                  <a:srgbClr val="F0F0F5"/>
                </a:solidFill>
                <a:latin typeface="Arial"/>
              </a:defRPr>
            </a:pPr>
            <a:r>
              <a:t>•  Automated development tool integration</a:t>
            </a:r>
          </a:p>
        </p:txBody>
      </p:sp>
      <p:sp>
        <p:nvSpPr>
          <p:cNvPr id="7" name="TextBox 6"/>
          <p:cNvSpPr txBox="1"/>
          <p:nvPr/>
        </p:nvSpPr>
        <p:spPr>
          <a:xfrm>
            <a:off x="7132320" y="2286000"/>
            <a:ext cx="4297680" cy="548640"/>
          </a:xfrm>
          <a:prstGeom prst="rect">
            <a:avLst/>
          </a:prstGeom>
          <a:noFill/>
        </p:spPr>
        <p:txBody>
          <a:bodyPr wrap="square" anchor="t"/>
          <a:lstStyle/>
          <a:p>
            <a:pPr algn="l">
              <a:defRPr sz="1500" b="0">
                <a:solidFill>
                  <a:srgbClr val="F0F0F5"/>
                </a:solidFill>
                <a:latin typeface="Arial"/>
              </a:defRPr>
            </a:pPr>
            <a:r>
              <a:t>•  Secure, isolated data environments</a:t>
            </a:r>
          </a:p>
        </p:txBody>
      </p:sp>
      <p:sp>
        <p:nvSpPr>
          <p:cNvPr id="8" name="TextBox 7"/>
          <p:cNvSpPr txBox="1"/>
          <p:nvPr/>
        </p:nvSpPr>
        <p:spPr>
          <a:xfrm>
            <a:off x="7132320" y="2926080"/>
            <a:ext cx="4297680" cy="548640"/>
          </a:xfrm>
          <a:prstGeom prst="rect">
            <a:avLst/>
          </a:prstGeom>
          <a:noFill/>
        </p:spPr>
        <p:txBody>
          <a:bodyPr wrap="square" anchor="t"/>
          <a:lstStyle/>
          <a:p>
            <a:pPr algn="l">
              <a:defRPr sz="1500" b="0">
                <a:solidFill>
                  <a:srgbClr val="F0F0F5"/>
                </a:solidFill>
                <a:latin typeface="Arial"/>
              </a:defRPr>
            </a:pPr>
            <a:r>
              <a:t>•  Visualizing the AI-to-Code pipeline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Engineering the Cache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Architecture, Versioning, and Retrieval</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Storage: Vectors vs. Key-Value</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548640"/>
          </a:xfrm>
          <a:prstGeom prst="rect">
            <a:avLst/>
          </a:prstGeom>
          <a:noFill/>
        </p:spPr>
        <p:txBody>
          <a:bodyPr wrap="square" anchor="t"/>
          <a:lstStyle/>
          <a:p>
            <a:pPr algn="l">
              <a:defRPr sz="1800" b="0">
                <a:solidFill>
                  <a:srgbClr val="F0F0F5"/>
                </a:solidFill>
                <a:latin typeface="Arial"/>
              </a:defRPr>
            </a:pPr>
            <a:r>
              <a:t>•  Vector DBs: Semantic similarity and discovery</a:t>
            </a:r>
          </a:p>
        </p:txBody>
      </p:sp>
      <p:sp>
        <p:nvSpPr>
          <p:cNvPr id="5" name="TextBox 4"/>
          <p:cNvSpPr txBox="1"/>
          <p:nvPr/>
        </p:nvSpPr>
        <p:spPr>
          <a:xfrm>
            <a:off x="6400800" y="1463040"/>
            <a:ext cx="5029200" cy="548640"/>
          </a:xfrm>
          <a:prstGeom prst="rect">
            <a:avLst/>
          </a:prstGeom>
          <a:noFill/>
        </p:spPr>
        <p:txBody>
          <a:bodyPr wrap="square" anchor="t"/>
          <a:lstStyle/>
          <a:p>
            <a:pPr algn="l">
              <a:defRPr sz="1800" b="0">
                <a:solidFill>
                  <a:srgbClr val="F0F0F5"/>
                </a:solidFill>
                <a:latin typeface="Arial"/>
              </a:defRPr>
            </a:pPr>
            <a:r>
              <a:t>•  Key-Value: Microsecond latency and determinism</a:t>
            </a:r>
          </a:p>
        </p:txBody>
      </p:sp>
      <p:sp>
        <p:nvSpPr>
          <p:cNvPr id="6" name="TextBox 5"/>
          <p:cNvSpPr txBox="1"/>
          <p:nvPr/>
        </p:nvSpPr>
        <p:spPr>
          <a:xfrm>
            <a:off x="6400800" y="2148840"/>
            <a:ext cx="5029200" cy="548640"/>
          </a:xfrm>
          <a:prstGeom prst="rect">
            <a:avLst/>
          </a:prstGeom>
          <a:noFill/>
        </p:spPr>
        <p:txBody>
          <a:bodyPr wrap="square" anchor="t"/>
          <a:lstStyle/>
          <a:p>
            <a:pPr algn="l">
              <a:defRPr sz="1800" b="0">
                <a:solidFill>
                  <a:srgbClr val="F0F0F5"/>
                </a:solidFill>
                <a:latin typeface="Arial"/>
              </a:defRPr>
            </a:pPr>
            <a:r>
              <a:t>•  Hybrid Design: The production-grade standard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Natural Language Compiler</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Translating prompts into optimized binaries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30-40% of LLM calls are semantically similar</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Similarity thresholds: 0.85 to 0.95 range</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30-50% cost reduction in repetitive workloads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Production Realities</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Security, Isolation, and Multi-Tenancy</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Securing the AI Runtime</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Process isolation for multi-tenant execution</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DNS-based filtering for external calls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Capability-based security models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Mitigating prompt injection in cached code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[PDF] DORADD: Deterministic Parallel Execution in the Era of ...</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https://marioskogias.github.io/docs/doradd.pdf</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Building production AI: What vector databases don't provide - Redis</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https://redis.io/blog/more-than-a-vector-database/</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Supercharge your AI with OpenShift AI and Redis - Red Hat</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https://www.redhat.com/en/blog/supercharge-your-ai-openshift...</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Chain-of-Code Collapse: Reasoning Failures in LLMs via ... - arXiv.org</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https://arxiv.org/html/2506.06971v2</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General Prompting - Introduction - Morph Documentation</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https://docs.morphllm.com/guides/prompting</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Flow: Modularized Agentic Workflow Automation - OpenReview</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https://openreview.net/forum?id=sLKDbuyq99</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How to build reliable AI workflows with agentic primitives and ...</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https://github.blog/ai-and-ml/github-copilot/how-to-build-re...</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Caching Reasoning, Not Just Responses, in Agentic Systems - arXiv</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https://arxiv.org/html/2601.16286v1</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What Is Semantic Caching? - The New Stack</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https://thenewstack.io/what-is-semantic-caching/</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Architecting Fast, Secure Cloud Sandboxes for AI Development with ...</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https://www.warp.dev/blog/secure-cloud-sandboxes-for-ai-dev-...</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The Software 3.1 paradigm transitions AI from unpredictable inference to deterministic execution by using semantic caching, vector-based retrieval, and rigorous sandboxing to make AI-generated functions production-ready.</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Embrace the Software 3.1 Paradigm</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