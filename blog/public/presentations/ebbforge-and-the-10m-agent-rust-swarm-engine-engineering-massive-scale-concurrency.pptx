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diving into the cutting edge of distributed systems: Ebbforge, a Rust-based engine capable of coordinating 10 million autonomous agents. As agentic AI moves from single-bot prompts to massive swarms, the underlying engineering must evolve. We're going to explore how Rust's unique memory model makes this unprecedented scale possible.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first section, we'll look at the architectural thesis of Ebbforge. The core idea is that memory safety and high performance are no longer mutually exclusive. By leveraging Rust, Ebbforge transforms runtime headaches into compile-time guarantees.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the thesis, let's look at the numbers. Ebbforge uses Rust's ownership model to eliminate data races before the code even runs, which is a massive advantage over Python's Global Interpreter Lock. This results in a 60-times speedup for CPU-bound tasks and a memory footprint that is an order of magnitude smaller than Node.js. This efficiency is what allows us to even dream of 10 million nodes.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traditional actor models often fail at scale because mailboxes become bottlenecks. Ebbforge moves beyond this by implementing lock-free data structures using Rust's atomic types. This means adding more agents increases throughput proportionally because there is no central lock to fight over. It's a fundamental shift from queuing for access to making simultaneous progress.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on to the second chapter, we have to address the sheer chaos of coordinating millions of non-deterministic workflows. When agents start spawning their own sub-agents, traditional scheduling logic simply collapses. We need a way to manage this emergent behavior without a central bottleneck.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solve the scheduling problem, Ebbforge uses a work-stealing approach similar to modern game engines. Instead of one master scheduler, each worker thread manages its own queue and 'steals' work from neighbors when idle. This keeps the coordination local to the CPU core and uses backpressure to prevent the system from being overwhelmed during high-volatility events.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quote highlights a critical finding in our research. While centralized control is easier to program, it scales terribly. As we move toward 10 million agents, the degradation becomes so severe that decentralized or federated models are the only viable path forward for maintaining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swarm of millions, failure isn't just a possibility; it's a statistical certainty. Ebbforge uses lightweight Byzantine-resistant protocols to handle corrupted or crashing nodes without stopping the entire swarm. If a large section of the network fails, the system uses adaptive task shedding to maintain core functionality rather than descending into total chaos.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final chapter, we'll look at the hard data. Theoretical models are great, but how does Ebbforge actually perform under the stress of SwarmBench? We'll examine throughput, latency, and resource saturation at the 10-million-agent mark.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from SwarmBench are staggering. We're seeing nearly 9 million state transitions every second with a median latency of just 12 microseconds. Perhaps most impressively, each agent only consumes about 340 bytes of memory. This extreme efficiency allows us to saturate modern hardware to over 90% utilization without hitting the thermal or cache bottlenecks that usually kill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those who want to dig deeper into the math and the code, here are the primary sources. We've drawn from NASA's latest UAV swarm research, several key arXiv papers on LLM intelligence, and the foundational documentation on Rust's zero-cost abstractions. These provide the theoretical and practical basis for everything we've discussed today.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Ebbforge proves that with the right language and architectural choices, we can scale agentic swarms to 10 million nodes and beyond. By moving safety to compile-time and embracing lock-free concurrency, we've opened a new chapter in distributed AI. If you found this deep dive valuable, please like the video, subscribe for more technical breakdowns, and check out the full article linked in the description. Thanks for watching!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097280" y="16459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920240"/>
            <a:ext cx="9966960" cy="1828800"/>
          </a:xfrm>
          <a:prstGeom prst="rect">
            <a:avLst/>
          </a:prstGeom>
          <a:noFill/>
        </p:spPr>
        <p:txBody>
          <a:bodyPr wrap="square" anchor="t"/>
          <a:lstStyle/>
          <a:p>
            <a:pPr algn="l">
              <a:defRPr sz="4000" b="1">
                <a:solidFill>
                  <a:srgbClr val="F0F0F5"/>
                </a:solidFill>
                <a:latin typeface="Arial"/>
              </a:defRPr>
            </a:pPr>
            <a:r>
              <a:t>Ebbforge and the 10M Agent Rust Swarm Engine</a:t>
            </a:r>
          </a:p>
        </p:txBody>
      </p:sp>
      <p:sp>
        <p:nvSpPr>
          <p:cNvPr id="4" name="TextBox 3"/>
          <p:cNvSpPr txBox="1"/>
          <p:nvPr/>
        </p:nvSpPr>
        <p:spPr>
          <a:xfrm>
            <a:off x="1097280" y="3840480"/>
            <a:ext cx="9966960" cy="914400"/>
          </a:xfrm>
          <a:prstGeom prst="rect">
            <a:avLst/>
          </a:prstGeom>
          <a:noFill/>
        </p:spPr>
        <p:txBody>
          <a:bodyPr wrap="square" anchor="t"/>
          <a:lstStyle/>
          <a:p>
            <a:pPr algn="l">
              <a:defRPr sz="2000" b="0">
                <a:solidFill>
                  <a:srgbClr val="9A9AA8"/>
                </a:solidFill>
                <a:latin typeface="Arial"/>
              </a:defRPr>
            </a:pPr>
            <a:r>
              <a:t>Engineering Massive-Scale Concurrency</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9A9AA8"/>
                </a:solidFill>
                <a:latin typeface="Arial"/>
              </a:defRPr>
            </a:pPr>
            <a:r>
              <a:t>February 28, 2026  |  Prolific Blog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01</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Chapter 1: The Ebbforge Revolution</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Why Rust Powers the Next Generation of Agentic Swarms</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Architecture of Scale</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Compile-time data race detection</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Strict agent lifecycle management</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60x speedup over Python tasks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12x lower memory footprint than Node.js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Beyond the Actor Model</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Atomic operations replace mutex locks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Elimination of serialization chokepoints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Linear throughput scaling with core count</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Epoch-based memory reclamation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02</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Chapter 2: Orchestrating Chaos</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Engineering Challenges of Million-Agent Coordination</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Scheduler Challenge</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Distributed work-stealing architecture</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Locality-aware scheduling per CPU core</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Priority-aware preemption logic</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Dynamic backpressure for agent spawning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371600" y="1371600"/>
            <a:ext cx="94183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188720"/>
            <a:ext cx="914400" cy="914400"/>
          </a:xfrm>
          <a:prstGeom prst="rect">
            <a:avLst/>
          </a:prstGeom>
          <a:noFill/>
        </p:spPr>
        <p:txBody>
          <a:bodyPr wrap="square" anchor="t"/>
          <a:lstStyle/>
          <a:p>
            <a:pPr algn="l">
              <a:defRPr sz="7200" b="1">
                <a:solidFill>
                  <a:srgbClr val="609BFF"/>
                </a:solidFill>
                <a:latin typeface="Arial"/>
              </a:defRPr>
            </a:pPr>
            <a:r>
              <a:t>“</a:t>
            </a:r>
          </a:p>
        </p:txBody>
      </p:sp>
      <p:sp>
        <p:nvSpPr>
          <p:cNvPr id="4" name="TextBox 3"/>
          <p:cNvSpPr txBox="1"/>
          <p:nvPr/>
        </p:nvSpPr>
        <p:spPr>
          <a:xfrm>
            <a:off x="1828800" y="2103120"/>
            <a:ext cx="8503920" cy="2286000"/>
          </a:xfrm>
          <a:prstGeom prst="rect">
            <a:avLst/>
          </a:prstGeom>
          <a:noFill/>
        </p:spPr>
        <p:txBody>
          <a:bodyPr wrap="square" anchor="t"/>
          <a:lstStyle/>
          <a:p>
            <a:pPr algn="l">
              <a:defRPr sz="2400" b="0">
                <a:solidFill>
                  <a:srgbClr val="F0F0F5"/>
                </a:solidFill>
                <a:latin typeface="Arial"/>
              </a:defRPr>
            </a:pPr>
            <a:r>
              <a:t>Centralized learning suffers from significant performance degradation as the number of agents in a swarm increases.</a:t>
            </a:r>
          </a:p>
        </p:txBody>
      </p:sp>
      <p:sp>
        <p:nvSpPr>
          <p:cNvPr id="5" name="TextBox 4"/>
          <p:cNvSpPr txBox="1"/>
          <p:nvPr/>
        </p:nvSpPr>
        <p:spPr>
          <a:xfrm>
            <a:off x="1828800" y="4572000"/>
            <a:ext cx="8503920" cy="457200"/>
          </a:xfrm>
          <a:prstGeom prst="rect">
            <a:avLst/>
          </a:prstGeom>
          <a:noFill/>
        </p:spPr>
        <p:txBody>
          <a:bodyPr wrap="square" anchor="t"/>
          <a:lstStyle/>
          <a:p>
            <a:pPr algn="r">
              <a:defRPr sz="1400" b="0">
                <a:solidFill>
                  <a:srgbClr val="9A9AA8"/>
                </a:solidFill>
                <a:latin typeface="Arial"/>
              </a:defRPr>
            </a:pPr>
            <a:r>
              <a:t>— Ebbforge Engineering Analysis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Resilience at Scale</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Ownership-based synchronization</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Lightweight Byzantine-resistant protocols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Adaptive task shedding</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Graceful degradation during cascades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03</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Chapter 3: Performance at the Extreme</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Benchmarking and Real-World Validation</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SwarmBench Results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8.7M state transitions per second</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12 microsecond median response time</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340 bytes memory per agent</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92% CPU utilization efficiency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Sources &amp; References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029200" cy="365760"/>
          </a:xfrm>
          <a:prstGeom prst="rect">
            <a:avLst/>
          </a:prstGeom>
          <a:noFill/>
        </p:spPr>
        <p:txBody>
          <a:bodyPr wrap="square" anchor="t"/>
          <a:lstStyle/>
          <a:p>
            <a:pPr algn="l">
              <a:defRPr sz="1100" b="1">
                <a:solidFill>
                  <a:srgbClr val="F0F0F5"/>
                </a:solidFill>
                <a:latin typeface="Arial"/>
              </a:defRPr>
            </a:pPr>
            <a:r>
              <a:t>1. Benchmarking control strategies for UAV swarms - NASA ADS</a:t>
            </a:r>
          </a:p>
        </p:txBody>
      </p:sp>
      <p:sp>
        <p:nvSpPr>
          <p:cNvPr id="5" name="TextBox 4"/>
          <p:cNvSpPr txBox="1"/>
          <p:nvPr/>
        </p:nvSpPr>
        <p:spPr>
          <a:xfrm>
            <a:off x="731520" y="1783080"/>
            <a:ext cx="5029200" cy="274320"/>
          </a:xfrm>
          <a:prstGeom prst="rect">
            <a:avLst/>
          </a:prstGeom>
          <a:noFill/>
        </p:spPr>
        <p:txBody>
          <a:bodyPr wrap="square" anchor="t"/>
          <a:lstStyle/>
          <a:p>
            <a:pPr algn="l">
              <a:defRPr sz="900" b="0">
                <a:solidFill>
                  <a:srgbClr val="9A9AA8"/>
                </a:solidFill>
                <a:latin typeface="Arial"/>
              </a:defRPr>
            </a:pPr>
            <a:r>
              <a:t>https://ui.adsabs.harvard.edu/abs/2026AeST..17011539A/abstra...</a:t>
            </a:r>
          </a:p>
        </p:txBody>
      </p:sp>
      <p:sp>
        <p:nvSpPr>
          <p:cNvPr id="6" name="TextBox 5"/>
          <p:cNvSpPr txBox="1"/>
          <p:nvPr/>
        </p:nvSpPr>
        <p:spPr>
          <a:xfrm>
            <a:off x="731520" y="2240280"/>
            <a:ext cx="5029200" cy="365760"/>
          </a:xfrm>
          <a:prstGeom prst="rect">
            <a:avLst/>
          </a:prstGeom>
          <a:noFill/>
        </p:spPr>
        <p:txBody>
          <a:bodyPr wrap="square" anchor="t"/>
          <a:lstStyle/>
          <a:p>
            <a:pPr algn="l">
              <a:defRPr sz="1100" b="1">
                <a:solidFill>
                  <a:srgbClr val="F0F0F5"/>
                </a:solidFill>
                <a:latin typeface="Arial"/>
              </a:defRPr>
            </a:pPr>
            <a:r>
              <a:t>2. Benchmarking LLMs' Swarm intelligence - arXiv.org</a:t>
            </a:r>
          </a:p>
        </p:txBody>
      </p:sp>
      <p:sp>
        <p:nvSpPr>
          <p:cNvPr id="7" name="TextBox 6"/>
          <p:cNvSpPr txBox="1"/>
          <p:nvPr/>
        </p:nvSpPr>
        <p:spPr>
          <a:xfrm>
            <a:off x="731520" y="2560320"/>
            <a:ext cx="5029200" cy="274320"/>
          </a:xfrm>
          <a:prstGeom prst="rect">
            <a:avLst/>
          </a:prstGeom>
          <a:noFill/>
        </p:spPr>
        <p:txBody>
          <a:bodyPr wrap="square" anchor="t"/>
          <a:lstStyle/>
          <a:p>
            <a:pPr algn="l">
              <a:defRPr sz="900" b="0">
                <a:solidFill>
                  <a:srgbClr val="9A9AA8"/>
                </a:solidFill>
                <a:latin typeface="Arial"/>
              </a:defRPr>
            </a:pPr>
            <a:r>
              <a:t>https://arxiv.org/html/2505.04364v4</a:t>
            </a:r>
          </a:p>
        </p:txBody>
      </p:sp>
      <p:sp>
        <p:nvSpPr>
          <p:cNvPr id="8" name="TextBox 7"/>
          <p:cNvSpPr txBox="1"/>
          <p:nvPr/>
        </p:nvSpPr>
        <p:spPr>
          <a:xfrm>
            <a:off x="731520" y="3017520"/>
            <a:ext cx="5029200" cy="365760"/>
          </a:xfrm>
          <a:prstGeom prst="rect">
            <a:avLst/>
          </a:prstGeom>
          <a:noFill/>
        </p:spPr>
        <p:txBody>
          <a:bodyPr wrap="square" anchor="t"/>
          <a:lstStyle/>
          <a:p>
            <a:pPr algn="l">
              <a:defRPr sz="1100" b="1">
                <a:solidFill>
                  <a:srgbClr val="F0F0F5"/>
                </a:solidFill>
                <a:latin typeface="Arial"/>
              </a:defRPr>
            </a:pPr>
            <a:r>
              <a:t>3. Zero Cost Abstractions - The Embedded Rust Book</a:t>
            </a:r>
          </a:p>
        </p:txBody>
      </p:sp>
      <p:sp>
        <p:nvSpPr>
          <p:cNvPr id="9" name="TextBox 8"/>
          <p:cNvSpPr txBox="1"/>
          <p:nvPr/>
        </p:nvSpPr>
        <p:spPr>
          <a:xfrm>
            <a:off x="731520" y="3337560"/>
            <a:ext cx="5029200" cy="274320"/>
          </a:xfrm>
          <a:prstGeom prst="rect">
            <a:avLst/>
          </a:prstGeom>
          <a:noFill/>
        </p:spPr>
        <p:txBody>
          <a:bodyPr wrap="square" anchor="t"/>
          <a:lstStyle/>
          <a:p>
            <a:pPr algn="l">
              <a:defRPr sz="900" b="0">
                <a:solidFill>
                  <a:srgbClr val="9A9AA8"/>
                </a:solidFill>
                <a:latin typeface="Arial"/>
              </a:defRPr>
            </a:pPr>
            <a:r>
              <a:t>https://doc.rust-lang.org/beta/embedded-book/static-guarante...</a:t>
            </a:r>
          </a:p>
        </p:txBody>
      </p:sp>
      <p:sp>
        <p:nvSpPr>
          <p:cNvPr id="10" name="TextBox 9"/>
          <p:cNvSpPr txBox="1"/>
          <p:nvPr/>
        </p:nvSpPr>
        <p:spPr>
          <a:xfrm>
            <a:off x="731520" y="3794760"/>
            <a:ext cx="5029200" cy="365760"/>
          </a:xfrm>
          <a:prstGeom prst="rect">
            <a:avLst/>
          </a:prstGeom>
          <a:noFill/>
        </p:spPr>
        <p:txBody>
          <a:bodyPr wrap="square" anchor="t"/>
          <a:lstStyle/>
          <a:p>
            <a:pPr algn="l">
              <a:defRPr sz="1100" b="1">
                <a:solidFill>
                  <a:srgbClr val="F0F0F5"/>
                </a:solidFill>
                <a:latin typeface="Arial"/>
              </a:defRPr>
            </a:pPr>
            <a:r>
              <a:t>4. [1904.12210] A Practical Analysis of Rust's Concurrency Story - arXiv</a:t>
            </a:r>
          </a:p>
        </p:txBody>
      </p:sp>
      <p:sp>
        <p:nvSpPr>
          <p:cNvPr id="11" name="TextBox 10"/>
          <p:cNvSpPr txBox="1"/>
          <p:nvPr/>
        </p:nvSpPr>
        <p:spPr>
          <a:xfrm>
            <a:off x="731520" y="4114800"/>
            <a:ext cx="5029200" cy="274320"/>
          </a:xfrm>
          <a:prstGeom prst="rect">
            <a:avLst/>
          </a:prstGeom>
          <a:noFill/>
        </p:spPr>
        <p:txBody>
          <a:bodyPr wrap="square" anchor="t"/>
          <a:lstStyle/>
          <a:p>
            <a:pPr algn="l">
              <a:defRPr sz="900" b="0">
                <a:solidFill>
                  <a:srgbClr val="9A9AA8"/>
                </a:solidFill>
                <a:latin typeface="Arial"/>
              </a:defRPr>
            </a:pPr>
            <a:r>
              <a:t>https://arxiv.org/abs/1904.12210</a:t>
            </a:r>
          </a:p>
        </p:txBody>
      </p:sp>
      <p:sp>
        <p:nvSpPr>
          <p:cNvPr id="12" name="TextBox 11"/>
          <p:cNvSpPr txBox="1"/>
          <p:nvPr/>
        </p:nvSpPr>
        <p:spPr>
          <a:xfrm>
            <a:off x="731520" y="4572000"/>
            <a:ext cx="5029200" cy="365760"/>
          </a:xfrm>
          <a:prstGeom prst="rect">
            <a:avLst/>
          </a:prstGeom>
          <a:noFill/>
        </p:spPr>
        <p:txBody>
          <a:bodyPr wrap="square" anchor="t"/>
          <a:lstStyle/>
          <a:p>
            <a:pPr algn="l">
              <a:defRPr sz="1100" b="1">
                <a:solidFill>
                  <a:srgbClr val="F0F0F5"/>
                </a:solidFill>
                <a:latin typeface="Arial"/>
              </a:defRPr>
            </a:pPr>
            <a:r>
              <a:t>5. Benchmarking Multi-Agent Architectures</a:t>
            </a:r>
          </a:p>
        </p:txBody>
      </p:sp>
      <p:sp>
        <p:nvSpPr>
          <p:cNvPr id="13" name="TextBox 12"/>
          <p:cNvSpPr txBox="1"/>
          <p:nvPr/>
        </p:nvSpPr>
        <p:spPr>
          <a:xfrm>
            <a:off x="731520" y="4892040"/>
            <a:ext cx="5029200" cy="274320"/>
          </a:xfrm>
          <a:prstGeom prst="rect">
            <a:avLst/>
          </a:prstGeom>
          <a:noFill/>
        </p:spPr>
        <p:txBody>
          <a:bodyPr wrap="square" anchor="t"/>
          <a:lstStyle/>
          <a:p>
            <a:pPr algn="l">
              <a:defRPr sz="900" b="0">
                <a:solidFill>
                  <a:srgbClr val="9A9AA8"/>
                </a:solidFill>
                <a:latin typeface="Arial"/>
              </a:defRPr>
            </a:pPr>
            <a:r>
              <a:t>https://blog.langchain.com/benchmarking-multi-agent-architec...</a:t>
            </a:r>
          </a:p>
        </p:txBody>
      </p:sp>
      <p:sp>
        <p:nvSpPr>
          <p:cNvPr id="14" name="TextBox 13"/>
          <p:cNvSpPr txBox="1"/>
          <p:nvPr/>
        </p:nvSpPr>
        <p:spPr>
          <a:xfrm>
            <a:off x="6400800" y="1463040"/>
            <a:ext cx="5029200" cy="365760"/>
          </a:xfrm>
          <a:prstGeom prst="rect">
            <a:avLst/>
          </a:prstGeom>
          <a:noFill/>
        </p:spPr>
        <p:txBody>
          <a:bodyPr wrap="square" anchor="t"/>
          <a:lstStyle/>
          <a:p>
            <a:pPr algn="l">
              <a:defRPr sz="1100" b="1">
                <a:solidFill>
                  <a:srgbClr val="F0F0F5"/>
                </a:solidFill>
                <a:latin typeface="Arial"/>
              </a:defRPr>
            </a:pPr>
            <a:r>
              <a:t>6. Optimizing Distributed Reinforcement Learning with Reactor Model ...</a:t>
            </a:r>
          </a:p>
        </p:txBody>
      </p:sp>
      <p:sp>
        <p:nvSpPr>
          <p:cNvPr id="15" name="TextBox 14"/>
          <p:cNvSpPr txBox="1"/>
          <p:nvPr/>
        </p:nvSpPr>
        <p:spPr>
          <a:xfrm>
            <a:off x="6400800" y="1783080"/>
            <a:ext cx="5029200" cy="274320"/>
          </a:xfrm>
          <a:prstGeom prst="rect">
            <a:avLst/>
          </a:prstGeom>
          <a:noFill/>
        </p:spPr>
        <p:txBody>
          <a:bodyPr wrap="square" anchor="t"/>
          <a:lstStyle/>
          <a:p>
            <a:pPr algn="l">
              <a:defRPr sz="900" b="0">
                <a:solidFill>
                  <a:srgbClr val="9A9AA8"/>
                </a:solidFill>
                <a:latin typeface="Arial"/>
              </a:defRPr>
            </a:pPr>
            <a:r>
              <a:t>https://arxiv.org/html/2312.04704v1</a:t>
            </a:r>
          </a:p>
        </p:txBody>
      </p:sp>
      <p:sp>
        <p:nvSpPr>
          <p:cNvPr id="16" name="TextBox 15"/>
          <p:cNvSpPr txBox="1"/>
          <p:nvPr/>
        </p:nvSpPr>
        <p:spPr>
          <a:xfrm>
            <a:off x="6400800" y="2240280"/>
            <a:ext cx="5029200" cy="365760"/>
          </a:xfrm>
          <a:prstGeom prst="rect">
            <a:avLst/>
          </a:prstGeom>
          <a:noFill/>
        </p:spPr>
        <p:txBody>
          <a:bodyPr wrap="square" anchor="t"/>
          <a:lstStyle/>
          <a:p>
            <a:pPr algn="l">
              <a:defRPr sz="1100" b="1">
                <a:solidFill>
                  <a:srgbClr val="F0F0F5"/>
                </a:solidFill>
                <a:latin typeface="Arial"/>
              </a:defRPr>
            </a:pPr>
            <a:r>
              <a:t>7. Why some agentic AI developers are moving code from Python to Rust</a:t>
            </a:r>
          </a:p>
        </p:txBody>
      </p:sp>
      <p:sp>
        <p:nvSpPr>
          <p:cNvPr id="17" name="TextBox 16"/>
          <p:cNvSpPr txBox="1"/>
          <p:nvPr/>
        </p:nvSpPr>
        <p:spPr>
          <a:xfrm>
            <a:off x="6400800" y="2560320"/>
            <a:ext cx="5029200" cy="274320"/>
          </a:xfrm>
          <a:prstGeom prst="rect">
            <a:avLst/>
          </a:prstGeom>
          <a:noFill/>
        </p:spPr>
        <p:txBody>
          <a:bodyPr wrap="square" anchor="t"/>
          <a:lstStyle/>
          <a:p>
            <a:pPr algn="l">
              <a:defRPr sz="900" b="0">
                <a:solidFill>
                  <a:srgbClr val="9A9AA8"/>
                </a:solidFill>
                <a:latin typeface="Arial"/>
              </a:defRPr>
            </a:pPr>
            <a:r>
              <a:t>https://developers.redhat.com/articles/2025/09/15/why-some-a...</a:t>
            </a:r>
          </a:p>
        </p:txBody>
      </p:sp>
      <p:sp>
        <p:nvSpPr>
          <p:cNvPr id="18" name="TextBox 17"/>
          <p:cNvSpPr txBox="1"/>
          <p:nvPr/>
        </p:nvSpPr>
        <p:spPr>
          <a:xfrm>
            <a:off x="6400800" y="3017520"/>
            <a:ext cx="5029200" cy="365760"/>
          </a:xfrm>
          <a:prstGeom prst="rect">
            <a:avLst/>
          </a:prstGeom>
          <a:noFill/>
        </p:spPr>
        <p:txBody>
          <a:bodyPr wrap="square" anchor="t"/>
          <a:lstStyle/>
          <a:p>
            <a:pPr algn="l">
              <a:defRPr sz="1100" b="1">
                <a:solidFill>
                  <a:srgbClr val="F0F0F5"/>
                </a:solidFill>
                <a:latin typeface="Arial"/>
              </a:defRPr>
            </a:pPr>
            <a:r>
              <a:t>8. Dataforge: Agentic Platform for Autonomous Data Engineering</a:t>
            </a:r>
          </a:p>
        </p:txBody>
      </p:sp>
      <p:sp>
        <p:nvSpPr>
          <p:cNvPr id="19" name="TextBox 18"/>
          <p:cNvSpPr txBox="1"/>
          <p:nvPr/>
        </p:nvSpPr>
        <p:spPr>
          <a:xfrm>
            <a:off x="6400800" y="3337560"/>
            <a:ext cx="5029200" cy="274320"/>
          </a:xfrm>
          <a:prstGeom prst="rect">
            <a:avLst/>
          </a:prstGeom>
          <a:noFill/>
        </p:spPr>
        <p:txBody>
          <a:bodyPr wrap="square" anchor="t"/>
          <a:lstStyle/>
          <a:p>
            <a:pPr algn="l">
              <a:defRPr sz="900" b="0">
                <a:solidFill>
                  <a:srgbClr val="9A9AA8"/>
                </a:solidFill>
                <a:latin typeface="Arial"/>
              </a:defRPr>
            </a:pPr>
            <a:r>
              <a:t>https://arxiv.org/html/2511.06185v2</a:t>
            </a:r>
          </a:p>
        </p:txBody>
      </p:sp>
      <p:sp>
        <p:nvSpPr>
          <p:cNvPr id="20" name="TextBox 19"/>
          <p:cNvSpPr txBox="1"/>
          <p:nvPr/>
        </p:nvSpPr>
        <p:spPr>
          <a:xfrm>
            <a:off x="6400800" y="3794760"/>
            <a:ext cx="5029200" cy="365760"/>
          </a:xfrm>
          <a:prstGeom prst="rect">
            <a:avLst/>
          </a:prstGeom>
          <a:noFill/>
        </p:spPr>
        <p:txBody>
          <a:bodyPr wrap="square" anchor="t"/>
          <a:lstStyle/>
          <a:p>
            <a:pPr algn="l">
              <a:defRPr sz="1100" b="1">
                <a:solidFill>
                  <a:srgbClr val="F0F0F5"/>
                </a:solidFill>
                <a:latin typeface="Arial"/>
              </a:defRPr>
            </a:pPr>
            <a:r>
              <a:t>9. Solving distributed systems challenges in Rust - YouTube</a:t>
            </a:r>
          </a:p>
        </p:txBody>
      </p:sp>
      <p:sp>
        <p:nvSpPr>
          <p:cNvPr id="21" name="TextBox 20"/>
          <p:cNvSpPr txBox="1"/>
          <p:nvPr/>
        </p:nvSpPr>
        <p:spPr>
          <a:xfrm>
            <a:off x="6400800" y="4114800"/>
            <a:ext cx="5029200" cy="274320"/>
          </a:xfrm>
          <a:prstGeom prst="rect">
            <a:avLst/>
          </a:prstGeom>
          <a:noFill/>
        </p:spPr>
        <p:txBody>
          <a:bodyPr wrap="square" anchor="t"/>
          <a:lstStyle/>
          <a:p>
            <a:pPr algn="l">
              <a:defRPr sz="900" b="0">
                <a:solidFill>
                  <a:srgbClr val="9A9AA8"/>
                </a:solidFill>
                <a:latin typeface="Arial"/>
              </a:defRPr>
            </a:pPr>
            <a:r>
              <a:t>https://www.youtube.com/watch?v=gboGyccRVXI</a:t>
            </a:r>
          </a:p>
        </p:txBody>
      </p:sp>
      <p:sp>
        <p:nvSpPr>
          <p:cNvPr id="22" name="TextBox 21"/>
          <p:cNvSpPr txBox="1"/>
          <p:nvPr/>
        </p:nvSpPr>
        <p:spPr>
          <a:xfrm>
            <a:off x="6400800" y="4572000"/>
            <a:ext cx="5029200" cy="365760"/>
          </a:xfrm>
          <a:prstGeom prst="rect">
            <a:avLst/>
          </a:prstGeom>
          <a:noFill/>
        </p:spPr>
        <p:txBody>
          <a:bodyPr wrap="square" anchor="t"/>
          <a:lstStyle/>
          <a:p>
            <a:pPr algn="l">
              <a:defRPr sz="1100" b="1">
                <a:solidFill>
                  <a:srgbClr val="F0F0F5"/>
                </a:solidFill>
                <a:latin typeface="Arial"/>
              </a:defRPr>
            </a:pPr>
            <a:r>
              <a:t>10. fcn06/swarm: SDK to build Agents in rust. ...</a:t>
            </a:r>
          </a:p>
        </p:txBody>
      </p:sp>
      <p:sp>
        <p:nvSpPr>
          <p:cNvPr id="23" name="TextBox 22"/>
          <p:cNvSpPr txBox="1"/>
          <p:nvPr/>
        </p:nvSpPr>
        <p:spPr>
          <a:xfrm>
            <a:off x="6400800" y="4892040"/>
            <a:ext cx="5029200" cy="274320"/>
          </a:xfrm>
          <a:prstGeom prst="rect">
            <a:avLst/>
          </a:prstGeom>
          <a:noFill/>
        </p:spPr>
        <p:txBody>
          <a:bodyPr wrap="square" anchor="t"/>
          <a:lstStyle/>
          <a:p>
            <a:pPr algn="l">
              <a:defRPr sz="900" b="0">
                <a:solidFill>
                  <a:srgbClr val="9A9AA8"/>
                </a:solidFill>
                <a:latin typeface="Arial"/>
              </a:defRPr>
            </a:pPr>
            <a:r>
              <a:t>https://github.com/fcn06/swarm</a:t>
            </a:r>
          </a:p>
        </p:txBody>
      </p:sp>
      <p:sp>
        <p:nvSpPr>
          <p:cNvPr id="24" name="TextBox 23"/>
          <p:cNvSpPr txBox="1"/>
          <p:nvPr/>
        </p:nvSpPr>
        <p:spPr>
          <a:xfrm>
            <a:off x="731520" y="5943600"/>
            <a:ext cx="10698480" cy="457200"/>
          </a:xfrm>
          <a:prstGeom prst="rect">
            <a:avLst/>
          </a:prstGeom>
          <a:noFill/>
        </p:spPr>
        <p:txBody>
          <a:bodyPr wrap="square" anchor="t"/>
          <a:lstStyle/>
          <a:p>
            <a:pPr algn="ctr">
              <a:defRPr sz="1200" b="0">
                <a:solidFill>
                  <a:srgbClr val="609BFF"/>
                </a:solidFill>
                <a:latin typeface="Arial"/>
              </a:defRPr>
            </a:pPr>
            <a:r>
              <a:t>Full article with all citations available on the blog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Rectangle 1"/>
          <p:cNvSpPr/>
          <p:nvPr/>
        </p:nvSpPr>
        <p:spPr>
          <a:xfrm>
            <a:off x="1097280" y="182880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9966960" cy="1828800"/>
          </a:xfrm>
          <a:prstGeom prst="rect">
            <a:avLst/>
          </a:prstGeom>
          <a:noFill/>
        </p:spPr>
        <p:txBody>
          <a:bodyPr wrap="square" anchor="t"/>
          <a:lstStyle/>
          <a:p>
            <a:pPr algn="l">
              <a:defRPr sz="3000" b="1">
                <a:solidFill>
                  <a:srgbClr val="F0F0F5"/>
                </a:solidFill>
                <a:latin typeface="Arial"/>
              </a:defRPr>
            </a:pPr>
            <a:r>
              <a:t>Ebbforge demonstrates that by leveraging Rust's compile-time safety and lock-free data structures, distributed systems can achieve linear scalability to 10 million agents with microsecond-level latency.</a:t>
            </a:r>
          </a:p>
        </p:txBody>
      </p:sp>
      <p:sp>
        <p:nvSpPr>
          <p:cNvPr id="4" name="TextBox 3"/>
          <p:cNvSpPr txBox="1"/>
          <p:nvPr/>
        </p:nvSpPr>
        <p:spPr>
          <a:xfrm>
            <a:off x="1097280" y="4114800"/>
            <a:ext cx="9966960" cy="914400"/>
          </a:xfrm>
          <a:prstGeom prst="rect">
            <a:avLst/>
          </a:prstGeom>
          <a:noFill/>
        </p:spPr>
        <p:txBody>
          <a:bodyPr wrap="square" anchor="t"/>
          <a:lstStyle/>
          <a:p>
            <a:pPr algn="l">
              <a:defRPr sz="2000" b="0">
                <a:solidFill>
                  <a:srgbClr val="9A9AA8"/>
                </a:solidFill>
                <a:latin typeface="Arial"/>
              </a:defRPr>
            </a:pPr>
            <a:r>
              <a:t>Scaling Beyond the Horizon</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609BFF"/>
                </a:solidFill>
                <a:latin typeface="Arial"/>
              </a:defRPr>
            </a:pPr>
            <a:r>
              <a:t>Like &amp; Subscribe  |  Prolific Blog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