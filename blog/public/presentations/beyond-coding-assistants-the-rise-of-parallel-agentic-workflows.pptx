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Today we are moving past the era of simple AI autocompletion and entering the world of parallel agentic workflows. Imagine a software development environment where you aren't just typing code, but conducting an entire orchestra of specialized AI agents. In this session, we’ll explore how this shift is fundamentally restructuring the software development lifecycle as we know it in 2026.</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understand where we are going, we first have to look at where we started. We are transitioning from a sequential model—where AI followed our cursor—to an orchestration model where AI works ahead of us. This chapter covers the architectural shift from linear suggestions to parallel task execution.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Building on that transition, the first generation of assistants were essentially 'fancy typewriters' limited by context windows and serial position effects. Now, agentic workflows allow for simultaneous workstreams where one agent writes the API while another generates unit tests. This isn't just a minor speed boost; we are seeing efficiency improvements exceeding 40% simply by moving from serial to parallel processing.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 you can see in this visualization, the role of the developer is shifting from a solo performer to a conductor. You are no longer responsible for every note, but for the harmony of the entire system. This requires a massive shift in cognitive focus, moving away from syntax and toward high-level orchestration and conflict resolution.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that we've established the 'Conductor' model, we have to address the technical hurdles. Parallelism brings complexity, specifically in how we manage the state of a codebase when multiple agents are touching it at once. Let's dive into the infrastructure required to keep these agents from breaking the system.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It's important to remember that while agents are fast, they aren't infallible. Research shows a 'reasoning collapse' when tasks become too multi-layered, specifically after three or four intermediate steps. This is why the human conductor remains vital—we provide the long-range reasoning that current LLMs still struggle to maintain.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manage these agents, we're seeing the rise of sophisticated frameworks like KEDE and centralized context stores. These tools prevent 'context fragmentation,' where agents develop divergent models of the codebase. By using arbiter agents and event sourcing, we can resolve semantic conflicts that traditional Git merges would completely miss.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Just as we moved to Infrastructure-as-Code, we are now moving to Orchestration-as-Code. Leading teams now define their agent fleets in YAML files, allowing for audited and reproducible workflows. This declarative approach doesn't just improve reliability; it has led to nearly 60% reductions in compute costs by dynamically scaling agents based on the actual workload.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our final section, we'll look at the long-term implications. How do we measure success in this new era, and what does it mean for your career? The metrics we used for decades are becoming obsolete overnight.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have to stop measuring 'lines of code' and start measuring 'Cost to Serve Software.' AWS has already shown that focusing on deployments and pull request completions can reduce pipeline costs by nearly 16%. While routine tasks are seeing massive speedups, the real value is in the 3-to-5-times throughput increase seen by teams who master the conductor model.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we've discussed today is backed by recent 2026 research, from cognitive load frameworks in Springer to AWS's enterprise-scale productivity studies. I encourage you to dive into the KEDE framework and the arXiv benchmarks to see the raw data behind these agentic shifts.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wrap up: the rise of parallel agentic workflows is the most significant change to software engineering since the cloud. Your value as a developer is moving from 'how well you write' to 'how well you orchestrate.' Start experimenting with multi-agent frameworks today, and make sure to subscribe to the channel for more deep dives into the future of AI-first development. Thanks for watching!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0F14"/>
        </a:solidFill>
        <a:effectLst/>
      </p:bgPr>
    </p:bg>
    <p:spTree>
      <p:nvGrpSpPr>
        <p:cNvPr id="1" name=""/>
        <p:cNvGrpSpPr/>
        <p:nvPr/>
      </p:nvGrpSpPr>
      <p:grpSpPr/>
      <p:sp>
        <p:nvSpPr>
          <p:cNvPr id="2" name="Rectangle 1"/>
          <p:cNvSpPr/>
          <p:nvPr/>
        </p:nvSpPr>
        <p:spPr>
          <a:xfrm>
            <a:off x="1097280" y="164592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920240"/>
            <a:ext cx="9966960" cy="1828800"/>
          </a:xfrm>
          <a:prstGeom prst="rect">
            <a:avLst/>
          </a:prstGeom>
          <a:noFill/>
        </p:spPr>
        <p:txBody>
          <a:bodyPr wrap="square" anchor="t"/>
          <a:lstStyle/>
          <a:p>
            <a:pPr algn="l">
              <a:defRPr sz="4000" b="1">
                <a:solidFill>
                  <a:srgbClr val="F0F0F5"/>
                </a:solidFill>
                <a:latin typeface="Arial"/>
              </a:defRPr>
            </a:pPr>
            <a:r>
              <a:t>Beyond Coding Assistants</a:t>
            </a:r>
          </a:p>
        </p:txBody>
      </p:sp>
      <p:sp>
        <p:nvSpPr>
          <p:cNvPr id="4" name="TextBox 3"/>
          <p:cNvSpPr txBox="1"/>
          <p:nvPr/>
        </p:nvSpPr>
        <p:spPr>
          <a:xfrm>
            <a:off x="1097280" y="3840480"/>
            <a:ext cx="9966960" cy="914400"/>
          </a:xfrm>
          <a:prstGeom prst="rect">
            <a:avLst/>
          </a:prstGeom>
          <a:noFill/>
        </p:spPr>
        <p:txBody>
          <a:bodyPr wrap="square" anchor="t"/>
          <a:lstStyle/>
          <a:p>
            <a:pPr algn="l">
              <a:defRPr sz="2000" b="0">
                <a:solidFill>
                  <a:srgbClr val="9A9AA8"/>
                </a:solidFill>
                <a:latin typeface="Arial"/>
              </a:defRPr>
            </a:pPr>
            <a:r>
              <a:t>The Rise of Parallel Agentic Workflows</a:t>
            </a:r>
          </a:p>
        </p:txBody>
      </p:sp>
      <p:sp>
        <p:nvSpPr>
          <p:cNvPr id="5" name="TextBox 4"/>
          <p:cNvSpPr txBox="1"/>
          <p:nvPr/>
        </p:nvSpPr>
        <p:spPr>
          <a:xfrm>
            <a:off x="1097280" y="5669280"/>
            <a:ext cx="9966960" cy="457200"/>
          </a:xfrm>
          <a:prstGeom prst="rect">
            <a:avLst/>
          </a:prstGeom>
          <a:noFill/>
        </p:spPr>
        <p:txBody>
          <a:bodyPr wrap="square" anchor="t"/>
          <a:lstStyle/>
          <a:p>
            <a:pPr algn="l">
              <a:defRPr sz="1400" b="0">
                <a:solidFill>
                  <a:srgbClr val="9A9AA8"/>
                </a:solidFill>
                <a:latin typeface="Arial"/>
              </a:defRPr>
            </a:pPr>
            <a:r>
              <a:t>March 09, 2026  |  Prolific Blog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4141E"/>
        </a:solidFill>
        <a:effectLst/>
      </p:bgPr>
    </p:bg>
    <p:spTree>
      <p:nvGrpSpPr>
        <p:cNvPr id="1" name=""/>
        <p:cNvGrpSpPr/>
        <p:nvPr/>
      </p:nvGrpSpPr>
      <p:grpSpPr/>
      <p:sp>
        <p:nvSpPr>
          <p:cNvPr id="2" name="TextBox 1"/>
          <p:cNvSpPr txBox="1"/>
          <p:nvPr/>
        </p:nvSpPr>
        <p:spPr>
          <a:xfrm>
            <a:off x="731520" y="1371600"/>
            <a:ext cx="1828800" cy="1097280"/>
          </a:xfrm>
          <a:prstGeom prst="rect">
            <a:avLst/>
          </a:prstGeom>
          <a:noFill/>
        </p:spPr>
        <p:txBody>
          <a:bodyPr wrap="square" anchor="t"/>
          <a:lstStyle/>
          <a:p>
            <a:pPr algn="l">
              <a:defRPr sz="4800" b="1">
                <a:solidFill>
                  <a:srgbClr val="609BFF"/>
                </a:solidFill>
                <a:latin typeface="Arial"/>
              </a:defRPr>
            </a:pPr>
            <a:r>
              <a:t>01</a:t>
            </a:r>
          </a:p>
        </p:txBody>
      </p:sp>
      <p:sp>
        <p:nvSpPr>
          <p:cNvPr id="3" name="TextBox 2"/>
          <p:cNvSpPr txBox="1"/>
          <p:nvPr/>
        </p:nvSpPr>
        <p:spPr>
          <a:xfrm>
            <a:off x="731520" y="2560320"/>
            <a:ext cx="10698480" cy="1371600"/>
          </a:xfrm>
          <a:prstGeom prst="rect">
            <a:avLst/>
          </a:prstGeom>
          <a:noFill/>
        </p:spPr>
        <p:txBody>
          <a:bodyPr wrap="square" anchor="t"/>
          <a:lstStyle/>
          <a:p>
            <a:pPr algn="l">
              <a:defRPr sz="3600" b="1">
                <a:solidFill>
                  <a:srgbClr val="F0F0F5"/>
                </a:solidFill>
                <a:latin typeface="Arial"/>
              </a:defRPr>
            </a:pPr>
            <a:r>
              <a:t>The Evolution of AI Coding</a:t>
            </a:r>
          </a:p>
        </p:txBody>
      </p:sp>
      <p:sp>
        <p:nvSpPr>
          <p:cNvPr id="4" name="TextBox 3"/>
          <p:cNvSpPr txBox="1"/>
          <p:nvPr/>
        </p:nvSpPr>
        <p:spPr>
          <a:xfrm>
            <a:off x="731520" y="4023360"/>
            <a:ext cx="10698480" cy="914400"/>
          </a:xfrm>
          <a:prstGeom prst="rect">
            <a:avLst/>
          </a:prstGeom>
          <a:noFill/>
        </p:spPr>
        <p:txBody>
          <a:bodyPr wrap="square" anchor="t"/>
          <a:lstStyle/>
          <a:p>
            <a:pPr algn="l">
              <a:defRPr sz="1800" b="0">
                <a:solidFill>
                  <a:srgbClr val="9A9AA8"/>
                </a:solidFill>
                <a:latin typeface="Arial"/>
              </a:defRPr>
            </a:pPr>
            <a:r>
              <a:t>From Autocomplete to Orchestration</a:t>
            </a:r>
          </a:p>
        </p:txBody>
      </p:sp>
      <p:sp>
        <p:nvSpPr>
          <p:cNvPr id="5" name="Rectangle 4"/>
          <p:cNvSpPr/>
          <p:nvPr/>
        </p:nvSpPr>
        <p:spPr>
          <a:xfrm>
            <a:off x="731520" y="237744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0F14"/>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nchor="t"/>
          <a:lstStyle/>
          <a:p>
            <a:pPr algn="l">
              <a:defRPr sz="2800" b="1">
                <a:solidFill>
                  <a:srgbClr val="F0F0F5"/>
                </a:solidFill>
                <a:latin typeface="Arial"/>
              </a:defRPr>
            </a:pPr>
            <a:r>
              <a:t>The Death of Sequential Coding</a:t>
            </a:r>
          </a:p>
        </p:txBody>
      </p:sp>
      <p:sp>
        <p:nvSpPr>
          <p:cNvPr id="3" name="Rectangle 2"/>
          <p:cNvSpPr/>
          <p:nvPr/>
        </p:nvSpPr>
        <p:spPr>
          <a:xfrm>
            <a:off x="731520" y="118872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365760" cy="457200"/>
          </a:xfrm>
          <a:prstGeom prst="rect">
            <a:avLst/>
          </a:prstGeom>
          <a:noFill/>
        </p:spPr>
        <p:txBody>
          <a:bodyPr wrap="square" anchor="t"/>
          <a:lstStyle/>
          <a:p>
            <a:pPr algn="l">
              <a:defRPr sz="1800" b="1">
                <a:solidFill>
                  <a:srgbClr val="609BFF"/>
                </a:solidFill>
                <a:latin typeface="Arial"/>
              </a:defRPr>
            </a:pPr>
            <a:r>
              <a:t>•</a:t>
            </a:r>
          </a:p>
        </p:txBody>
      </p:sp>
      <p:sp>
        <p:nvSpPr>
          <p:cNvPr id="5" name="TextBox 4"/>
          <p:cNvSpPr txBox="1"/>
          <p:nvPr/>
        </p:nvSpPr>
        <p:spPr>
          <a:xfrm>
            <a:off x="1280160" y="1463040"/>
            <a:ext cx="9601200" cy="457200"/>
          </a:xfrm>
          <a:prstGeom prst="rect">
            <a:avLst/>
          </a:prstGeom>
          <a:noFill/>
        </p:spPr>
        <p:txBody>
          <a:bodyPr wrap="square" anchor="t"/>
          <a:lstStyle/>
          <a:p>
            <a:pPr algn="l">
              <a:defRPr sz="1800" b="0">
                <a:solidFill>
                  <a:srgbClr val="F0F0F5"/>
                </a:solidFill>
                <a:latin typeface="Arial"/>
              </a:defRPr>
            </a:pPr>
            <a:r>
              <a:t>From line-by-line prediction to holistic project awareness</a:t>
            </a:r>
          </a:p>
        </p:txBody>
      </p:sp>
      <p:sp>
        <p:nvSpPr>
          <p:cNvPr id="6" name="TextBox 5"/>
          <p:cNvSpPr txBox="1"/>
          <p:nvPr/>
        </p:nvSpPr>
        <p:spPr>
          <a:xfrm>
            <a:off x="731520" y="2148840"/>
            <a:ext cx="365760" cy="457200"/>
          </a:xfrm>
          <a:prstGeom prst="rect">
            <a:avLst/>
          </a:prstGeom>
          <a:noFill/>
        </p:spPr>
        <p:txBody>
          <a:bodyPr wrap="square" anchor="t"/>
          <a:lstStyle/>
          <a:p>
            <a:pPr algn="l">
              <a:defRPr sz="1800" b="1">
                <a:solidFill>
                  <a:srgbClr val="7C6AFF"/>
                </a:solidFill>
                <a:latin typeface="Arial"/>
              </a:defRPr>
            </a:pPr>
            <a:r>
              <a:t>•</a:t>
            </a:r>
          </a:p>
        </p:txBody>
      </p:sp>
      <p:sp>
        <p:nvSpPr>
          <p:cNvPr id="7" name="TextBox 6"/>
          <p:cNvSpPr txBox="1"/>
          <p:nvPr/>
        </p:nvSpPr>
        <p:spPr>
          <a:xfrm>
            <a:off x="1280160" y="2148840"/>
            <a:ext cx="9601200" cy="457200"/>
          </a:xfrm>
          <a:prstGeom prst="rect">
            <a:avLst/>
          </a:prstGeom>
          <a:noFill/>
        </p:spPr>
        <p:txBody>
          <a:bodyPr wrap="square" anchor="t"/>
          <a:lstStyle/>
          <a:p>
            <a:pPr algn="l">
              <a:defRPr sz="1800" b="0">
                <a:solidFill>
                  <a:srgbClr val="F0F0F5"/>
                </a:solidFill>
                <a:latin typeface="Arial"/>
              </a:defRPr>
            </a:pPr>
            <a:r>
              <a:t>Overcoming Transformer-based serial position effects</a:t>
            </a:r>
          </a:p>
        </p:txBody>
      </p:sp>
      <p:sp>
        <p:nvSpPr>
          <p:cNvPr id="8" name="TextBox 7"/>
          <p:cNvSpPr txBox="1"/>
          <p:nvPr/>
        </p:nvSpPr>
        <p:spPr>
          <a:xfrm>
            <a:off x="731520" y="2834640"/>
            <a:ext cx="365760" cy="457200"/>
          </a:xfrm>
          <a:prstGeom prst="rect">
            <a:avLst/>
          </a:prstGeom>
          <a:noFill/>
        </p:spPr>
        <p:txBody>
          <a:bodyPr wrap="square" anchor="t"/>
          <a:lstStyle/>
          <a:p>
            <a:pPr algn="l">
              <a:defRPr sz="1800" b="1">
                <a:solidFill>
                  <a:srgbClr val="609BFF"/>
                </a:solidFill>
                <a:latin typeface="Arial"/>
              </a:defRPr>
            </a:pPr>
            <a:r>
              <a:t>•</a:t>
            </a:r>
          </a:p>
        </p:txBody>
      </p:sp>
      <p:sp>
        <p:nvSpPr>
          <p:cNvPr id="9" name="TextBox 8"/>
          <p:cNvSpPr txBox="1"/>
          <p:nvPr/>
        </p:nvSpPr>
        <p:spPr>
          <a:xfrm>
            <a:off x="1280160" y="2834640"/>
            <a:ext cx="9601200" cy="457200"/>
          </a:xfrm>
          <a:prstGeom prst="rect">
            <a:avLst/>
          </a:prstGeom>
          <a:noFill/>
        </p:spPr>
        <p:txBody>
          <a:bodyPr wrap="square" anchor="t"/>
          <a:lstStyle/>
          <a:p>
            <a:pPr algn="l">
              <a:defRPr sz="1800" b="0">
                <a:solidFill>
                  <a:srgbClr val="F0F0F5"/>
                </a:solidFill>
                <a:latin typeface="Arial"/>
              </a:defRPr>
            </a:pPr>
            <a:r>
              <a:t>Parallel execution of API, testing, and documentation</a:t>
            </a:r>
          </a:p>
        </p:txBody>
      </p:sp>
      <p:sp>
        <p:nvSpPr>
          <p:cNvPr id="10" name="TextBox 9"/>
          <p:cNvSpPr txBox="1"/>
          <p:nvPr/>
        </p:nvSpPr>
        <p:spPr>
          <a:xfrm>
            <a:off x="731520" y="3520440"/>
            <a:ext cx="365760" cy="457200"/>
          </a:xfrm>
          <a:prstGeom prst="rect">
            <a:avLst/>
          </a:prstGeom>
          <a:noFill/>
        </p:spPr>
        <p:txBody>
          <a:bodyPr wrap="square" anchor="t"/>
          <a:lstStyle/>
          <a:p>
            <a:pPr algn="l">
              <a:defRPr sz="1800" b="1">
                <a:solidFill>
                  <a:srgbClr val="7C6AFF"/>
                </a:solidFill>
                <a:latin typeface="Arial"/>
              </a:defRPr>
            </a:pPr>
            <a:r>
              <a:t>•</a:t>
            </a:r>
          </a:p>
        </p:txBody>
      </p:sp>
      <p:sp>
        <p:nvSpPr>
          <p:cNvPr id="11" name="TextBox 10"/>
          <p:cNvSpPr txBox="1"/>
          <p:nvPr/>
        </p:nvSpPr>
        <p:spPr>
          <a:xfrm>
            <a:off x="1280160" y="3520440"/>
            <a:ext cx="9601200" cy="457200"/>
          </a:xfrm>
          <a:prstGeom prst="rect">
            <a:avLst/>
          </a:prstGeom>
          <a:noFill/>
        </p:spPr>
        <p:txBody>
          <a:bodyPr wrap="square" anchor="t"/>
          <a:lstStyle/>
          <a:p>
            <a:pPr algn="l">
              <a:defRPr sz="1800" b="0">
                <a:solidFill>
                  <a:srgbClr val="F0F0F5"/>
                </a:solidFill>
                <a:latin typeface="Arial"/>
              </a:defRPr>
            </a:pPr>
            <a:r>
              <a:t>Achieving 40% efficiency gains through concurrency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0F14"/>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nchor="t"/>
          <a:lstStyle/>
          <a:p>
            <a:pPr algn="l">
              <a:defRPr sz="2800" b="1">
                <a:solidFill>
                  <a:srgbClr val="F0F0F5"/>
                </a:solidFill>
                <a:latin typeface="Arial"/>
              </a:defRPr>
            </a:pPr>
            <a:r>
              <a:t>The Developer as Conductor</a:t>
            </a:r>
          </a:p>
        </p:txBody>
      </p:sp>
      <p:sp>
        <p:nvSpPr>
          <p:cNvPr id="3" name="Rectangle 2"/>
          <p:cNvSpPr/>
          <p:nvPr/>
        </p:nvSpPr>
        <p:spPr>
          <a:xfrm>
            <a:off x="731520" y="118872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pbwra7ki9.jpg"/>
          <p:cNvPicPr>
            <a:picLocks noChangeAspect="1"/>
          </p:cNvPicPr>
          <p:nvPr/>
        </p:nvPicPr>
        <p:blipFill>
          <a:blip r:embed="rId2"/>
          <a:stretch>
            <a:fillRect/>
          </a:stretch>
        </p:blipFill>
        <p:spPr>
          <a:xfrm>
            <a:off x="731520" y="1645920"/>
            <a:ext cx="5943600" cy="4114800"/>
          </a:xfrm>
          <a:prstGeom prst="rect">
            <a:avLst/>
          </a:prstGeom>
        </p:spPr>
      </p:pic>
      <p:sp>
        <p:nvSpPr>
          <p:cNvPr id="5" name="TextBox 4"/>
          <p:cNvSpPr txBox="1"/>
          <p:nvPr/>
        </p:nvSpPr>
        <p:spPr>
          <a:xfrm>
            <a:off x="731520" y="5943600"/>
            <a:ext cx="5943600" cy="457200"/>
          </a:xfrm>
          <a:prstGeom prst="rect">
            <a:avLst/>
          </a:prstGeom>
          <a:noFill/>
        </p:spPr>
        <p:txBody>
          <a:bodyPr wrap="square" anchor="t"/>
          <a:lstStyle/>
          <a:p>
            <a:pPr algn="ctr">
              <a:defRPr sz="1200" b="0">
                <a:solidFill>
                  <a:srgbClr val="9A9AA8"/>
                </a:solidFill>
                <a:latin typeface="Arial"/>
              </a:defRPr>
            </a:pPr>
            <a:r>
              <a:t>The developer as a conductor, orchestrating complex digital systems.</a:t>
            </a:r>
          </a:p>
        </p:txBody>
      </p:sp>
      <p:sp>
        <p:nvSpPr>
          <p:cNvPr id="6" name="TextBox 5"/>
          <p:cNvSpPr txBox="1"/>
          <p:nvPr/>
        </p:nvSpPr>
        <p:spPr>
          <a:xfrm>
            <a:off x="7132320" y="1645920"/>
            <a:ext cx="4297680" cy="548640"/>
          </a:xfrm>
          <a:prstGeom prst="rect">
            <a:avLst/>
          </a:prstGeom>
          <a:noFill/>
        </p:spPr>
        <p:txBody>
          <a:bodyPr wrap="square" anchor="t"/>
          <a:lstStyle/>
          <a:p>
            <a:pPr algn="l">
              <a:defRPr sz="1500" b="0">
                <a:solidFill>
                  <a:srgbClr val="F0F0F5"/>
                </a:solidFill>
                <a:latin typeface="Arial"/>
              </a:defRPr>
            </a:pPr>
            <a:r>
              <a:t>•  Setting high-level strategic objectives</a:t>
            </a:r>
          </a:p>
        </p:txBody>
      </p:sp>
      <p:sp>
        <p:nvSpPr>
          <p:cNvPr id="7" name="TextBox 6"/>
          <p:cNvSpPr txBox="1"/>
          <p:nvPr/>
        </p:nvSpPr>
        <p:spPr>
          <a:xfrm>
            <a:off x="7132320" y="2286000"/>
            <a:ext cx="4297680" cy="548640"/>
          </a:xfrm>
          <a:prstGeom prst="rect">
            <a:avLst/>
          </a:prstGeom>
          <a:noFill/>
        </p:spPr>
        <p:txBody>
          <a:bodyPr wrap="square" anchor="t"/>
          <a:lstStyle/>
          <a:p>
            <a:pPr algn="l">
              <a:defRPr sz="1500" b="0">
                <a:solidFill>
                  <a:srgbClr val="F0F0F5"/>
                </a:solidFill>
                <a:latin typeface="Arial"/>
              </a:defRPr>
            </a:pPr>
            <a:r>
              <a:t>•  Managing 5-10 parallel AI processes</a:t>
            </a:r>
          </a:p>
        </p:txBody>
      </p:sp>
      <p:sp>
        <p:nvSpPr>
          <p:cNvPr id="8" name="TextBox 7"/>
          <p:cNvSpPr txBox="1"/>
          <p:nvPr/>
        </p:nvSpPr>
        <p:spPr>
          <a:xfrm>
            <a:off x="7132320" y="2926080"/>
            <a:ext cx="4297680" cy="548640"/>
          </a:xfrm>
          <a:prstGeom prst="rect">
            <a:avLst/>
          </a:prstGeom>
          <a:noFill/>
        </p:spPr>
        <p:txBody>
          <a:bodyPr wrap="square" anchor="t"/>
          <a:lstStyle/>
          <a:p>
            <a:pPr algn="l">
              <a:defRPr sz="1500" b="0">
                <a:solidFill>
                  <a:srgbClr val="F0F0F5"/>
                </a:solidFill>
                <a:latin typeface="Arial"/>
              </a:defRPr>
            </a:pPr>
            <a:r>
              <a:t>•  Resolving semantic conflicts between agents</a:t>
            </a:r>
          </a:p>
        </p:txBody>
      </p:sp>
      <p:sp>
        <p:nvSpPr>
          <p:cNvPr id="9" name="TextBox 8"/>
          <p:cNvSpPr txBox="1"/>
          <p:nvPr/>
        </p:nvSpPr>
        <p:spPr>
          <a:xfrm>
            <a:off x="7132320" y="3566160"/>
            <a:ext cx="4297680" cy="548640"/>
          </a:xfrm>
          <a:prstGeom prst="rect">
            <a:avLst/>
          </a:prstGeom>
          <a:noFill/>
        </p:spPr>
        <p:txBody>
          <a:bodyPr wrap="square" anchor="t"/>
          <a:lstStyle/>
          <a:p>
            <a:pPr algn="l">
              <a:defRPr sz="1500" b="0">
                <a:solidFill>
                  <a:srgbClr val="F0F0F5"/>
                </a:solidFill>
                <a:latin typeface="Arial"/>
              </a:defRPr>
            </a:pPr>
            <a:r>
              <a:t>•  Focusing on architecture over syntax</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4141E"/>
        </a:solidFill>
        <a:effectLst/>
      </p:bgPr>
    </p:bg>
    <p:spTree>
      <p:nvGrpSpPr>
        <p:cNvPr id="1" name=""/>
        <p:cNvGrpSpPr/>
        <p:nvPr/>
      </p:nvGrpSpPr>
      <p:grpSpPr/>
      <p:sp>
        <p:nvSpPr>
          <p:cNvPr id="2" name="TextBox 1"/>
          <p:cNvSpPr txBox="1"/>
          <p:nvPr/>
        </p:nvSpPr>
        <p:spPr>
          <a:xfrm>
            <a:off x="731520" y="1371600"/>
            <a:ext cx="1828800" cy="1097280"/>
          </a:xfrm>
          <a:prstGeom prst="rect">
            <a:avLst/>
          </a:prstGeom>
          <a:noFill/>
        </p:spPr>
        <p:txBody>
          <a:bodyPr wrap="square" anchor="t"/>
          <a:lstStyle/>
          <a:p>
            <a:pPr algn="l">
              <a:defRPr sz="4800" b="1">
                <a:solidFill>
                  <a:srgbClr val="609BFF"/>
                </a:solidFill>
                <a:latin typeface="Arial"/>
              </a:defRPr>
            </a:pPr>
            <a:r>
              <a:t>02</a:t>
            </a:r>
          </a:p>
        </p:txBody>
      </p:sp>
      <p:sp>
        <p:nvSpPr>
          <p:cNvPr id="3" name="TextBox 2"/>
          <p:cNvSpPr txBox="1"/>
          <p:nvPr/>
        </p:nvSpPr>
        <p:spPr>
          <a:xfrm>
            <a:off x="731520" y="2560320"/>
            <a:ext cx="10698480" cy="1371600"/>
          </a:xfrm>
          <a:prstGeom prst="rect">
            <a:avLst/>
          </a:prstGeom>
          <a:noFill/>
        </p:spPr>
        <p:txBody>
          <a:bodyPr wrap="square" anchor="t"/>
          <a:lstStyle/>
          <a:p>
            <a:pPr algn="l">
              <a:defRPr sz="3600" b="1">
                <a:solidFill>
                  <a:srgbClr val="F0F0F5"/>
                </a:solidFill>
                <a:latin typeface="Arial"/>
              </a:defRPr>
            </a:pPr>
            <a:r>
              <a:t>Managing Complexity</a:t>
            </a:r>
          </a:p>
        </p:txBody>
      </p:sp>
      <p:sp>
        <p:nvSpPr>
          <p:cNvPr id="4" name="TextBox 3"/>
          <p:cNvSpPr txBox="1"/>
          <p:nvPr/>
        </p:nvSpPr>
        <p:spPr>
          <a:xfrm>
            <a:off x="731520" y="4023360"/>
            <a:ext cx="10698480" cy="914400"/>
          </a:xfrm>
          <a:prstGeom prst="rect">
            <a:avLst/>
          </a:prstGeom>
          <a:noFill/>
        </p:spPr>
        <p:txBody>
          <a:bodyPr wrap="square" anchor="t"/>
          <a:lstStyle/>
          <a:p>
            <a:pPr algn="l">
              <a:defRPr sz="1800" b="0">
                <a:solidFill>
                  <a:srgbClr val="9A9AA8"/>
                </a:solidFill>
                <a:latin typeface="Arial"/>
              </a:defRPr>
            </a:pPr>
            <a:r>
              <a:t>State, Conflict, and Resolution</a:t>
            </a:r>
          </a:p>
        </p:txBody>
      </p:sp>
      <p:sp>
        <p:nvSpPr>
          <p:cNvPr id="5" name="Rectangle 4"/>
          <p:cNvSpPr/>
          <p:nvPr/>
        </p:nvSpPr>
        <p:spPr>
          <a:xfrm>
            <a:off x="731520" y="237744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0F14"/>
        </a:solidFill>
        <a:effectLst/>
      </p:bgPr>
    </p:bg>
    <p:spTree>
      <p:nvGrpSpPr>
        <p:cNvPr id="1" name=""/>
        <p:cNvGrpSpPr/>
        <p:nvPr/>
      </p:nvGrpSpPr>
      <p:grpSpPr/>
      <p:sp>
        <p:nvSpPr>
          <p:cNvPr id="2" name="Rectangle 1"/>
          <p:cNvSpPr/>
          <p:nvPr/>
        </p:nvSpPr>
        <p:spPr>
          <a:xfrm>
            <a:off x="1371600" y="1371600"/>
            <a:ext cx="9418320" cy="41148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0" y="1188720"/>
            <a:ext cx="914400" cy="914400"/>
          </a:xfrm>
          <a:prstGeom prst="rect">
            <a:avLst/>
          </a:prstGeom>
          <a:noFill/>
        </p:spPr>
        <p:txBody>
          <a:bodyPr wrap="square" anchor="t"/>
          <a:lstStyle/>
          <a:p>
            <a:pPr algn="l">
              <a:defRPr sz="7200" b="1">
                <a:solidFill>
                  <a:srgbClr val="609BFF"/>
                </a:solidFill>
                <a:latin typeface="Arial"/>
              </a:defRPr>
            </a:pPr>
            <a:r>
              <a:t>“</a:t>
            </a:r>
          </a:p>
        </p:txBody>
      </p:sp>
      <p:sp>
        <p:nvSpPr>
          <p:cNvPr id="4" name="TextBox 3"/>
          <p:cNvSpPr txBox="1"/>
          <p:nvPr/>
        </p:nvSpPr>
        <p:spPr>
          <a:xfrm>
            <a:off x="1828800" y="2103120"/>
            <a:ext cx="8503920" cy="2286000"/>
          </a:xfrm>
          <a:prstGeom prst="rect">
            <a:avLst/>
          </a:prstGeom>
          <a:noFill/>
        </p:spPr>
        <p:txBody>
          <a:bodyPr wrap="square" anchor="t"/>
          <a:lstStyle/>
          <a:p>
            <a:pPr algn="l">
              <a:defRPr sz="2400" b="0">
                <a:solidFill>
                  <a:srgbClr val="F0F0F5"/>
                </a:solidFill>
                <a:latin typeface="Arial"/>
              </a:defRPr>
            </a:pPr>
            <a:r>
              <a:t>Advanced AI models show a sharp failure rate when puzzle problems exceed three to four intermediate steps.</a:t>
            </a:r>
          </a:p>
        </p:txBody>
      </p:sp>
      <p:sp>
        <p:nvSpPr>
          <p:cNvPr id="5" name="TextBox 4"/>
          <p:cNvSpPr txBox="1"/>
          <p:nvPr/>
        </p:nvSpPr>
        <p:spPr>
          <a:xfrm>
            <a:off x="1828800" y="4572000"/>
            <a:ext cx="8503920" cy="457200"/>
          </a:xfrm>
          <a:prstGeom prst="rect">
            <a:avLst/>
          </a:prstGeom>
          <a:noFill/>
        </p:spPr>
        <p:txBody>
          <a:bodyPr wrap="square" anchor="t"/>
          <a:lstStyle/>
          <a:p>
            <a:pPr algn="r">
              <a:defRPr sz="1400" b="0">
                <a:solidFill>
                  <a:srgbClr val="9A9AA8"/>
                </a:solidFill>
                <a:latin typeface="Arial"/>
              </a:defRPr>
            </a:pPr>
            <a:r>
              <a:t>— High-Confidence Research Claim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0F14"/>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nchor="t"/>
          <a:lstStyle/>
          <a:p>
            <a:pPr algn="l">
              <a:defRPr sz="2800" b="1">
                <a:solidFill>
                  <a:srgbClr val="F0F0F5"/>
                </a:solidFill>
                <a:latin typeface="Arial"/>
              </a:defRPr>
            </a:pPr>
            <a:r>
              <a:t>Solving the Conflict Crisis</a:t>
            </a:r>
          </a:p>
        </p:txBody>
      </p:sp>
      <p:sp>
        <p:nvSpPr>
          <p:cNvPr id="3" name="Rectangle 2"/>
          <p:cNvSpPr/>
          <p:nvPr/>
        </p:nvSpPr>
        <p:spPr>
          <a:xfrm>
            <a:off x="731520" y="118872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365760" cy="457200"/>
          </a:xfrm>
          <a:prstGeom prst="rect">
            <a:avLst/>
          </a:prstGeom>
          <a:noFill/>
        </p:spPr>
        <p:txBody>
          <a:bodyPr wrap="square" anchor="t"/>
          <a:lstStyle/>
          <a:p>
            <a:pPr algn="l">
              <a:defRPr sz="1800" b="1">
                <a:solidFill>
                  <a:srgbClr val="609BFF"/>
                </a:solidFill>
                <a:latin typeface="Arial"/>
              </a:defRPr>
            </a:pPr>
            <a:r>
              <a:t>•</a:t>
            </a:r>
          </a:p>
        </p:txBody>
      </p:sp>
      <p:sp>
        <p:nvSpPr>
          <p:cNvPr id="5" name="TextBox 4"/>
          <p:cNvSpPr txBox="1"/>
          <p:nvPr/>
        </p:nvSpPr>
        <p:spPr>
          <a:xfrm>
            <a:off x="1280160" y="1463040"/>
            <a:ext cx="9601200" cy="457200"/>
          </a:xfrm>
          <a:prstGeom prst="rect">
            <a:avLst/>
          </a:prstGeom>
          <a:noFill/>
        </p:spPr>
        <p:txBody>
          <a:bodyPr wrap="square" anchor="t"/>
          <a:lstStyle/>
          <a:p>
            <a:pPr algn="l">
              <a:defRPr sz="1800" b="0">
                <a:solidFill>
                  <a:srgbClr val="F0F0F5"/>
                </a:solidFill>
                <a:latin typeface="Arial"/>
              </a:defRPr>
            </a:pPr>
            <a:r>
              <a:t>Event sourcing for tracking agent decisions</a:t>
            </a:r>
          </a:p>
        </p:txBody>
      </p:sp>
      <p:sp>
        <p:nvSpPr>
          <p:cNvPr id="6" name="TextBox 5"/>
          <p:cNvSpPr txBox="1"/>
          <p:nvPr/>
        </p:nvSpPr>
        <p:spPr>
          <a:xfrm>
            <a:off x="731520" y="2148840"/>
            <a:ext cx="365760" cy="457200"/>
          </a:xfrm>
          <a:prstGeom prst="rect">
            <a:avLst/>
          </a:prstGeom>
          <a:noFill/>
        </p:spPr>
        <p:txBody>
          <a:bodyPr wrap="square" anchor="t"/>
          <a:lstStyle/>
          <a:p>
            <a:pPr algn="l">
              <a:defRPr sz="1800" b="1">
                <a:solidFill>
                  <a:srgbClr val="7C6AFF"/>
                </a:solidFill>
                <a:latin typeface="Arial"/>
              </a:defRPr>
            </a:pPr>
            <a:r>
              <a:t>•</a:t>
            </a:r>
          </a:p>
        </p:txBody>
      </p:sp>
      <p:sp>
        <p:nvSpPr>
          <p:cNvPr id="7" name="TextBox 6"/>
          <p:cNvSpPr txBox="1"/>
          <p:nvPr/>
        </p:nvSpPr>
        <p:spPr>
          <a:xfrm>
            <a:off x="1280160" y="2148840"/>
            <a:ext cx="9601200" cy="457200"/>
          </a:xfrm>
          <a:prstGeom prst="rect">
            <a:avLst/>
          </a:prstGeom>
          <a:noFill/>
        </p:spPr>
        <p:txBody>
          <a:bodyPr wrap="square" anchor="t"/>
          <a:lstStyle/>
          <a:p>
            <a:pPr algn="l">
              <a:defRPr sz="1800" b="0">
                <a:solidFill>
                  <a:srgbClr val="F0F0F5"/>
                </a:solidFill>
                <a:latin typeface="Arial"/>
              </a:defRPr>
            </a:pPr>
            <a:r>
              <a:t>Hybrid conflict resolution (AST comparison + Arbiter agents)</a:t>
            </a:r>
          </a:p>
        </p:txBody>
      </p:sp>
      <p:sp>
        <p:nvSpPr>
          <p:cNvPr id="8" name="TextBox 7"/>
          <p:cNvSpPr txBox="1"/>
          <p:nvPr/>
        </p:nvSpPr>
        <p:spPr>
          <a:xfrm>
            <a:off x="731520" y="2834640"/>
            <a:ext cx="365760" cy="457200"/>
          </a:xfrm>
          <a:prstGeom prst="rect">
            <a:avLst/>
          </a:prstGeom>
          <a:noFill/>
        </p:spPr>
        <p:txBody>
          <a:bodyPr wrap="square" anchor="t"/>
          <a:lstStyle/>
          <a:p>
            <a:pPr algn="l">
              <a:defRPr sz="1800" b="1">
                <a:solidFill>
                  <a:srgbClr val="609BFF"/>
                </a:solidFill>
                <a:latin typeface="Arial"/>
              </a:defRPr>
            </a:pPr>
            <a:r>
              <a:t>•</a:t>
            </a:r>
          </a:p>
        </p:txBody>
      </p:sp>
      <p:sp>
        <p:nvSpPr>
          <p:cNvPr id="9" name="TextBox 8"/>
          <p:cNvSpPr txBox="1"/>
          <p:nvPr/>
        </p:nvSpPr>
        <p:spPr>
          <a:xfrm>
            <a:off x="1280160" y="2834640"/>
            <a:ext cx="9601200" cy="457200"/>
          </a:xfrm>
          <a:prstGeom prst="rect">
            <a:avLst/>
          </a:prstGeom>
          <a:noFill/>
        </p:spPr>
        <p:txBody>
          <a:bodyPr wrap="square" anchor="t"/>
          <a:lstStyle/>
          <a:p>
            <a:pPr algn="l">
              <a:defRPr sz="1800" b="0">
                <a:solidFill>
                  <a:srgbClr val="F0F0F5"/>
                </a:solidFill>
                <a:latin typeface="Arial"/>
              </a:defRPr>
            </a:pPr>
            <a:r>
              <a:t>The KEDE Framework: Knowledge, Execution, Decision, Evaluation</a:t>
            </a:r>
          </a:p>
        </p:txBody>
      </p:sp>
      <p:sp>
        <p:nvSpPr>
          <p:cNvPr id="10" name="TextBox 9"/>
          <p:cNvSpPr txBox="1"/>
          <p:nvPr/>
        </p:nvSpPr>
        <p:spPr>
          <a:xfrm>
            <a:off x="731520" y="3520440"/>
            <a:ext cx="365760" cy="457200"/>
          </a:xfrm>
          <a:prstGeom prst="rect">
            <a:avLst/>
          </a:prstGeom>
          <a:noFill/>
        </p:spPr>
        <p:txBody>
          <a:bodyPr wrap="square" anchor="t"/>
          <a:lstStyle/>
          <a:p>
            <a:pPr algn="l">
              <a:defRPr sz="1800" b="1">
                <a:solidFill>
                  <a:srgbClr val="7C6AFF"/>
                </a:solidFill>
                <a:latin typeface="Arial"/>
              </a:defRPr>
            </a:pPr>
            <a:r>
              <a:t>•</a:t>
            </a:r>
          </a:p>
        </p:txBody>
      </p:sp>
      <p:sp>
        <p:nvSpPr>
          <p:cNvPr id="11" name="TextBox 10"/>
          <p:cNvSpPr txBox="1"/>
          <p:nvPr/>
        </p:nvSpPr>
        <p:spPr>
          <a:xfrm>
            <a:off x="1280160" y="3520440"/>
            <a:ext cx="9601200" cy="457200"/>
          </a:xfrm>
          <a:prstGeom prst="rect">
            <a:avLst/>
          </a:prstGeom>
          <a:noFill/>
        </p:spPr>
        <p:txBody>
          <a:bodyPr wrap="square" anchor="t"/>
          <a:lstStyle/>
          <a:p>
            <a:pPr algn="l">
              <a:defRPr sz="1800" b="0">
                <a:solidFill>
                  <a:srgbClr val="F0F0F5"/>
                </a:solidFill>
                <a:latin typeface="Arial"/>
              </a:defRPr>
            </a:pPr>
            <a:r>
              <a:t>Centralized context stores to prevent fragmentation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0F14"/>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nchor="t"/>
          <a:lstStyle/>
          <a:p>
            <a:pPr algn="l">
              <a:defRPr sz="2800" b="1">
                <a:solidFill>
                  <a:srgbClr val="F0F0F5"/>
                </a:solidFill>
                <a:latin typeface="Arial"/>
              </a:defRPr>
            </a:pPr>
            <a:r>
              <a:t>Infrastructure-as-Agent-Orchestration</a:t>
            </a:r>
          </a:p>
        </p:txBody>
      </p:sp>
      <p:sp>
        <p:nvSpPr>
          <p:cNvPr id="3" name="Rectangle 2"/>
          <p:cNvSpPr/>
          <p:nvPr/>
        </p:nvSpPr>
        <p:spPr>
          <a:xfrm>
            <a:off x="731520" y="118872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365760" cy="457200"/>
          </a:xfrm>
          <a:prstGeom prst="rect">
            <a:avLst/>
          </a:prstGeom>
          <a:noFill/>
        </p:spPr>
        <p:txBody>
          <a:bodyPr wrap="square" anchor="t"/>
          <a:lstStyle/>
          <a:p>
            <a:pPr algn="l">
              <a:defRPr sz="1800" b="1">
                <a:solidFill>
                  <a:srgbClr val="609BFF"/>
                </a:solidFill>
                <a:latin typeface="Arial"/>
              </a:defRPr>
            </a:pPr>
            <a:r>
              <a:t>•</a:t>
            </a:r>
          </a:p>
        </p:txBody>
      </p:sp>
      <p:sp>
        <p:nvSpPr>
          <p:cNvPr id="5" name="TextBox 4"/>
          <p:cNvSpPr txBox="1"/>
          <p:nvPr/>
        </p:nvSpPr>
        <p:spPr>
          <a:xfrm>
            <a:off x="1280160" y="1463040"/>
            <a:ext cx="9601200" cy="457200"/>
          </a:xfrm>
          <a:prstGeom prst="rect">
            <a:avLst/>
          </a:prstGeom>
          <a:noFill/>
        </p:spPr>
        <p:txBody>
          <a:bodyPr wrap="square" anchor="t"/>
          <a:lstStyle/>
          <a:p>
            <a:pPr algn="l">
              <a:defRPr sz="1800" b="0">
                <a:solidFill>
                  <a:srgbClr val="F0F0F5"/>
                </a:solidFill>
                <a:latin typeface="Arial"/>
              </a:defRPr>
            </a:pPr>
            <a:r>
              <a:t>Defining agent workflows in version-controlled YAML</a:t>
            </a:r>
          </a:p>
        </p:txBody>
      </p:sp>
      <p:sp>
        <p:nvSpPr>
          <p:cNvPr id="6" name="TextBox 5"/>
          <p:cNvSpPr txBox="1"/>
          <p:nvPr/>
        </p:nvSpPr>
        <p:spPr>
          <a:xfrm>
            <a:off x="731520" y="2148840"/>
            <a:ext cx="365760" cy="457200"/>
          </a:xfrm>
          <a:prstGeom prst="rect">
            <a:avLst/>
          </a:prstGeom>
          <a:noFill/>
        </p:spPr>
        <p:txBody>
          <a:bodyPr wrap="square" anchor="t"/>
          <a:lstStyle/>
          <a:p>
            <a:pPr algn="l">
              <a:defRPr sz="1800" b="1">
                <a:solidFill>
                  <a:srgbClr val="7C6AFF"/>
                </a:solidFill>
                <a:latin typeface="Arial"/>
              </a:defRPr>
            </a:pPr>
            <a:r>
              <a:t>•</a:t>
            </a:r>
          </a:p>
        </p:txBody>
      </p:sp>
      <p:sp>
        <p:nvSpPr>
          <p:cNvPr id="7" name="TextBox 6"/>
          <p:cNvSpPr txBox="1"/>
          <p:nvPr/>
        </p:nvSpPr>
        <p:spPr>
          <a:xfrm>
            <a:off x="1280160" y="2148840"/>
            <a:ext cx="9601200" cy="457200"/>
          </a:xfrm>
          <a:prstGeom prst="rect">
            <a:avLst/>
          </a:prstGeom>
          <a:noFill/>
        </p:spPr>
        <p:txBody>
          <a:bodyPr wrap="square" anchor="t"/>
          <a:lstStyle/>
          <a:p>
            <a:pPr algn="l">
              <a:defRPr sz="1800" b="0">
                <a:solidFill>
                  <a:srgbClr val="F0F0F5"/>
                </a:solidFill>
                <a:latin typeface="Arial"/>
              </a:defRPr>
            </a:pPr>
            <a:r>
              <a:t>Dynamic resource allocation based on task priority</a:t>
            </a:r>
          </a:p>
        </p:txBody>
      </p:sp>
      <p:sp>
        <p:nvSpPr>
          <p:cNvPr id="8" name="TextBox 7"/>
          <p:cNvSpPr txBox="1"/>
          <p:nvPr/>
        </p:nvSpPr>
        <p:spPr>
          <a:xfrm>
            <a:off x="731520" y="2834640"/>
            <a:ext cx="365760" cy="457200"/>
          </a:xfrm>
          <a:prstGeom prst="rect">
            <a:avLst/>
          </a:prstGeom>
          <a:noFill/>
        </p:spPr>
        <p:txBody>
          <a:bodyPr wrap="square" anchor="t"/>
          <a:lstStyle/>
          <a:p>
            <a:pPr algn="l">
              <a:defRPr sz="1800" b="1">
                <a:solidFill>
                  <a:srgbClr val="609BFF"/>
                </a:solidFill>
                <a:latin typeface="Arial"/>
              </a:defRPr>
            </a:pPr>
            <a:r>
              <a:t>•</a:t>
            </a:r>
          </a:p>
        </p:txBody>
      </p:sp>
      <p:sp>
        <p:nvSpPr>
          <p:cNvPr id="9" name="TextBox 8"/>
          <p:cNvSpPr txBox="1"/>
          <p:nvPr/>
        </p:nvSpPr>
        <p:spPr>
          <a:xfrm>
            <a:off x="1280160" y="2834640"/>
            <a:ext cx="9601200" cy="457200"/>
          </a:xfrm>
          <a:prstGeom prst="rect">
            <a:avLst/>
          </a:prstGeom>
          <a:noFill/>
        </p:spPr>
        <p:txBody>
          <a:bodyPr wrap="square" anchor="t"/>
          <a:lstStyle/>
          <a:p>
            <a:pPr algn="l">
              <a:defRPr sz="1800" b="0">
                <a:solidFill>
                  <a:srgbClr val="F0F0F5"/>
                </a:solidFill>
                <a:latin typeface="Arial"/>
              </a:defRPr>
            </a:pPr>
            <a:r>
              <a:t>40-60% reduction in cloud costs via right-sizing</a:t>
            </a:r>
          </a:p>
        </p:txBody>
      </p:sp>
      <p:sp>
        <p:nvSpPr>
          <p:cNvPr id="10" name="TextBox 9"/>
          <p:cNvSpPr txBox="1"/>
          <p:nvPr/>
        </p:nvSpPr>
        <p:spPr>
          <a:xfrm>
            <a:off x="731520" y="3520440"/>
            <a:ext cx="365760" cy="457200"/>
          </a:xfrm>
          <a:prstGeom prst="rect">
            <a:avLst/>
          </a:prstGeom>
          <a:noFill/>
        </p:spPr>
        <p:txBody>
          <a:bodyPr wrap="square" anchor="t"/>
          <a:lstStyle/>
          <a:p>
            <a:pPr algn="l">
              <a:defRPr sz="1800" b="1">
                <a:solidFill>
                  <a:srgbClr val="7C6AFF"/>
                </a:solidFill>
                <a:latin typeface="Arial"/>
              </a:defRPr>
            </a:pPr>
            <a:r>
              <a:t>•</a:t>
            </a:r>
          </a:p>
        </p:txBody>
      </p:sp>
      <p:sp>
        <p:nvSpPr>
          <p:cNvPr id="11" name="TextBox 10"/>
          <p:cNvSpPr txBox="1"/>
          <p:nvPr/>
        </p:nvSpPr>
        <p:spPr>
          <a:xfrm>
            <a:off x="1280160" y="3520440"/>
            <a:ext cx="9601200" cy="457200"/>
          </a:xfrm>
          <a:prstGeom prst="rect">
            <a:avLst/>
          </a:prstGeom>
          <a:noFill/>
        </p:spPr>
        <p:txBody>
          <a:bodyPr wrap="square" anchor="t"/>
          <a:lstStyle/>
          <a:p>
            <a:pPr algn="l">
              <a:defRPr sz="1800" b="0">
                <a:solidFill>
                  <a:srgbClr val="F0F0F5"/>
                </a:solidFill>
                <a:latin typeface="Arial"/>
              </a:defRPr>
            </a:pPr>
            <a:r>
              <a:t>Integrating agents into existing CI/CD pipelines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4141E"/>
        </a:solidFill>
        <a:effectLst/>
      </p:bgPr>
    </p:bg>
    <p:spTree>
      <p:nvGrpSpPr>
        <p:cNvPr id="1" name=""/>
        <p:cNvGrpSpPr/>
        <p:nvPr/>
      </p:nvGrpSpPr>
      <p:grpSpPr/>
      <p:sp>
        <p:nvSpPr>
          <p:cNvPr id="2" name="TextBox 1"/>
          <p:cNvSpPr txBox="1"/>
          <p:nvPr/>
        </p:nvSpPr>
        <p:spPr>
          <a:xfrm>
            <a:off x="731520" y="1371600"/>
            <a:ext cx="1828800" cy="1097280"/>
          </a:xfrm>
          <a:prstGeom prst="rect">
            <a:avLst/>
          </a:prstGeom>
          <a:noFill/>
        </p:spPr>
        <p:txBody>
          <a:bodyPr wrap="square" anchor="t"/>
          <a:lstStyle/>
          <a:p>
            <a:pPr algn="l">
              <a:defRPr sz="4800" b="1">
                <a:solidFill>
                  <a:srgbClr val="609BFF"/>
                </a:solidFill>
                <a:latin typeface="Arial"/>
              </a:defRPr>
            </a:pPr>
            <a:r>
              <a:t>03</a:t>
            </a:r>
          </a:p>
        </p:txBody>
      </p:sp>
      <p:sp>
        <p:nvSpPr>
          <p:cNvPr id="3" name="TextBox 2"/>
          <p:cNvSpPr txBox="1"/>
          <p:nvPr/>
        </p:nvSpPr>
        <p:spPr>
          <a:xfrm>
            <a:off x="731520" y="2560320"/>
            <a:ext cx="10698480" cy="1371600"/>
          </a:xfrm>
          <a:prstGeom prst="rect">
            <a:avLst/>
          </a:prstGeom>
          <a:noFill/>
        </p:spPr>
        <p:txBody>
          <a:bodyPr wrap="square" anchor="t"/>
          <a:lstStyle/>
          <a:p>
            <a:pPr algn="l">
              <a:defRPr sz="3600" b="1">
                <a:solidFill>
                  <a:srgbClr val="F0F0F5"/>
                </a:solidFill>
                <a:latin typeface="Arial"/>
              </a:defRPr>
            </a:pPr>
            <a:r>
              <a:t>The Future of Development</a:t>
            </a:r>
          </a:p>
        </p:txBody>
      </p:sp>
      <p:sp>
        <p:nvSpPr>
          <p:cNvPr id="4" name="TextBox 3"/>
          <p:cNvSpPr txBox="1"/>
          <p:nvPr/>
        </p:nvSpPr>
        <p:spPr>
          <a:xfrm>
            <a:off x="731520" y="4023360"/>
            <a:ext cx="10698480" cy="914400"/>
          </a:xfrm>
          <a:prstGeom prst="rect">
            <a:avLst/>
          </a:prstGeom>
          <a:noFill/>
        </p:spPr>
        <p:txBody>
          <a:bodyPr wrap="square" anchor="t"/>
          <a:lstStyle/>
          <a:p>
            <a:pPr algn="l">
              <a:defRPr sz="1800" b="0">
                <a:solidFill>
                  <a:srgbClr val="9A9AA8"/>
                </a:solidFill>
                <a:latin typeface="Arial"/>
              </a:defRPr>
            </a:pPr>
            <a:r>
              <a:t>Productivity and the Job Market</a:t>
            </a:r>
          </a:p>
        </p:txBody>
      </p:sp>
      <p:sp>
        <p:nvSpPr>
          <p:cNvPr id="5" name="Rectangle 4"/>
          <p:cNvSpPr/>
          <p:nvPr/>
        </p:nvSpPr>
        <p:spPr>
          <a:xfrm>
            <a:off x="731520" y="237744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0F14"/>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nchor="t"/>
          <a:lstStyle/>
          <a:p>
            <a:pPr algn="l">
              <a:defRPr sz="2800" b="1">
                <a:solidFill>
                  <a:srgbClr val="F0F0F5"/>
                </a:solidFill>
                <a:latin typeface="Arial"/>
              </a:defRPr>
            </a:pPr>
            <a:r>
              <a:t>Benchmarking the New SDLC</a:t>
            </a:r>
          </a:p>
        </p:txBody>
      </p:sp>
      <p:sp>
        <p:nvSpPr>
          <p:cNvPr id="3" name="Rectangle 2"/>
          <p:cNvSpPr/>
          <p:nvPr/>
        </p:nvSpPr>
        <p:spPr>
          <a:xfrm>
            <a:off x="731520" y="118872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365760" cy="457200"/>
          </a:xfrm>
          <a:prstGeom prst="rect">
            <a:avLst/>
          </a:prstGeom>
          <a:noFill/>
        </p:spPr>
        <p:txBody>
          <a:bodyPr wrap="square" anchor="t"/>
          <a:lstStyle/>
          <a:p>
            <a:pPr algn="l">
              <a:defRPr sz="1800" b="1">
                <a:solidFill>
                  <a:srgbClr val="609BFF"/>
                </a:solidFill>
                <a:latin typeface="Arial"/>
              </a:defRPr>
            </a:pPr>
            <a:r>
              <a:t>•</a:t>
            </a:r>
          </a:p>
        </p:txBody>
      </p:sp>
      <p:sp>
        <p:nvSpPr>
          <p:cNvPr id="5" name="TextBox 4"/>
          <p:cNvSpPr txBox="1"/>
          <p:nvPr/>
        </p:nvSpPr>
        <p:spPr>
          <a:xfrm>
            <a:off x="1280160" y="1463040"/>
            <a:ext cx="9601200" cy="457200"/>
          </a:xfrm>
          <a:prstGeom prst="rect">
            <a:avLst/>
          </a:prstGeom>
          <a:noFill/>
        </p:spPr>
        <p:txBody>
          <a:bodyPr wrap="square" anchor="t"/>
          <a:lstStyle/>
          <a:p>
            <a:pPr algn="l">
              <a:defRPr sz="1800" b="0">
                <a:solidFill>
                  <a:srgbClr val="F0F0F5"/>
                </a:solidFill>
                <a:latin typeface="Arial"/>
              </a:defRPr>
            </a:pPr>
            <a:r>
              <a:t>Cost to Serve Software (CTS-SW) as the primary metric</a:t>
            </a:r>
          </a:p>
        </p:txBody>
      </p:sp>
      <p:sp>
        <p:nvSpPr>
          <p:cNvPr id="6" name="TextBox 5"/>
          <p:cNvSpPr txBox="1"/>
          <p:nvPr/>
        </p:nvSpPr>
        <p:spPr>
          <a:xfrm>
            <a:off x="731520" y="2148840"/>
            <a:ext cx="365760" cy="457200"/>
          </a:xfrm>
          <a:prstGeom prst="rect">
            <a:avLst/>
          </a:prstGeom>
          <a:noFill/>
        </p:spPr>
        <p:txBody>
          <a:bodyPr wrap="square" anchor="t"/>
          <a:lstStyle/>
          <a:p>
            <a:pPr algn="l">
              <a:defRPr sz="1800" b="1">
                <a:solidFill>
                  <a:srgbClr val="7C6AFF"/>
                </a:solidFill>
                <a:latin typeface="Arial"/>
              </a:defRPr>
            </a:pPr>
            <a:r>
              <a:t>•</a:t>
            </a:r>
          </a:p>
        </p:txBody>
      </p:sp>
      <p:sp>
        <p:nvSpPr>
          <p:cNvPr id="7" name="TextBox 6"/>
          <p:cNvSpPr txBox="1"/>
          <p:nvPr/>
        </p:nvSpPr>
        <p:spPr>
          <a:xfrm>
            <a:off x="1280160" y="2148840"/>
            <a:ext cx="9601200" cy="457200"/>
          </a:xfrm>
          <a:prstGeom prst="rect">
            <a:avLst/>
          </a:prstGeom>
          <a:noFill/>
        </p:spPr>
        <p:txBody>
          <a:bodyPr wrap="square" anchor="t"/>
          <a:lstStyle/>
          <a:p>
            <a:pPr algn="l">
              <a:defRPr sz="1800" b="0">
                <a:solidFill>
                  <a:srgbClr val="F0F0F5"/>
                </a:solidFill>
                <a:latin typeface="Arial"/>
              </a:defRPr>
            </a:pPr>
            <a:r>
              <a:t>Focusing on outcome units over activity metrics</a:t>
            </a:r>
          </a:p>
        </p:txBody>
      </p:sp>
      <p:sp>
        <p:nvSpPr>
          <p:cNvPr id="8" name="TextBox 7"/>
          <p:cNvSpPr txBox="1"/>
          <p:nvPr/>
        </p:nvSpPr>
        <p:spPr>
          <a:xfrm>
            <a:off x="731520" y="2834640"/>
            <a:ext cx="365760" cy="457200"/>
          </a:xfrm>
          <a:prstGeom prst="rect">
            <a:avLst/>
          </a:prstGeom>
          <a:noFill/>
        </p:spPr>
        <p:txBody>
          <a:bodyPr wrap="square" anchor="t"/>
          <a:lstStyle/>
          <a:p>
            <a:pPr algn="l">
              <a:defRPr sz="1800" b="1">
                <a:solidFill>
                  <a:srgbClr val="609BFF"/>
                </a:solidFill>
                <a:latin typeface="Arial"/>
              </a:defRPr>
            </a:pPr>
            <a:r>
              <a:t>•</a:t>
            </a:r>
          </a:p>
        </p:txBody>
      </p:sp>
      <p:sp>
        <p:nvSpPr>
          <p:cNvPr id="9" name="TextBox 8"/>
          <p:cNvSpPr txBox="1"/>
          <p:nvPr/>
        </p:nvSpPr>
        <p:spPr>
          <a:xfrm>
            <a:off x="1280160" y="2834640"/>
            <a:ext cx="9601200" cy="457200"/>
          </a:xfrm>
          <a:prstGeom prst="rect">
            <a:avLst/>
          </a:prstGeom>
          <a:noFill/>
        </p:spPr>
        <p:txBody>
          <a:bodyPr wrap="square" anchor="t"/>
          <a:lstStyle/>
          <a:p>
            <a:pPr algn="l">
              <a:defRPr sz="1800" b="0">
                <a:solidFill>
                  <a:srgbClr val="F0F0F5"/>
                </a:solidFill>
                <a:latin typeface="Arial"/>
              </a:defRPr>
            </a:pPr>
            <a:r>
              <a:t>The complexity paradox: routine tasks vs. architecture</a:t>
            </a:r>
          </a:p>
        </p:txBody>
      </p:sp>
      <p:sp>
        <p:nvSpPr>
          <p:cNvPr id="10" name="TextBox 9"/>
          <p:cNvSpPr txBox="1"/>
          <p:nvPr/>
        </p:nvSpPr>
        <p:spPr>
          <a:xfrm>
            <a:off x="731520" y="3520440"/>
            <a:ext cx="365760" cy="457200"/>
          </a:xfrm>
          <a:prstGeom prst="rect">
            <a:avLst/>
          </a:prstGeom>
          <a:noFill/>
        </p:spPr>
        <p:txBody>
          <a:bodyPr wrap="square" anchor="t"/>
          <a:lstStyle/>
          <a:p>
            <a:pPr algn="l">
              <a:defRPr sz="1800" b="1">
                <a:solidFill>
                  <a:srgbClr val="7C6AFF"/>
                </a:solidFill>
                <a:latin typeface="Arial"/>
              </a:defRPr>
            </a:pPr>
            <a:r>
              <a:t>•</a:t>
            </a:r>
          </a:p>
        </p:txBody>
      </p:sp>
      <p:sp>
        <p:nvSpPr>
          <p:cNvPr id="11" name="TextBox 10"/>
          <p:cNvSpPr txBox="1"/>
          <p:nvPr/>
        </p:nvSpPr>
        <p:spPr>
          <a:xfrm>
            <a:off x="1280160" y="3520440"/>
            <a:ext cx="9601200" cy="457200"/>
          </a:xfrm>
          <a:prstGeom prst="rect">
            <a:avLst/>
          </a:prstGeom>
          <a:noFill/>
        </p:spPr>
        <p:txBody>
          <a:bodyPr wrap="square" anchor="t"/>
          <a:lstStyle/>
          <a:p>
            <a:pPr algn="l">
              <a:defRPr sz="1800" b="0">
                <a:solidFill>
                  <a:srgbClr val="F0F0F5"/>
                </a:solidFill>
                <a:latin typeface="Arial"/>
              </a:defRPr>
            </a:pPr>
            <a:r>
              <a:t>3-5x throughput for teams using conductor workflows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0F14"/>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nchor="t"/>
          <a:lstStyle/>
          <a:p>
            <a:pPr algn="l">
              <a:defRPr sz="2800" b="1">
                <a:solidFill>
                  <a:srgbClr val="F0F0F5"/>
                </a:solidFill>
                <a:latin typeface="Arial"/>
              </a:defRPr>
            </a:pPr>
            <a:r>
              <a:t>Sources &amp; References</a:t>
            </a:r>
          </a:p>
        </p:txBody>
      </p:sp>
      <p:sp>
        <p:nvSpPr>
          <p:cNvPr id="3" name="Rectangle 2"/>
          <p:cNvSpPr/>
          <p:nvPr/>
        </p:nvSpPr>
        <p:spPr>
          <a:xfrm>
            <a:off x="731520" y="118872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5029200" cy="365760"/>
          </a:xfrm>
          <a:prstGeom prst="rect">
            <a:avLst/>
          </a:prstGeom>
          <a:noFill/>
        </p:spPr>
        <p:txBody>
          <a:bodyPr wrap="square" anchor="t"/>
          <a:lstStyle/>
          <a:p>
            <a:pPr algn="l">
              <a:defRPr sz="1100" b="1">
                <a:solidFill>
                  <a:srgbClr val="F0F0F5"/>
                </a:solidFill>
                <a:latin typeface="Arial"/>
              </a:defRPr>
            </a:pPr>
            <a:r>
              <a:t>1. Overloaded minds and machines: a cognitive load framework for ...</a:t>
            </a:r>
          </a:p>
        </p:txBody>
      </p:sp>
      <p:sp>
        <p:nvSpPr>
          <p:cNvPr id="5" name="TextBox 4"/>
          <p:cNvSpPr txBox="1"/>
          <p:nvPr/>
        </p:nvSpPr>
        <p:spPr>
          <a:xfrm>
            <a:off x="731520" y="1783080"/>
            <a:ext cx="5029200" cy="274320"/>
          </a:xfrm>
          <a:prstGeom prst="rect">
            <a:avLst/>
          </a:prstGeom>
          <a:noFill/>
        </p:spPr>
        <p:txBody>
          <a:bodyPr wrap="square" anchor="t"/>
          <a:lstStyle/>
          <a:p>
            <a:pPr algn="l">
              <a:defRPr sz="900" b="0">
                <a:solidFill>
                  <a:srgbClr val="9A9AA8"/>
                </a:solidFill>
                <a:latin typeface="Arial"/>
              </a:defRPr>
            </a:pPr>
            <a:r>
              <a:t>https://link.springer.com/article/10.1007/s10462-026-11510-z</a:t>
            </a:r>
          </a:p>
        </p:txBody>
      </p:sp>
      <p:sp>
        <p:nvSpPr>
          <p:cNvPr id="6" name="TextBox 5"/>
          <p:cNvSpPr txBox="1"/>
          <p:nvPr/>
        </p:nvSpPr>
        <p:spPr>
          <a:xfrm>
            <a:off x="731520" y="2240280"/>
            <a:ext cx="5029200" cy="365760"/>
          </a:xfrm>
          <a:prstGeom prst="rect">
            <a:avLst/>
          </a:prstGeom>
          <a:noFill/>
        </p:spPr>
        <p:txBody>
          <a:bodyPr wrap="square" anchor="t"/>
          <a:lstStyle/>
          <a:p>
            <a:pPr algn="l">
              <a:defRPr sz="1100" b="1">
                <a:solidFill>
                  <a:srgbClr val="F0F0F5"/>
                </a:solidFill>
                <a:latin typeface="Arial"/>
              </a:defRPr>
            </a:pPr>
            <a:r>
              <a:t>2. [PDF] Resolving conflicts between multiple competing agents in paralle...</a:t>
            </a:r>
          </a:p>
        </p:txBody>
      </p:sp>
      <p:sp>
        <p:nvSpPr>
          <p:cNvPr id="7" name="TextBox 6"/>
          <p:cNvSpPr txBox="1"/>
          <p:nvPr/>
        </p:nvSpPr>
        <p:spPr>
          <a:xfrm>
            <a:off x="731520" y="2560320"/>
            <a:ext cx="5029200" cy="274320"/>
          </a:xfrm>
          <a:prstGeom prst="rect">
            <a:avLst/>
          </a:prstGeom>
          <a:noFill/>
        </p:spPr>
        <p:txBody>
          <a:bodyPr wrap="square" anchor="t"/>
          <a:lstStyle/>
          <a:p>
            <a:pPr algn="l">
              <a:defRPr sz="900" b="0">
                <a:solidFill>
                  <a:srgbClr val="9A9AA8"/>
                </a:solidFill>
                <a:latin typeface="Arial"/>
              </a:defRPr>
            </a:pPr>
            <a:r>
              <a:t>http://paulrichmond.staff.shef.ac.uk/test/mondus.github.io-m...</a:t>
            </a:r>
          </a:p>
        </p:txBody>
      </p:sp>
      <p:sp>
        <p:nvSpPr>
          <p:cNvPr id="8" name="TextBox 7"/>
          <p:cNvSpPr txBox="1"/>
          <p:nvPr/>
        </p:nvSpPr>
        <p:spPr>
          <a:xfrm>
            <a:off x="731520" y="3017520"/>
            <a:ext cx="5029200" cy="365760"/>
          </a:xfrm>
          <a:prstGeom prst="rect">
            <a:avLst/>
          </a:prstGeom>
          <a:noFill/>
        </p:spPr>
        <p:txBody>
          <a:bodyPr wrap="square" anchor="t"/>
          <a:lstStyle/>
          <a:p>
            <a:pPr algn="l">
              <a:defRPr sz="1100" b="1">
                <a:solidFill>
                  <a:srgbClr val="F0F0F5"/>
                </a:solidFill>
                <a:latin typeface="Arial"/>
              </a:defRPr>
            </a:pPr>
            <a:r>
              <a:t>3. Will Vendors Enable More Complex Agentic Workflows in 2026?</a:t>
            </a:r>
          </a:p>
        </p:txBody>
      </p:sp>
      <p:sp>
        <p:nvSpPr>
          <p:cNvPr id="9" name="TextBox 8"/>
          <p:cNvSpPr txBox="1"/>
          <p:nvPr/>
        </p:nvSpPr>
        <p:spPr>
          <a:xfrm>
            <a:off x="731520" y="3337560"/>
            <a:ext cx="5029200" cy="274320"/>
          </a:xfrm>
          <a:prstGeom prst="rect">
            <a:avLst/>
          </a:prstGeom>
          <a:noFill/>
        </p:spPr>
        <p:txBody>
          <a:bodyPr wrap="square" anchor="t"/>
          <a:lstStyle/>
          <a:p>
            <a:pPr algn="l">
              <a:defRPr sz="900" b="0">
                <a:solidFill>
                  <a:srgbClr val="9A9AA8"/>
                </a:solidFill>
                <a:latin typeface="Arial"/>
              </a:defRPr>
            </a:pPr>
            <a:r>
              <a:t>https://futurumgroup.com/press-release/will-vendors-enable-m...</a:t>
            </a:r>
          </a:p>
        </p:txBody>
      </p:sp>
      <p:sp>
        <p:nvSpPr>
          <p:cNvPr id="10" name="TextBox 9"/>
          <p:cNvSpPr txBox="1"/>
          <p:nvPr/>
        </p:nvSpPr>
        <p:spPr>
          <a:xfrm>
            <a:off x="731520" y="3794760"/>
            <a:ext cx="5029200" cy="365760"/>
          </a:xfrm>
          <a:prstGeom prst="rect">
            <a:avLst/>
          </a:prstGeom>
          <a:noFill/>
        </p:spPr>
        <p:txBody>
          <a:bodyPr wrap="square" anchor="t"/>
          <a:lstStyle/>
          <a:p>
            <a:pPr algn="l">
              <a:defRPr sz="1100" b="1">
                <a:solidFill>
                  <a:srgbClr val="F0F0F5"/>
                </a:solidFill>
                <a:latin typeface="Arial"/>
              </a:defRPr>
            </a:pPr>
            <a:r>
              <a:t>4. A Survey of Benchmarks for CodeLLMs and Agents - arXiv</a:t>
            </a:r>
          </a:p>
        </p:txBody>
      </p:sp>
      <p:sp>
        <p:nvSpPr>
          <p:cNvPr id="11" name="TextBox 10"/>
          <p:cNvSpPr txBox="1"/>
          <p:nvPr/>
        </p:nvSpPr>
        <p:spPr>
          <a:xfrm>
            <a:off x="731520" y="4114800"/>
            <a:ext cx="5029200" cy="274320"/>
          </a:xfrm>
          <a:prstGeom prst="rect">
            <a:avLst/>
          </a:prstGeom>
          <a:noFill/>
        </p:spPr>
        <p:txBody>
          <a:bodyPr wrap="square" anchor="t"/>
          <a:lstStyle/>
          <a:p>
            <a:pPr algn="l">
              <a:defRPr sz="900" b="0">
                <a:solidFill>
                  <a:srgbClr val="9A9AA8"/>
                </a:solidFill>
                <a:latin typeface="Arial"/>
              </a:defRPr>
            </a:pPr>
            <a:r>
              <a:t>https://arxiv.org/html/2505.05283v1</a:t>
            </a:r>
          </a:p>
        </p:txBody>
      </p:sp>
      <p:sp>
        <p:nvSpPr>
          <p:cNvPr id="12" name="TextBox 11"/>
          <p:cNvSpPr txBox="1"/>
          <p:nvPr/>
        </p:nvSpPr>
        <p:spPr>
          <a:xfrm>
            <a:off x="731520" y="4572000"/>
            <a:ext cx="5029200" cy="365760"/>
          </a:xfrm>
          <a:prstGeom prst="rect">
            <a:avLst/>
          </a:prstGeom>
          <a:noFill/>
        </p:spPr>
        <p:txBody>
          <a:bodyPr wrap="square" anchor="t"/>
          <a:lstStyle/>
          <a:p>
            <a:pPr algn="l">
              <a:defRPr sz="1100" b="1">
                <a:solidFill>
                  <a:srgbClr val="F0F0F5"/>
                </a:solidFill>
                <a:latin typeface="Arial"/>
              </a:defRPr>
            </a:pPr>
            <a:r>
              <a:t>5. Cognitive Load in the Age of AI: Rethinking Developer Workflows</a:t>
            </a:r>
          </a:p>
        </p:txBody>
      </p:sp>
      <p:sp>
        <p:nvSpPr>
          <p:cNvPr id="13" name="TextBox 12"/>
          <p:cNvSpPr txBox="1"/>
          <p:nvPr/>
        </p:nvSpPr>
        <p:spPr>
          <a:xfrm>
            <a:off x="731520" y="4892040"/>
            <a:ext cx="5029200" cy="274320"/>
          </a:xfrm>
          <a:prstGeom prst="rect">
            <a:avLst/>
          </a:prstGeom>
          <a:noFill/>
        </p:spPr>
        <p:txBody>
          <a:bodyPr wrap="square" anchor="t"/>
          <a:lstStyle/>
          <a:p>
            <a:pPr algn="l">
              <a:defRPr sz="900" b="0">
                <a:solidFill>
                  <a:srgbClr val="9A9AA8"/>
                </a:solidFill>
                <a:latin typeface="Arial"/>
              </a:defRPr>
            </a:pPr>
            <a:r>
              <a:t>https://www.itprotoday.com/software-development/cognitive-lo...</a:t>
            </a:r>
          </a:p>
        </p:txBody>
      </p:sp>
      <p:sp>
        <p:nvSpPr>
          <p:cNvPr id="14" name="TextBox 13"/>
          <p:cNvSpPr txBox="1"/>
          <p:nvPr/>
        </p:nvSpPr>
        <p:spPr>
          <a:xfrm>
            <a:off x="6400800" y="1463040"/>
            <a:ext cx="5029200" cy="365760"/>
          </a:xfrm>
          <a:prstGeom prst="rect">
            <a:avLst/>
          </a:prstGeom>
          <a:noFill/>
        </p:spPr>
        <p:txBody>
          <a:bodyPr wrap="square" anchor="t"/>
          <a:lstStyle/>
          <a:p>
            <a:pPr algn="l">
              <a:defRPr sz="1100" b="1">
                <a:solidFill>
                  <a:srgbClr val="F0F0F5"/>
                </a:solidFill>
                <a:latin typeface="Arial"/>
              </a:defRPr>
            </a:pPr>
            <a:r>
              <a:t>6. How do multi-agent systems manage conflict resolution? - Milvus</a:t>
            </a:r>
          </a:p>
        </p:txBody>
      </p:sp>
      <p:sp>
        <p:nvSpPr>
          <p:cNvPr id="15" name="TextBox 14"/>
          <p:cNvSpPr txBox="1"/>
          <p:nvPr/>
        </p:nvSpPr>
        <p:spPr>
          <a:xfrm>
            <a:off x="6400800" y="1783080"/>
            <a:ext cx="5029200" cy="274320"/>
          </a:xfrm>
          <a:prstGeom prst="rect">
            <a:avLst/>
          </a:prstGeom>
          <a:noFill/>
        </p:spPr>
        <p:txBody>
          <a:bodyPr wrap="square" anchor="t"/>
          <a:lstStyle/>
          <a:p>
            <a:pPr algn="l">
              <a:defRPr sz="900" b="0">
                <a:solidFill>
                  <a:srgbClr val="9A9AA8"/>
                </a:solidFill>
                <a:latin typeface="Arial"/>
              </a:defRPr>
            </a:pPr>
            <a:r>
              <a:t>https://milvus.io/ai-quick-reference/how-do-multiagent-syste...</a:t>
            </a:r>
          </a:p>
        </p:txBody>
      </p:sp>
      <p:sp>
        <p:nvSpPr>
          <p:cNvPr id="16" name="TextBox 15"/>
          <p:cNvSpPr txBox="1"/>
          <p:nvPr/>
        </p:nvSpPr>
        <p:spPr>
          <a:xfrm>
            <a:off x="6400800" y="2240280"/>
            <a:ext cx="5029200" cy="365760"/>
          </a:xfrm>
          <a:prstGeom prst="rect">
            <a:avLst/>
          </a:prstGeom>
          <a:noFill/>
        </p:spPr>
        <p:txBody>
          <a:bodyPr wrap="square" anchor="t"/>
          <a:lstStyle/>
          <a:p>
            <a:pPr algn="l">
              <a:defRPr sz="1100" b="1">
                <a:solidFill>
                  <a:srgbClr val="F0F0F5"/>
                </a:solidFill>
                <a:latin typeface="Arial"/>
              </a:defRPr>
            </a:pPr>
            <a:r>
              <a:t>7. Measuring the Impact of AI Assistants on Software Development - AWS</a:t>
            </a:r>
          </a:p>
        </p:txBody>
      </p:sp>
      <p:sp>
        <p:nvSpPr>
          <p:cNvPr id="17" name="TextBox 16"/>
          <p:cNvSpPr txBox="1"/>
          <p:nvPr/>
        </p:nvSpPr>
        <p:spPr>
          <a:xfrm>
            <a:off x="6400800" y="2560320"/>
            <a:ext cx="5029200" cy="274320"/>
          </a:xfrm>
          <a:prstGeom prst="rect">
            <a:avLst/>
          </a:prstGeom>
          <a:noFill/>
        </p:spPr>
        <p:txBody>
          <a:bodyPr wrap="square" anchor="t"/>
          <a:lstStyle/>
          <a:p>
            <a:pPr algn="l">
              <a:defRPr sz="900" b="0">
                <a:solidFill>
                  <a:srgbClr val="9A9AA8"/>
                </a:solidFill>
                <a:latin typeface="Arial"/>
              </a:defRPr>
            </a:pPr>
            <a:r>
              <a:t>https://aws.amazon.com/blogs/enterprise-strategy/measuring-t...</a:t>
            </a:r>
          </a:p>
        </p:txBody>
      </p:sp>
      <p:sp>
        <p:nvSpPr>
          <p:cNvPr id="18" name="TextBox 17"/>
          <p:cNvSpPr txBox="1"/>
          <p:nvPr/>
        </p:nvSpPr>
        <p:spPr>
          <a:xfrm>
            <a:off x="6400800" y="3017520"/>
            <a:ext cx="5029200" cy="365760"/>
          </a:xfrm>
          <a:prstGeom prst="rect">
            <a:avLst/>
          </a:prstGeom>
          <a:noFill/>
        </p:spPr>
        <p:txBody>
          <a:bodyPr wrap="square" anchor="t"/>
          <a:lstStyle/>
          <a:p>
            <a:pPr algn="l">
              <a:defRPr sz="1100" b="1">
                <a:solidFill>
                  <a:srgbClr val="F0F0F5"/>
                </a:solidFill>
                <a:latin typeface="Arial"/>
              </a:defRPr>
            </a:pPr>
            <a:r>
              <a:t>8. The 2026 Guide to Agentic Workflow Architectures - Stack AI</a:t>
            </a:r>
          </a:p>
        </p:txBody>
      </p:sp>
      <p:sp>
        <p:nvSpPr>
          <p:cNvPr id="19" name="TextBox 18"/>
          <p:cNvSpPr txBox="1"/>
          <p:nvPr/>
        </p:nvSpPr>
        <p:spPr>
          <a:xfrm>
            <a:off x="6400800" y="3337560"/>
            <a:ext cx="5029200" cy="274320"/>
          </a:xfrm>
          <a:prstGeom prst="rect">
            <a:avLst/>
          </a:prstGeom>
          <a:noFill/>
        </p:spPr>
        <p:txBody>
          <a:bodyPr wrap="square" anchor="t"/>
          <a:lstStyle/>
          <a:p>
            <a:pPr algn="l">
              <a:defRPr sz="900" b="0">
                <a:solidFill>
                  <a:srgbClr val="9A9AA8"/>
                </a:solidFill>
                <a:latin typeface="Arial"/>
              </a:defRPr>
            </a:pPr>
            <a:r>
              <a:t>https://www.stack-ai.com/blog/the-2026-guide-to-agentic-work...</a:t>
            </a:r>
          </a:p>
        </p:txBody>
      </p:sp>
      <p:sp>
        <p:nvSpPr>
          <p:cNvPr id="20" name="TextBox 19"/>
          <p:cNvSpPr txBox="1"/>
          <p:nvPr/>
        </p:nvSpPr>
        <p:spPr>
          <a:xfrm>
            <a:off x="6400800" y="3794760"/>
            <a:ext cx="5029200" cy="365760"/>
          </a:xfrm>
          <a:prstGeom prst="rect">
            <a:avLst/>
          </a:prstGeom>
          <a:noFill/>
        </p:spPr>
        <p:txBody>
          <a:bodyPr wrap="square" anchor="t"/>
          <a:lstStyle/>
          <a:p>
            <a:pPr algn="l">
              <a:defRPr sz="1100" b="1">
                <a:solidFill>
                  <a:srgbClr val="F0F0F5"/>
                </a:solidFill>
                <a:latin typeface="Arial"/>
              </a:defRPr>
            </a:pPr>
            <a:r>
              <a:t>9. Multiple AI Agents Coding Together in Real Time - YouTube</a:t>
            </a:r>
          </a:p>
        </p:txBody>
      </p:sp>
      <p:sp>
        <p:nvSpPr>
          <p:cNvPr id="21" name="TextBox 20"/>
          <p:cNvSpPr txBox="1"/>
          <p:nvPr/>
        </p:nvSpPr>
        <p:spPr>
          <a:xfrm>
            <a:off x="6400800" y="4114800"/>
            <a:ext cx="5029200" cy="274320"/>
          </a:xfrm>
          <a:prstGeom prst="rect">
            <a:avLst/>
          </a:prstGeom>
          <a:noFill/>
        </p:spPr>
        <p:txBody>
          <a:bodyPr wrap="square" anchor="t"/>
          <a:lstStyle/>
          <a:p>
            <a:pPr algn="l">
              <a:defRPr sz="900" b="0">
                <a:solidFill>
                  <a:srgbClr val="9A9AA8"/>
                </a:solidFill>
                <a:latin typeface="Arial"/>
              </a:defRPr>
            </a:pPr>
            <a:r>
              <a:t>https://www.youtube.com/watch?v=-1K_ZWDKpU0&amp;vl=en</a:t>
            </a:r>
          </a:p>
        </p:txBody>
      </p:sp>
      <p:sp>
        <p:nvSpPr>
          <p:cNvPr id="22" name="TextBox 21"/>
          <p:cNvSpPr txBox="1"/>
          <p:nvPr/>
        </p:nvSpPr>
        <p:spPr>
          <a:xfrm>
            <a:off x="6400800" y="4572000"/>
            <a:ext cx="5029200" cy="365760"/>
          </a:xfrm>
          <a:prstGeom prst="rect">
            <a:avLst/>
          </a:prstGeom>
          <a:noFill/>
        </p:spPr>
        <p:txBody>
          <a:bodyPr wrap="square" anchor="t"/>
          <a:lstStyle/>
          <a:p>
            <a:pPr algn="l">
              <a:defRPr sz="1100" b="1">
                <a:solidFill>
                  <a:srgbClr val="F0F0F5"/>
                </a:solidFill>
                <a:latin typeface="Arial"/>
              </a:defRPr>
            </a:pPr>
            <a:r>
              <a:t>10. The developer role shifts to orchestrating AI | The Deep View</a:t>
            </a:r>
          </a:p>
        </p:txBody>
      </p:sp>
      <p:sp>
        <p:nvSpPr>
          <p:cNvPr id="23" name="TextBox 22"/>
          <p:cNvSpPr txBox="1"/>
          <p:nvPr/>
        </p:nvSpPr>
        <p:spPr>
          <a:xfrm>
            <a:off x="6400800" y="4892040"/>
            <a:ext cx="5029200" cy="274320"/>
          </a:xfrm>
          <a:prstGeom prst="rect">
            <a:avLst/>
          </a:prstGeom>
          <a:noFill/>
        </p:spPr>
        <p:txBody>
          <a:bodyPr wrap="square" anchor="t"/>
          <a:lstStyle/>
          <a:p>
            <a:pPr algn="l">
              <a:defRPr sz="900" b="0">
                <a:solidFill>
                  <a:srgbClr val="9A9AA8"/>
                </a:solidFill>
                <a:latin typeface="Arial"/>
              </a:defRPr>
            </a:pPr>
            <a:r>
              <a:t>https://www.thedeepview.com/articles/the-developer-role-shif...</a:t>
            </a:r>
          </a:p>
        </p:txBody>
      </p:sp>
      <p:sp>
        <p:nvSpPr>
          <p:cNvPr id="24" name="TextBox 23"/>
          <p:cNvSpPr txBox="1"/>
          <p:nvPr/>
        </p:nvSpPr>
        <p:spPr>
          <a:xfrm>
            <a:off x="731520" y="5943600"/>
            <a:ext cx="10698480" cy="457200"/>
          </a:xfrm>
          <a:prstGeom prst="rect">
            <a:avLst/>
          </a:prstGeom>
          <a:noFill/>
        </p:spPr>
        <p:txBody>
          <a:bodyPr wrap="square" anchor="t"/>
          <a:lstStyle/>
          <a:p>
            <a:pPr algn="ctr">
              <a:defRPr sz="1200" b="0">
                <a:solidFill>
                  <a:srgbClr val="609BFF"/>
                </a:solidFill>
                <a:latin typeface="Arial"/>
              </a:defRPr>
            </a:pPr>
            <a:r>
              <a:t>Full article with all citations available on the blog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4141E"/>
        </a:solidFill>
        <a:effectLst/>
      </p:bgPr>
    </p:bg>
    <p:spTree>
      <p:nvGrpSpPr>
        <p:cNvPr id="1" name=""/>
        <p:cNvGrpSpPr/>
        <p:nvPr/>
      </p:nvGrpSpPr>
      <p:grpSpPr/>
      <p:sp>
        <p:nvSpPr>
          <p:cNvPr id="2" name="Rectangle 1"/>
          <p:cNvSpPr/>
          <p:nvPr/>
        </p:nvSpPr>
        <p:spPr>
          <a:xfrm>
            <a:off x="1097280" y="182880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2103120"/>
            <a:ext cx="9966960" cy="1828800"/>
          </a:xfrm>
          <a:prstGeom prst="rect">
            <a:avLst/>
          </a:prstGeom>
          <a:noFill/>
        </p:spPr>
        <p:txBody>
          <a:bodyPr wrap="square" anchor="t"/>
          <a:lstStyle/>
          <a:p>
            <a:pPr algn="l">
              <a:defRPr sz="3000" b="1">
                <a:solidFill>
                  <a:srgbClr val="F0F0F5"/>
                </a:solidFill>
                <a:latin typeface="Arial"/>
              </a:defRPr>
            </a:pPr>
            <a:r>
              <a:t>The bottleneck of software development has shifted from code generation to the orchestration of parallel agentic workstreams, requiring developers to transition from 'coders' to 'conductors' of complex AI ecosystems.</a:t>
            </a:r>
          </a:p>
        </p:txBody>
      </p:sp>
      <p:sp>
        <p:nvSpPr>
          <p:cNvPr id="4" name="TextBox 3"/>
          <p:cNvSpPr txBox="1"/>
          <p:nvPr/>
        </p:nvSpPr>
        <p:spPr>
          <a:xfrm>
            <a:off x="1097280" y="4114800"/>
            <a:ext cx="9966960" cy="914400"/>
          </a:xfrm>
          <a:prstGeom prst="rect">
            <a:avLst/>
          </a:prstGeom>
          <a:noFill/>
        </p:spPr>
        <p:txBody>
          <a:bodyPr wrap="square" anchor="t"/>
          <a:lstStyle/>
          <a:p>
            <a:pPr algn="l">
              <a:defRPr sz="2000" b="0">
                <a:solidFill>
                  <a:srgbClr val="9A9AA8"/>
                </a:solidFill>
                <a:latin typeface="Arial"/>
              </a:defRPr>
            </a:pPr>
            <a:r>
              <a:t>The Future is Parallel</a:t>
            </a:r>
          </a:p>
        </p:txBody>
      </p:sp>
      <p:sp>
        <p:nvSpPr>
          <p:cNvPr id="5" name="TextBox 4"/>
          <p:cNvSpPr txBox="1"/>
          <p:nvPr/>
        </p:nvSpPr>
        <p:spPr>
          <a:xfrm>
            <a:off x="1097280" y="5669280"/>
            <a:ext cx="9966960" cy="457200"/>
          </a:xfrm>
          <a:prstGeom prst="rect">
            <a:avLst/>
          </a:prstGeom>
          <a:noFill/>
        </p:spPr>
        <p:txBody>
          <a:bodyPr wrap="square" anchor="t"/>
          <a:lstStyle/>
          <a:p>
            <a:pPr algn="l">
              <a:defRPr sz="1400" b="0">
                <a:solidFill>
                  <a:srgbClr val="609BFF"/>
                </a:solidFill>
                <a:latin typeface="Arial"/>
              </a:defRPr>
            </a:pPr>
            <a:r>
              <a:t>Like &amp; Subscribe  |  Prolific Blog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