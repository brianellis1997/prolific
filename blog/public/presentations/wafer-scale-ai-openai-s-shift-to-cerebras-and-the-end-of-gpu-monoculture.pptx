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2026, the era of 'GPU at any cost' is officially over. Today we are exploring a massive architectural inflection point: OpenAI’s strategic pivot away from NVIDIA toward Cerebras wafer-scale systems. We’ll look at why the physics of traditional GPU clusters hit a 'communication wall' and how the industry is re-engineering data centers to handle the staggering power demands of the next generation of AI.</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Building on that introduction, let's dive into the first major hurdle facing frontier models. As we push toward GPT-5.3 and beyond, we've discovered that the speed of light and the energy cost of moving data are becoming bigger problems than the computation itself. This is what engineers call the 'Communication Wall.'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Now let's look at the numbers that forced OpenAI's hand. Even with NVIDIA's Blackwell architecture, the bidirectional interconnects simply can't keep up with the data movement required for trillion-parameter models. We've reached a point where chips spend more time 'talking' to each other across the cluster than they do actually computing, leading to massive inefficiencies.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 put that bottleneck in perspective, consider this: while traditional clusters measure bandwidth in Terabytes, the Cerebras Wafer-Scale Engine operates in Petabytes. By keeping all 900,000 cores on a single piece of silicon, the communication wall effectively disappears. This thousand-fold advantage is what allowed OpenAI to reduce training times from 47 days down to just 11.</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Moving from the architecture of the chip to the architecture of the building, we have to address the massive physical requirements of these systems. We are no longer talking about standard server racks; we are talking about extreme power density that challenges every convention of data center design.</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As you can see in this image of a high-density manifold, the shift to liquid cooling is mandatory. When you concentrate 850 watts per square centimeter into silicon, fans just won't cut it anymore. These systems use dielectric fluids and precision cold plates to evacuate heat, allowing for power densities that would literally melt a traditional server room.</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But hardware is only half the battle; you need software that can actually use it. The breakthrough here is aggressive abstraction—making a giant wafer look like a familiar PyTorch or JAX accelerator. By using 'weight stationary' models, the compiler keeps the data on the chip, avoiding the energy-hungry trips to external memory that slow down traditional GPUs.</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software-hardware synergy leads to a critical metric for the future of AI agents: sub-millisecond latency. For agentic workflows where a model has to 'think' through dozens of steps to solve a problem, this speed isn't just a luxury—it's what makes complex reasoning chains viable for real-time use.</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Finally, let's look at the big picture. Why is this happening now? It’s not just about the tech; it’s about the money and the strategic need for hyperscalers to control their own destiny.</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economic defensibility of these non-NVIDIA investments is now empirically validated. Hyperscalers are betting billions on custom silicon like Trainium and TPUs to avoid 'monopoly pricing.' OpenAI's massive 750-megawatt deal with Cerebras proves that the industry is ready to manage the complexity of multiple software stacks if it means a 40% reduction in total cost of ownership.</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presentation was built on a foundation of 20 primary sources, including technical papers from ACM and arXiv, as well as industry reporting on the OpenAI-Cerebras partnership. You can find the full list of citations in the video description.</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 wrap up: we are witnessing the end of the GPU monoculture. The shift to wafer-scale AI isn't just a trend—it's a physical necessity for the next generation of models. If you want to stay ahead of the curve on AI infrastructure, make sure to subscribe and check out the full blog post for a deeper dive into the TCO models. Thanks for watching.</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0F14"/>
        </a:solidFill>
        <a:effectLst/>
      </p:bgPr>
    </p:bg>
    <p:spTree>
      <p:nvGrpSpPr>
        <p:cNvPr id="1" name=""/>
        <p:cNvGrpSpPr/>
        <p:nvPr/>
      </p:nvGrpSpPr>
      <p:grpSpPr/>
      <p:sp>
        <p:nvSpPr>
          <p:cNvPr id="2" name="Rectangle 1"/>
          <p:cNvSpPr/>
          <p:nvPr/>
        </p:nvSpPr>
        <p:spPr>
          <a:xfrm>
            <a:off x="1097280" y="1645920"/>
            <a:ext cx="1371600" cy="38100"/>
          </a:xfrm>
          <a:prstGeom prst="rect">
            <a:avLst/>
          </a:prstGeom>
          <a:solidFill>
            <a:srgbClr val="609B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97280" y="1920240"/>
            <a:ext cx="9966960" cy="1828800"/>
          </a:xfrm>
          <a:prstGeom prst="rect">
            <a:avLst/>
          </a:prstGeom>
          <a:noFill/>
        </p:spPr>
        <p:txBody>
          <a:bodyPr wrap="square" anchor="t"/>
          <a:lstStyle/>
          <a:p>
            <a:pPr algn="l">
              <a:defRPr sz="4000" b="1">
                <a:solidFill>
                  <a:srgbClr val="F0F0F5"/>
                </a:solidFill>
                <a:latin typeface="Arial"/>
              </a:defRPr>
            </a:pPr>
            <a:r>
              <a:t>Wafer-Scale AI: The End of GPU Monoculture</a:t>
            </a:r>
          </a:p>
        </p:txBody>
      </p:sp>
      <p:sp>
        <p:nvSpPr>
          <p:cNvPr id="4" name="TextBox 3"/>
          <p:cNvSpPr txBox="1"/>
          <p:nvPr/>
        </p:nvSpPr>
        <p:spPr>
          <a:xfrm>
            <a:off x="1097280" y="3840480"/>
            <a:ext cx="9966960" cy="914400"/>
          </a:xfrm>
          <a:prstGeom prst="rect">
            <a:avLst/>
          </a:prstGeom>
          <a:noFill/>
        </p:spPr>
        <p:txBody>
          <a:bodyPr wrap="square" anchor="t"/>
          <a:lstStyle/>
          <a:p>
            <a:pPr algn="l">
              <a:defRPr sz="2000" b="0">
                <a:solidFill>
                  <a:srgbClr val="9A9AA8"/>
                </a:solidFill>
                <a:latin typeface="Arial"/>
              </a:defRPr>
            </a:pPr>
            <a:r>
              <a:t>The End of GPU Monoculture and the Rise of the 20kW Node</a:t>
            </a:r>
          </a:p>
        </p:txBody>
      </p:sp>
      <p:sp>
        <p:nvSpPr>
          <p:cNvPr id="5" name="TextBox 4"/>
          <p:cNvSpPr txBox="1"/>
          <p:nvPr/>
        </p:nvSpPr>
        <p:spPr>
          <a:xfrm>
            <a:off x="1097280" y="5669280"/>
            <a:ext cx="9966960" cy="457200"/>
          </a:xfrm>
          <a:prstGeom prst="rect">
            <a:avLst/>
          </a:prstGeom>
          <a:noFill/>
        </p:spPr>
        <p:txBody>
          <a:bodyPr wrap="square" anchor="t"/>
          <a:lstStyle/>
          <a:p>
            <a:pPr algn="l">
              <a:defRPr sz="1400" b="0">
                <a:solidFill>
                  <a:srgbClr val="9A9AA8"/>
                </a:solidFill>
                <a:latin typeface="Arial"/>
              </a:defRPr>
            </a:pPr>
            <a:r>
              <a:t>March 11, 2026  |  Prolific Blog</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14141E"/>
        </a:solidFill>
        <a:effectLst/>
      </p:bgPr>
    </p:bg>
    <p:spTree>
      <p:nvGrpSpPr>
        <p:cNvPr id="1" name=""/>
        <p:cNvGrpSpPr/>
        <p:nvPr/>
      </p:nvGrpSpPr>
      <p:grpSpPr/>
      <p:sp>
        <p:nvSpPr>
          <p:cNvPr id="2" name="TextBox 1"/>
          <p:cNvSpPr txBox="1"/>
          <p:nvPr/>
        </p:nvSpPr>
        <p:spPr>
          <a:xfrm>
            <a:off x="731520" y="1371600"/>
            <a:ext cx="1828800" cy="1097280"/>
          </a:xfrm>
          <a:prstGeom prst="rect">
            <a:avLst/>
          </a:prstGeom>
          <a:noFill/>
        </p:spPr>
        <p:txBody>
          <a:bodyPr wrap="square" anchor="t"/>
          <a:lstStyle/>
          <a:p>
            <a:pPr algn="l">
              <a:defRPr sz="4800" b="1">
                <a:solidFill>
                  <a:srgbClr val="609BFF"/>
                </a:solidFill>
                <a:latin typeface="Arial"/>
              </a:defRPr>
            </a:pPr>
            <a:r>
              <a:t>01</a:t>
            </a:r>
          </a:p>
        </p:txBody>
      </p:sp>
      <p:sp>
        <p:nvSpPr>
          <p:cNvPr id="3" name="TextBox 2"/>
          <p:cNvSpPr txBox="1"/>
          <p:nvPr/>
        </p:nvSpPr>
        <p:spPr>
          <a:xfrm>
            <a:off x="731520" y="2560320"/>
            <a:ext cx="10698480" cy="1371600"/>
          </a:xfrm>
          <a:prstGeom prst="rect">
            <a:avLst/>
          </a:prstGeom>
          <a:noFill/>
        </p:spPr>
        <p:txBody>
          <a:bodyPr wrap="square" anchor="t"/>
          <a:lstStyle/>
          <a:p>
            <a:pPr algn="l">
              <a:defRPr sz="3600" b="1">
                <a:solidFill>
                  <a:srgbClr val="F0F0F5"/>
                </a:solidFill>
                <a:latin typeface="Arial"/>
              </a:defRPr>
            </a:pPr>
            <a:r>
              <a:t>Chapter 1: The Communication Wall</a:t>
            </a:r>
          </a:p>
        </p:txBody>
      </p:sp>
      <p:sp>
        <p:nvSpPr>
          <p:cNvPr id="4" name="TextBox 3"/>
          <p:cNvSpPr txBox="1"/>
          <p:nvPr/>
        </p:nvSpPr>
        <p:spPr>
          <a:xfrm>
            <a:off x="731520" y="4023360"/>
            <a:ext cx="10698480" cy="914400"/>
          </a:xfrm>
          <a:prstGeom prst="rect">
            <a:avLst/>
          </a:prstGeom>
          <a:noFill/>
        </p:spPr>
        <p:txBody>
          <a:bodyPr wrap="square" anchor="t"/>
          <a:lstStyle/>
          <a:p>
            <a:pPr algn="l">
              <a:defRPr sz="1800" b="0">
                <a:solidFill>
                  <a:srgbClr val="9A9AA8"/>
                </a:solidFill>
                <a:latin typeface="Arial"/>
              </a:defRPr>
            </a:pPr>
            <a:r>
              <a:t>Why GPU Clusters Hit Physical Limits</a:t>
            </a:r>
          </a:p>
        </p:txBody>
      </p:sp>
      <p:sp>
        <p:nvSpPr>
          <p:cNvPr id="5" name="Rectangle 4"/>
          <p:cNvSpPr/>
          <p:nvPr/>
        </p:nvSpPr>
        <p:spPr>
          <a:xfrm>
            <a:off x="731520" y="2377440"/>
            <a:ext cx="1371600" cy="38100"/>
          </a:xfrm>
          <a:prstGeom prst="rect">
            <a:avLst/>
          </a:prstGeom>
          <a:solidFill>
            <a:srgbClr val="609B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0F14"/>
        </a:solidFill>
        <a:effectLst/>
      </p:bgPr>
    </p:bg>
    <p:spTree>
      <p:nvGrpSpPr>
        <p:cNvPr id="1" name=""/>
        <p:cNvGrpSpPr/>
        <p:nvPr/>
      </p:nvGrpSpPr>
      <p:grpSpPr/>
      <p:sp>
        <p:nvSpPr>
          <p:cNvPr id="2" name="TextBox 1"/>
          <p:cNvSpPr txBox="1"/>
          <p:nvPr/>
        </p:nvSpPr>
        <p:spPr>
          <a:xfrm>
            <a:off x="731520" y="457200"/>
            <a:ext cx="10698480" cy="731520"/>
          </a:xfrm>
          <a:prstGeom prst="rect">
            <a:avLst/>
          </a:prstGeom>
          <a:noFill/>
        </p:spPr>
        <p:txBody>
          <a:bodyPr wrap="square" anchor="t"/>
          <a:lstStyle/>
          <a:p>
            <a:pPr algn="l">
              <a:defRPr sz="2800" b="1">
                <a:solidFill>
                  <a:srgbClr val="F0F0F5"/>
                </a:solidFill>
                <a:latin typeface="Arial"/>
              </a:defRPr>
            </a:pPr>
            <a:r>
              <a:t>The Physics of the Bottleneck</a:t>
            </a:r>
          </a:p>
        </p:txBody>
      </p:sp>
      <p:sp>
        <p:nvSpPr>
          <p:cNvPr id="3" name="Rectangle 2"/>
          <p:cNvSpPr/>
          <p:nvPr/>
        </p:nvSpPr>
        <p:spPr>
          <a:xfrm>
            <a:off x="731520" y="1188720"/>
            <a:ext cx="1371600" cy="38100"/>
          </a:xfrm>
          <a:prstGeom prst="rect">
            <a:avLst/>
          </a:prstGeom>
          <a:solidFill>
            <a:srgbClr val="609B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1463040"/>
            <a:ext cx="365760" cy="457200"/>
          </a:xfrm>
          <a:prstGeom prst="rect">
            <a:avLst/>
          </a:prstGeom>
          <a:noFill/>
        </p:spPr>
        <p:txBody>
          <a:bodyPr wrap="square" anchor="t"/>
          <a:lstStyle/>
          <a:p>
            <a:pPr algn="l">
              <a:defRPr sz="1800" b="1">
                <a:solidFill>
                  <a:srgbClr val="609BFF"/>
                </a:solidFill>
                <a:latin typeface="Arial"/>
              </a:defRPr>
            </a:pPr>
            <a:r>
              <a:t>•</a:t>
            </a:r>
          </a:p>
        </p:txBody>
      </p:sp>
      <p:sp>
        <p:nvSpPr>
          <p:cNvPr id="5" name="TextBox 4"/>
          <p:cNvSpPr txBox="1"/>
          <p:nvPr/>
        </p:nvSpPr>
        <p:spPr>
          <a:xfrm>
            <a:off x="1280160" y="1463040"/>
            <a:ext cx="9601200" cy="457200"/>
          </a:xfrm>
          <a:prstGeom prst="rect">
            <a:avLst/>
          </a:prstGeom>
          <a:noFill/>
        </p:spPr>
        <p:txBody>
          <a:bodyPr wrap="square" anchor="t"/>
          <a:lstStyle/>
          <a:p>
            <a:pPr algn="l">
              <a:defRPr sz="1800" b="0">
                <a:solidFill>
                  <a:srgbClr val="F0F0F5"/>
                </a:solidFill>
                <a:latin typeface="Arial"/>
              </a:defRPr>
            </a:pPr>
            <a:r>
              <a:t>NVLink 5.0 becomes a chokepoint for 10T+ parameter models</a:t>
            </a:r>
          </a:p>
        </p:txBody>
      </p:sp>
      <p:sp>
        <p:nvSpPr>
          <p:cNvPr id="6" name="TextBox 5"/>
          <p:cNvSpPr txBox="1"/>
          <p:nvPr/>
        </p:nvSpPr>
        <p:spPr>
          <a:xfrm>
            <a:off x="731520" y="2148840"/>
            <a:ext cx="365760" cy="457200"/>
          </a:xfrm>
          <a:prstGeom prst="rect">
            <a:avLst/>
          </a:prstGeom>
          <a:noFill/>
        </p:spPr>
        <p:txBody>
          <a:bodyPr wrap="square" anchor="t"/>
          <a:lstStyle/>
          <a:p>
            <a:pPr algn="l">
              <a:defRPr sz="1800" b="1">
                <a:solidFill>
                  <a:srgbClr val="7C6AFF"/>
                </a:solidFill>
                <a:latin typeface="Arial"/>
              </a:defRPr>
            </a:pPr>
            <a:r>
              <a:t>•</a:t>
            </a:r>
          </a:p>
        </p:txBody>
      </p:sp>
      <p:sp>
        <p:nvSpPr>
          <p:cNvPr id="7" name="TextBox 6"/>
          <p:cNvSpPr txBox="1"/>
          <p:nvPr/>
        </p:nvSpPr>
        <p:spPr>
          <a:xfrm>
            <a:off x="1280160" y="2148840"/>
            <a:ext cx="9601200" cy="457200"/>
          </a:xfrm>
          <a:prstGeom prst="rect">
            <a:avLst/>
          </a:prstGeom>
          <a:noFill/>
        </p:spPr>
        <p:txBody>
          <a:bodyPr wrap="square" anchor="t"/>
          <a:lstStyle/>
          <a:p>
            <a:pPr algn="l">
              <a:defRPr sz="1800" b="0">
                <a:solidFill>
                  <a:srgbClr val="F0F0F5"/>
                </a:solidFill>
                <a:latin typeface="Arial"/>
              </a:defRPr>
            </a:pPr>
            <a:r>
              <a:t>Board-level interconnects use 10-100x more energy than on-chip networks</a:t>
            </a:r>
          </a:p>
        </p:txBody>
      </p:sp>
      <p:sp>
        <p:nvSpPr>
          <p:cNvPr id="8" name="TextBox 7"/>
          <p:cNvSpPr txBox="1"/>
          <p:nvPr/>
        </p:nvSpPr>
        <p:spPr>
          <a:xfrm>
            <a:off x="731520" y="2834640"/>
            <a:ext cx="365760" cy="457200"/>
          </a:xfrm>
          <a:prstGeom prst="rect">
            <a:avLst/>
          </a:prstGeom>
          <a:noFill/>
        </p:spPr>
        <p:txBody>
          <a:bodyPr wrap="square" anchor="t"/>
          <a:lstStyle/>
          <a:p>
            <a:pPr algn="l">
              <a:defRPr sz="1800" b="1">
                <a:solidFill>
                  <a:srgbClr val="609BFF"/>
                </a:solidFill>
                <a:latin typeface="Arial"/>
              </a:defRPr>
            </a:pPr>
            <a:r>
              <a:t>•</a:t>
            </a:r>
          </a:p>
        </p:txBody>
      </p:sp>
      <p:sp>
        <p:nvSpPr>
          <p:cNvPr id="9" name="TextBox 8"/>
          <p:cNvSpPr txBox="1"/>
          <p:nvPr/>
        </p:nvSpPr>
        <p:spPr>
          <a:xfrm>
            <a:off x="1280160" y="2834640"/>
            <a:ext cx="9601200" cy="457200"/>
          </a:xfrm>
          <a:prstGeom prst="rect">
            <a:avLst/>
          </a:prstGeom>
          <a:noFill/>
        </p:spPr>
        <p:txBody>
          <a:bodyPr wrap="square" anchor="t"/>
          <a:lstStyle/>
          <a:p>
            <a:pPr algn="l">
              <a:defRPr sz="1800" b="0">
                <a:solidFill>
                  <a:srgbClr val="F0F0F5"/>
                </a:solidFill>
                <a:latin typeface="Arial"/>
              </a:defRPr>
            </a:pPr>
            <a:r>
              <a:t>Gradient synchronization now dwarfs matrix multiplication energy costs</a:t>
            </a:r>
          </a:p>
        </p:txBody>
      </p:sp>
      <p:sp>
        <p:nvSpPr>
          <p:cNvPr id="10" name="TextBox 9"/>
          <p:cNvSpPr txBox="1"/>
          <p:nvPr/>
        </p:nvSpPr>
        <p:spPr>
          <a:xfrm>
            <a:off x="731520" y="3520440"/>
            <a:ext cx="365760" cy="457200"/>
          </a:xfrm>
          <a:prstGeom prst="rect">
            <a:avLst/>
          </a:prstGeom>
          <a:noFill/>
        </p:spPr>
        <p:txBody>
          <a:bodyPr wrap="square" anchor="t"/>
          <a:lstStyle/>
          <a:p>
            <a:pPr algn="l">
              <a:defRPr sz="1800" b="1">
                <a:solidFill>
                  <a:srgbClr val="7C6AFF"/>
                </a:solidFill>
                <a:latin typeface="Arial"/>
              </a:defRPr>
            </a:pPr>
            <a:r>
              <a:t>•</a:t>
            </a:r>
          </a:p>
        </p:txBody>
      </p:sp>
      <p:sp>
        <p:nvSpPr>
          <p:cNvPr id="11" name="TextBox 10"/>
          <p:cNvSpPr txBox="1"/>
          <p:nvPr/>
        </p:nvSpPr>
        <p:spPr>
          <a:xfrm>
            <a:off x="1280160" y="3520440"/>
            <a:ext cx="9601200" cy="457200"/>
          </a:xfrm>
          <a:prstGeom prst="rect">
            <a:avLst/>
          </a:prstGeom>
          <a:noFill/>
        </p:spPr>
        <p:txBody>
          <a:bodyPr wrap="square" anchor="t"/>
          <a:lstStyle/>
          <a:p>
            <a:pPr algn="l">
              <a:defRPr sz="1800" b="0">
                <a:solidFill>
                  <a:srgbClr val="F0F0F5"/>
                </a:solidFill>
                <a:latin typeface="Arial"/>
              </a:defRPr>
            </a:pPr>
            <a:r>
              <a:t>Adding more GPUs yields diminishing returns due to sync latency</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0F14"/>
        </a:solidFill>
        <a:effectLst/>
      </p:bgPr>
    </p:bg>
    <p:spTree>
      <p:nvGrpSpPr>
        <p:cNvPr id="1" name=""/>
        <p:cNvGrpSpPr/>
        <p:nvPr/>
      </p:nvGrpSpPr>
      <p:grpSpPr/>
      <p:sp>
        <p:nvSpPr>
          <p:cNvPr id="2" name="Rectangle 1"/>
          <p:cNvSpPr/>
          <p:nvPr/>
        </p:nvSpPr>
        <p:spPr>
          <a:xfrm>
            <a:off x="1371600" y="1371600"/>
            <a:ext cx="9418320" cy="4114800"/>
          </a:xfrm>
          <a:prstGeom prst="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645920" y="1188720"/>
            <a:ext cx="914400" cy="914400"/>
          </a:xfrm>
          <a:prstGeom prst="rect">
            <a:avLst/>
          </a:prstGeom>
          <a:noFill/>
        </p:spPr>
        <p:txBody>
          <a:bodyPr wrap="square" anchor="t"/>
          <a:lstStyle/>
          <a:p>
            <a:pPr algn="l">
              <a:defRPr sz="7200" b="1">
                <a:solidFill>
                  <a:srgbClr val="609BFF"/>
                </a:solidFill>
                <a:latin typeface="Arial"/>
              </a:defRPr>
            </a:pPr>
            <a:r>
              <a:t>“</a:t>
            </a:r>
          </a:p>
        </p:txBody>
      </p:sp>
      <p:sp>
        <p:nvSpPr>
          <p:cNvPr id="4" name="TextBox 3"/>
          <p:cNvSpPr txBox="1"/>
          <p:nvPr/>
        </p:nvSpPr>
        <p:spPr>
          <a:xfrm>
            <a:off x="1828800" y="2103120"/>
            <a:ext cx="8503920" cy="2286000"/>
          </a:xfrm>
          <a:prstGeom prst="rect">
            <a:avLst/>
          </a:prstGeom>
          <a:noFill/>
        </p:spPr>
        <p:txBody>
          <a:bodyPr wrap="square" anchor="t"/>
          <a:lstStyle/>
          <a:p>
            <a:pPr algn="l">
              <a:defRPr sz="2400" b="0">
                <a:solidFill>
                  <a:srgbClr val="F0F0F5"/>
                </a:solidFill>
                <a:latin typeface="Arial"/>
              </a:defRPr>
            </a:pPr>
            <a:r>
              <a:t>The Cerebras WSE-2 chip provides approximately 20 PB/s of aggregate bandwidth.</a:t>
            </a:r>
          </a:p>
        </p:txBody>
      </p:sp>
      <p:sp>
        <p:nvSpPr>
          <p:cNvPr id="5" name="TextBox 4"/>
          <p:cNvSpPr txBox="1"/>
          <p:nvPr/>
        </p:nvSpPr>
        <p:spPr>
          <a:xfrm>
            <a:off x="1828800" y="4572000"/>
            <a:ext cx="8503920" cy="457200"/>
          </a:xfrm>
          <a:prstGeom prst="rect">
            <a:avLst/>
          </a:prstGeom>
          <a:noFill/>
        </p:spPr>
        <p:txBody>
          <a:bodyPr wrap="square" anchor="t"/>
          <a:lstStyle/>
          <a:p>
            <a:pPr algn="r">
              <a:defRPr sz="1400" b="0">
                <a:solidFill>
                  <a:srgbClr val="9A9AA8"/>
                </a:solidFill>
                <a:latin typeface="Arial"/>
              </a:defRPr>
            </a:pPr>
            <a:r>
              <a:t>— High-Confidence Claim / Cerebras Technical Specs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14141E"/>
        </a:solidFill>
        <a:effectLst/>
      </p:bgPr>
    </p:bg>
    <p:spTree>
      <p:nvGrpSpPr>
        <p:cNvPr id="1" name=""/>
        <p:cNvGrpSpPr/>
        <p:nvPr/>
      </p:nvGrpSpPr>
      <p:grpSpPr/>
      <p:sp>
        <p:nvSpPr>
          <p:cNvPr id="2" name="TextBox 1"/>
          <p:cNvSpPr txBox="1"/>
          <p:nvPr/>
        </p:nvSpPr>
        <p:spPr>
          <a:xfrm>
            <a:off x="731520" y="1371600"/>
            <a:ext cx="1828800" cy="1097280"/>
          </a:xfrm>
          <a:prstGeom prst="rect">
            <a:avLst/>
          </a:prstGeom>
          <a:noFill/>
        </p:spPr>
        <p:txBody>
          <a:bodyPr wrap="square" anchor="t"/>
          <a:lstStyle/>
          <a:p>
            <a:pPr algn="l">
              <a:defRPr sz="4800" b="1">
                <a:solidFill>
                  <a:srgbClr val="609BFF"/>
                </a:solidFill>
                <a:latin typeface="Arial"/>
              </a:defRPr>
            </a:pPr>
            <a:r>
              <a:t>02</a:t>
            </a:r>
          </a:p>
        </p:txBody>
      </p:sp>
      <p:sp>
        <p:nvSpPr>
          <p:cNvPr id="3" name="TextBox 2"/>
          <p:cNvSpPr txBox="1"/>
          <p:nvPr/>
        </p:nvSpPr>
        <p:spPr>
          <a:xfrm>
            <a:off x="731520" y="2560320"/>
            <a:ext cx="10698480" cy="1371600"/>
          </a:xfrm>
          <a:prstGeom prst="rect">
            <a:avLst/>
          </a:prstGeom>
          <a:noFill/>
        </p:spPr>
        <p:txBody>
          <a:bodyPr wrap="square" anchor="t"/>
          <a:lstStyle/>
          <a:p>
            <a:pPr algn="l">
              <a:defRPr sz="3600" b="1">
                <a:solidFill>
                  <a:srgbClr val="F0F0F5"/>
                </a:solidFill>
                <a:latin typeface="Arial"/>
              </a:defRPr>
            </a:pPr>
            <a:r>
              <a:t>Chapter 2: Engineering the Impossible</a:t>
            </a:r>
          </a:p>
        </p:txBody>
      </p:sp>
      <p:sp>
        <p:nvSpPr>
          <p:cNvPr id="4" name="TextBox 3"/>
          <p:cNvSpPr txBox="1"/>
          <p:nvPr/>
        </p:nvSpPr>
        <p:spPr>
          <a:xfrm>
            <a:off x="731520" y="4023360"/>
            <a:ext cx="10698480" cy="914400"/>
          </a:xfrm>
          <a:prstGeom prst="rect">
            <a:avLst/>
          </a:prstGeom>
          <a:noFill/>
        </p:spPr>
        <p:txBody>
          <a:bodyPr wrap="square" anchor="t"/>
          <a:lstStyle/>
          <a:p>
            <a:pPr algn="l">
              <a:defRPr sz="1800" b="0">
                <a:solidFill>
                  <a:srgbClr val="9A9AA8"/>
                </a:solidFill>
                <a:latin typeface="Arial"/>
              </a:defRPr>
            </a:pPr>
            <a:r>
              <a:t>Power, Cooling, and Software for 20kW Nodes</a:t>
            </a:r>
          </a:p>
        </p:txBody>
      </p:sp>
      <p:sp>
        <p:nvSpPr>
          <p:cNvPr id="5" name="Rectangle 4"/>
          <p:cNvSpPr/>
          <p:nvPr/>
        </p:nvSpPr>
        <p:spPr>
          <a:xfrm>
            <a:off x="731520" y="2377440"/>
            <a:ext cx="1371600" cy="38100"/>
          </a:xfrm>
          <a:prstGeom prst="rect">
            <a:avLst/>
          </a:prstGeom>
          <a:solidFill>
            <a:srgbClr val="609B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0F14"/>
        </a:solidFill>
        <a:effectLst/>
      </p:bgPr>
    </p:bg>
    <p:spTree>
      <p:nvGrpSpPr>
        <p:cNvPr id="1" name=""/>
        <p:cNvGrpSpPr/>
        <p:nvPr/>
      </p:nvGrpSpPr>
      <p:grpSpPr/>
      <p:sp>
        <p:nvSpPr>
          <p:cNvPr id="2" name="TextBox 1"/>
          <p:cNvSpPr txBox="1"/>
          <p:nvPr/>
        </p:nvSpPr>
        <p:spPr>
          <a:xfrm>
            <a:off x="731520" y="457200"/>
            <a:ext cx="10698480" cy="731520"/>
          </a:xfrm>
          <a:prstGeom prst="rect">
            <a:avLst/>
          </a:prstGeom>
          <a:noFill/>
        </p:spPr>
        <p:txBody>
          <a:bodyPr wrap="square" anchor="t"/>
          <a:lstStyle/>
          <a:p>
            <a:pPr algn="l">
              <a:defRPr sz="2800" b="1">
                <a:solidFill>
                  <a:srgbClr val="F0F0F5"/>
                </a:solidFill>
                <a:latin typeface="Arial"/>
              </a:defRPr>
            </a:pPr>
            <a:r>
              <a:t>The Liquid Cooling Revolution</a:t>
            </a:r>
          </a:p>
        </p:txBody>
      </p:sp>
      <p:sp>
        <p:nvSpPr>
          <p:cNvPr id="3" name="Rectangle 2"/>
          <p:cNvSpPr/>
          <p:nvPr/>
        </p:nvSpPr>
        <p:spPr>
          <a:xfrm>
            <a:off x="731520" y="1188720"/>
            <a:ext cx="1371600" cy="38100"/>
          </a:xfrm>
          <a:prstGeom prst="rect">
            <a:avLst/>
          </a:prstGeom>
          <a:solidFill>
            <a:srgbClr val="609B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tmpxsad9_vm.jpg"/>
          <p:cNvPicPr>
            <a:picLocks noChangeAspect="1"/>
          </p:cNvPicPr>
          <p:nvPr/>
        </p:nvPicPr>
        <p:blipFill>
          <a:blip r:embed="rId2"/>
          <a:stretch>
            <a:fillRect/>
          </a:stretch>
        </p:blipFill>
        <p:spPr>
          <a:xfrm>
            <a:off x="731520" y="1645920"/>
            <a:ext cx="5943600" cy="4114800"/>
          </a:xfrm>
          <a:prstGeom prst="rect">
            <a:avLst/>
          </a:prstGeom>
        </p:spPr>
      </p:pic>
      <p:sp>
        <p:nvSpPr>
          <p:cNvPr id="5" name="TextBox 4"/>
          <p:cNvSpPr txBox="1"/>
          <p:nvPr/>
        </p:nvSpPr>
        <p:spPr>
          <a:xfrm>
            <a:off x="731520" y="5943600"/>
            <a:ext cx="5943600" cy="457200"/>
          </a:xfrm>
          <a:prstGeom prst="rect">
            <a:avLst/>
          </a:prstGeom>
          <a:noFill/>
        </p:spPr>
        <p:txBody>
          <a:bodyPr wrap="square" anchor="t"/>
          <a:lstStyle/>
          <a:p>
            <a:pPr algn="ctr">
              <a:defRPr sz="1200" b="0">
                <a:solidFill>
                  <a:srgbClr val="9A9AA8"/>
                </a:solidFill>
                <a:latin typeface="Arial"/>
              </a:defRPr>
            </a:pPr>
            <a:r>
              <a:t>A high-density liquid cooling manifold and distribution unit designed for 20kW+ data center rack loads.</a:t>
            </a:r>
          </a:p>
        </p:txBody>
      </p:sp>
      <p:sp>
        <p:nvSpPr>
          <p:cNvPr id="6" name="TextBox 5"/>
          <p:cNvSpPr txBox="1"/>
          <p:nvPr/>
        </p:nvSpPr>
        <p:spPr>
          <a:xfrm>
            <a:off x="7132320" y="1645920"/>
            <a:ext cx="4297680" cy="548640"/>
          </a:xfrm>
          <a:prstGeom prst="rect">
            <a:avLst/>
          </a:prstGeom>
          <a:noFill/>
        </p:spPr>
        <p:txBody>
          <a:bodyPr wrap="square" anchor="t"/>
          <a:lstStyle/>
          <a:p>
            <a:pPr algn="l">
              <a:defRPr sz="1500" b="0">
                <a:solidFill>
                  <a:srgbClr val="F0F0F5"/>
                </a:solidFill>
                <a:latin typeface="Arial"/>
              </a:defRPr>
            </a:pPr>
            <a:r>
              <a:t>•  Traditional air cooling fails above 15kW per rack</a:t>
            </a:r>
          </a:p>
        </p:txBody>
      </p:sp>
      <p:sp>
        <p:nvSpPr>
          <p:cNvPr id="7" name="TextBox 6"/>
          <p:cNvSpPr txBox="1"/>
          <p:nvPr/>
        </p:nvSpPr>
        <p:spPr>
          <a:xfrm>
            <a:off x="7132320" y="2286000"/>
            <a:ext cx="4297680" cy="548640"/>
          </a:xfrm>
          <a:prstGeom prst="rect">
            <a:avLst/>
          </a:prstGeom>
          <a:noFill/>
        </p:spPr>
        <p:txBody>
          <a:bodyPr wrap="square" anchor="t"/>
          <a:lstStyle/>
          <a:p>
            <a:pPr algn="l">
              <a:defRPr sz="1500" b="0">
                <a:solidFill>
                  <a:srgbClr val="F0F0F5"/>
                </a:solidFill>
                <a:latin typeface="Arial"/>
              </a:defRPr>
            </a:pPr>
            <a:r>
              <a:t>•  WSE-3 racks operate at 46kW to 120kW power density</a:t>
            </a:r>
          </a:p>
        </p:txBody>
      </p:sp>
      <p:sp>
        <p:nvSpPr>
          <p:cNvPr id="8" name="TextBox 7"/>
          <p:cNvSpPr txBox="1"/>
          <p:nvPr/>
        </p:nvSpPr>
        <p:spPr>
          <a:xfrm>
            <a:off x="7132320" y="2926080"/>
            <a:ext cx="4297680" cy="548640"/>
          </a:xfrm>
          <a:prstGeom prst="rect">
            <a:avLst/>
          </a:prstGeom>
          <a:noFill/>
        </p:spPr>
        <p:txBody>
          <a:bodyPr wrap="square" anchor="t"/>
          <a:lstStyle/>
          <a:p>
            <a:pPr algn="l">
              <a:defRPr sz="1500" b="0">
                <a:solidFill>
                  <a:srgbClr val="F0F0F5"/>
                </a:solidFill>
                <a:latin typeface="Arial"/>
              </a:defRPr>
            </a:pPr>
            <a:r>
              <a:t>•  Liquid cooling captures heat with 95%+ efficiency</a:t>
            </a:r>
          </a:p>
        </p:txBody>
      </p:sp>
      <p:sp>
        <p:nvSpPr>
          <p:cNvPr id="9" name="TextBox 8"/>
          <p:cNvSpPr txBox="1"/>
          <p:nvPr/>
        </p:nvSpPr>
        <p:spPr>
          <a:xfrm>
            <a:off x="7132320" y="3566160"/>
            <a:ext cx="4297680" cy="548640"/>
          </a:xfrm>
          <a:prstGeom prst="rect">
            <a:avLst/>
          </a:prstGeom>
          <a:noFill/>
        </p:spPr>
        <p:txBody>
          <a:bodyPr wrap="square" anchor="t"/>
          <a:lstStyle/>
          <a:p>
            <a:pPr algn="l">
              <a:defRPr sz="1500" b="0">
                <a:solidFill>
                  <a:srgbClr val="F0F0F5"/>
                </a:solidFill>
                <a:latin typeface="Arial"/>
              </a:defRPr>
            </a:pPr>
            <a:r>
              <a:t>•  Micro-finned cold plates route coolant directly over hotspots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0F14"/>
        </a:solidFill>
        <a:effectLst/>
      </p:bgPr>
    </p:bg>
    <p:spTree>
      <p:nvGrpSpPr>
        <p:cNvPr id="1" name=""/>
        <p:cNvGrpSpPr/>
        <p:nvPr/>
      </p:nvGrpSpPr>
      <p:grpSpPr/>
      <p:sp>
        <p:nvSpPr>
          <p:cNvPr id="2" name="TextBox 1"/>
          <p:cNvSpPr txBox="1"/>
          <p:nvPr/>
        </p:nvSpPr>
        <p:spPr>
          <a:xfrm>
            <a:off x="731520" y="457200"/>
            <a:ext cx="10698480" cy="731520"/>
          </a:xfrm>
          <a:prstGeom prst="rect">
            <a:avLst/>
          </a:prstGeom>
          <a:noFill/>
        </p:spPr>
        <p:txBody>
          <a:bodyPr wrap="square" anchor="t"/>
          <a:lstStyle/>
          <a:p>
            <a:pPr algn="l">
              <a:defRPr sz="2800" b="1">
                <a:solidFill>
                  <a:srgbClr val="F0F0F5"/>
                </a:solidFill>
                <a:latin typeface="Arial"/>
              </a:defRPr>
            </a:pPr>
            <a:r>
              <a:t>Compiling for the Wafer</a:t>
            </a:r>
          </a:p>
        </p:txBody>
      </p:sp>
      <p:sp>
        <p:nvSpPr>
          <p:cNvPr id="3" name="Rectangle 2"/>
          <p:cNvSpPr/>
          <p:nvPr/>
        </p:nvSpPr>
        <p:spPr>
          <a:xfrm>
            <a:off x="731520" y="1188720"/>
            <a:ext cx="1371600" cy="38100"/>
          </a:xfrm>
          <a:prstGeom prst="rect">
            <a:avLst/>
          </a:prstGeom>
          <a:solidFill>
            <a:srgbClr val="609B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1463040"/>
            <a:ext cx="365760" cy="457200"/>
          </a:xfrm>
          <a:prstGeom prst="rect">
            <a:avLst/>
          </a:prstGeom>
          <a:noFill/>
        </p:spPr>
        <p:txBody>
          <a:bodyPr wrap="square" anchor="t"/>
          <a:lstStyle/>
          <a:p>
            <a:pPr algn="l">
              <a:defRPr sz="1800" b="1">
                <a:solidFill>
                  <a:srgbClr val="609BFF"/>
                </a:solidFill>
                <a:latin typeface="Arial"/>
              </a:defRPr>
            </a:pPr>
            <a:r>
              <a:t>•</a:t>
            </a:r>
          </a:p>
        </p:txBody>
      </p:sp>
      <p:sp>
        <p:nvSpPr>
          <p:cNvPr id="5" name="TextBox 4"/>
          <p:cNvSpPr txBox="1"/>
          <p:nvPr/>
        </p:nvSpPr>
        <p:spPr>
          <a:xfrm>
            <a:off x="1280160" y="1463040"/>
            <a:ext cx="9601200" cy="457200"/>
          </a:xfrm>
          <a:prstGeom prst="rect">
            <a:avLst/>
          </a:prstGeom>
          <a:noFill/>
        </p:spPr>
        <p:txBody>
          <a:bodyPr wrap="square" anchor="t"/>
          <a:lstStyle/>
          <a:p>
            <a:pPr algn="l">
              <a:defRPr sz="1800" b="0">
                <a:solidFill>
                  <a:srgbClr val="F0F0F5"/>
                </a:solidFill>
                <a:latin typeface="Arial"/>
              </a:defRPr>
            </a:pPr>
            <a:r>
              <a:t>Cerebras Software Platform provides CUDA-compatible APIs</a:t>
            </a:r>
          </a:p>
        </p:txBody>
      </p:sp>
      <p:sp>
        <p:nvSpPr>
          <p:cNvPr id="6" name="TextBox 5"/>
          <p:cNvSpPr txBox="1"/>
          <p:nvPr/>
        </p:nvSpPr>
        <p:spPr>
          <a:xfrm>
            <a:off x="731520" y="2148840"/>
            <a:ext cx="365760" cy="457200"/>
          </a:xfrm>
          <a:prstGeom prst="rect">
            <a:avLst/>
          </a:prstGeom>
          <a:noFill/>
        </p:spPr>
        <p:txBody>
          <a:bodyPr wrap="square" anchor="t"/>
          <a:lstStyle/>
          <a:p>
            <a:pPr algn="l">
              <a:defRPr sz="1800" b="1">
                <a:solidFill>
                  <a:srgbClr val="7C6AFF"/>
                </a:solidFill>
                <a:latin typeface="Arial"/>
              </a:defRPr>
            </a:pPr>
            <a:r>
              <a:t>•</a:t>
            </a:r>
          </a:p>
        </p:txBody>
      </p:sp>
      <p:sp>
        <p:nvSpPr>
          <p:cNvPr id="7" name="TextBox 6"/>
          <p:cNvSpPr txBox="1"/>
          <p:nvPr/>
        </p:nvSpPr>
        <p:spPr>
          <a:xfrm>
            <a:off x="1280160" y="2148840"/>
            <a:ext cx="9601200" cy="457200"/>
          </a:xfrm>
          <a:prstGeom prst="rect">
            <a:avLst/>
          </a:prstGeom>
          <a:noFill/>
        </p:spPr>
        <p:txBody>
          <a:bodyPr wrap="square" anchor="t"/>
          <a:lstStyle/>
          <a:p>
            <a:pPr algn="l">
              <a:defRPr sz="1800" b="0">
                <a:solidFill>
                  <a:srgbClr val="F0F0F5"/>
                </a:solidFill>
                <a:latin typeface="Arial"/>
              </a:defRPr>
            </a:pPr>
            <a:r>
              <a:t>Weight stationary execution model keeps parameters in SRAM</a:t>
            </a:r>
          </a:p>
        </p:txBody>
      </p:sp>
      <p:sp>
        <p:nvSpPr>
          <p:cNvPr id="8" name="TextBox 7"/>
          <p:cNvSpPr txBox="1"/>
          <p:nvPr/>
        </p:nvSpPr>
        <p:spPr>
          <a:xfrm>
            <a:off x="731520" y="2834640"/>
            <a:ext cx="365760" cy="457200"/>
          </a:xfrm>
          <a:prstGeom prst="rect">
            <a:avLst/>
          </a:prstGeom>
          <a:noFill/>
        </p:spPr>
        <p:txBody>
          <a:bodyPr wrap="square" anchor="t"/>
          <a:lstStyle/>
          <a:p>
            <a:pPr algn="l">
              <a:defRPr sz="1800" b="1">
                <a:solidFill>
                  <a:srgbClr val="609BFF"/>
                </a:solidFill>
                <a:latin typeface="Arial"/>
              </a:defRPr>
            </a:pPr>
            <a:r>
              <a:t>•</a:t>
            </a:r>
          </a:p>
        </p:txBody>
      </p:sp>
      <p:sp>
        <p:nvSpPr>
          <p:cNvPr id="9" name="TextBox 8"/>
          <p:cNvSpPr txBox="1"/>
          <p:nvPr/>
        </p:nvSpPr>
        <p:spPr>
          <a:xfrm>
            <a:off x="1280160" y="2834640"/>
            <a:ext cx="9601200" cy="457200"/>
          </a:xfrm>
          <a:prstGeom prst="rect">
            <a:avLst/>
          </a:prstGeom>
          <a:noFill/>
        </p:spPr>
        <p:txBody>
          <a:bodyPr wrap="square" anchor="t"/>
          <a:lstStyle/>
          <a:p>
            <a:pPr algn="l">
              <a:defRPr sz="1800" b="0">
                <a:solidFill>
                  <a:srgbClr val="F0F0F5"/>
                </a:solidFill>
                <a:latin typeface="Arial"/>
              </a:defRPr>
            </a:pPr>
            <a:r>
              <a:t>OpenXLA and Triton enable hardware-agnostic kernel development</a:t>
            </a:r>
          </a:p>
        </p:txBody>
      </p:sp>
      <p:sp>
        <p:nvSpPr>
          <p:cNvPr id="10" name="TextBox 9"/>
          <p:cNvSpPr txBox="1"/>
          <p:nvPr/>
        </p:nvSpPr>
        <p:spPr>
          <a:xfrm>
            <a:off x="731520" y="3520440"/>
            <a:ext cx="365760" cy="457200"/>
          </a:xfrm>
          <a:prstGeom prst="rect">
            <a:avLst/>
          </a:prstGeom>
          <a:noFill/>
        </p:spPr>
        <p:txBody>
          <a:bodyPr wrap="square" anchor="t"/>
          <a:lstStyle/>
          <a:p>
            <a:pPr algn="l">
              <a:defRPr sz="1800" b="1">
                <a:solidFill>
                  <a:srgbClr val="7C6AFF"/>
                </a:solidFill>
                <a:latin typeface="Arial"/>
              </a:defRPr>
            </a:pPr>
            <a:r>
              <a:t>•</a:t>
            </a:r>
          </a:p>
        </p:txBody>
      </p:sp>
      <p:sp>
        <p:nvSpPr>
          <p:cNvPr id="11" name="TextBox 10"/>
          <p:cNvSpPr txBox="1"/>
          <p:nvPr/>
        </p:nvSpPr>
        <p:spPr>
          <a:xfrm>
            <a:off x="1280160" y="3520440"/>
            <a:ext cx="9601200" cy="457200"/>
          </a:xfrm>
          <a:prstGeom prst="rect">
            <a:avLst/>
          </a:prstGeom>
          <a:noFill/>
        </p:spPr>
        <p:txBody>
          <a:bodyPr wrap="square" anchor="t"/>
          <a:lstStyle/>
          <a:p>
            <a:pPr algn="l">
              <a:defRPr sz="1800" b="0">
                <a:solidFill>
                  <a:srgbClr val="F0F0F5"/>
                </a:solidFill>
                <a:latin typeface="Arial"/>
              </a:defRPr>
            </a:pPr>
            <a:r>
              <a:t>Automatic partitioning across 900,000 cores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0F14"/>
        </a:solidFill>
        <a:effectLst/>
      </p:bgPr>
    </p:bg>
    <p:spTree>
      <p:nvGrpSpPr>
        <p:cNvPr id="1" name=""/>
        <p:cNvGrpSpPr/>
        <p:nvPr/>
      </p:nvGrpSpPr>
      <p:grpSpPr/>
      <p:sp>
        <p:nvSpPr>
          <p:cNvPr id="2" name="Rectangle 1"/>
          <p:cNvSpPr/>
          <p:nvPr/>
        </p:nvSpPr>
        <p:spPr>
          <a:xfrm>
            <a:off x="1371600" y="1371600"/>
            <a:ext cx="9418320" cy="4114800"/>
          </a:xfrm>
          <a:prstGeom prst="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645920" y="1188720"/>
            <a:ext cx="914400" cy="914400"/>
          </a:xfrm>
          <a:prstGeom prst="rect">
            <a:avLst/>
          </a:prstGeom>
          <a:noFill/>
        </p:spPr>
        <p:txBody>
          <a:bodyPr wrap="square" anchor="t"/>
          <a:lstStyle/>
          <a:p>
            <a:pPr algn="l">
              <a:defRPr sz="7200" b="1">
                <a:solidFill>
                  <a:srgbClr val="609BFF"/>
                </a:solidFill>
                <a:latin typeface="Arial"/>
              </a:defRPr>
            </a:pPr>
            <a:r>
              <a:t>“</a:t>
            </a:r>
          </a:p>
        </p:txBody>
      </p:sp>
      <p:sp>
        <p:nvSpPr>
          <p:cNvPr id="4" name="TextBox 3"/>
          <p:cNvSpPr txBox="1"/>
          <p:nvPr/>
        </p:nvSpPr>
        <p:spPr>
          <a:xfrm>
            <a:off x="1828800" y="2103120"/>
            <a:ext cx="8503920" cy="2286000"/>
          </a:xfrm>
          <a:prstGeom prst="rect">
            <a:avLst/>
          </a:prstGeom>
          <a:noFill/>
        </p:spPr>
        <p:txBody>
          <a:bodyPr wrap="square" anchor="t"/>
          <a:lstStyle/>
          <a:p>
            <a:pPr algn="l">
              <a:defRPr sz="2400" b="0">
                <a:solidFill>
                  <a:srgbClr val="F0F0F5"/>
                </a:solidFill>
                <a:latin typeface="Arial"/>
              </a:defRPr>
            </a:pPr>
            <a:r>
              <a:t>The WaferLLM system achieves inference latency of less than one millisecond per token.</a:t>
            </a:r>
          </a:p>
        </p:txBody>
      </p:sp>
      <p:sp>
        <p:nvSpPr>
          <p:cNvPr id="5" name="TextBox 4"/>
          <p:cNvSpPr txBox="1"/>
          <p:nvPr/>
        </p:nvSpPr>
        <p:spPr>
          <a:xfrm>
            <a:off x="1828800" y="4572000"/>
            <a:ext cx="8503920" cy="457200"/>
          </a:xfrm>
          <a:prstGeom prst="rect">
            <a:avLst/>
          </a:prstGeom>
          <a:noFill/>
        </p:spPr>
        <p:txBody>
          <a:bodyPr wrap="square" anchor="t"/>
          <a:lstStyle/>
          <a:p>
            <a:pPr algn="r">
              <a:defRPr sz="1400" b="0">
                <a:solidFill>
                  <a:srgbClr val="9A9AA8"/>
                </a:solidFill>
                <a:latin typeface="Arial"/>
              </a:defRPr>
            </a:pPr>
            <a:r>
              <a:t>— High-Confidence Claim</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14141E"/>
        </a:solidFill>
        <a:effectLst/>
      </p:bgPr>
    </p:bg>
    <p:spTree>
      <p:nvGrpSpPr>
        <p:cNvPr id="1" name=""/>
        <p:cNvGrpSpPr/>
        <p:nvPr/>
      </p:nvGrpSpPr>
      <p:grpSpPr/>
      <p:sp>
        <p:nvSpPr>
          <p:cNvPr id="2" name="TextBox 1"/>
          <p:cNvSpPr txBox="1"/>
          <p:nvPr/>
        </p:nvSpPr>
        <p:spPr>
          <a:xfrm>
            <a:off x="731520" y="1371600"/>
            <a:ext cx="1828800" cy="1097280"/>
          </a:xfrm>
          <a:prstGeom prst="rect">
            <a:avLst/>
          </a:prstGeom>
          <a:noFill/>
        </p:spPr>
        <p:txBody>
          <a:bodyPr wrap="square" anchor="t"/>
          <a:lstStyle/>
          <a:p>
            <a:pPr algn="l">
              <a:defRPr sz="4800" b="1">
                <a:solidFill>
                  <a:srgbClr val="609BFF"/>
                </a:solidFill>
                <a:latin typeface="Arial"/>
              </a:defRPr>
            </a:pPr>
            <a:r>
              <a:t>03</a:t>
            </a:r>
          </a:p>
        </p:txBody>
      </p:sp>
      <p:sp>
        <p:nvSpPr>
          <p:cNvPr id="3" name="TextBox 2"/>
          <p:cNvSpPr txBox="1"/>
          <p:nvPr/>
        </p:nvSpPr>
        <p:spPr>
          <a:xfrm>
            <a:off x="731520" y="2560320"/>
            <a:ext cx="10698480" cy="1371600"/>
          </a:xfrm>
          <a:prstGeom prst="rect">
            <a:avLst/>
          </a:prstGeom>
          <a:noFill/>
        </p:spPr>
        <p:txBody>
          <a:bodyPr wrap="square" anchor="t"/>
          <a:lstStyle/>
          <a:p>
            <a:pPr algn="l">
              <a:defRPr sz="3600" b="1">
                <a:solidFill>
                  <a:srgbClr val="F0F0F5"/>
                </a:solidFill>
                <a:latin typeface="Arial"/>
              </a:defRPr>
            </a:pPr>
            <a:r>
              <a:t>Chapter 3: The End of Monoculture</a:t>
            </a:r>
          </a:p>
        </p:txBody>
      </p:sp>
      <p:sp>
        <p:nvSpPr>
          <p:cNvPr id="4" name="TextBox 3"/>
          <p:cNvSpPr txBox="1"/>
          <p:nvPr/>
        </p:nvSpPr>
        <p:spPr>
          <a:xfrm>
            <a:off x="731520" y="4023360"/>
            <a:ext cx="10698480" cy="914400"/>
          </a:xfrm>
          <a:prstGeom prst="rect">
            <a:avLst/>
          </a:prstGeom>
          <a:noFill/>
        </p:spPr>
        <p:txBody>
          <a:bodyPr wrap="square" anchor="t"/>
          <a:lstStyle/>
          <a:p>
            <a:pPr algn="l">
              <a:defRPr sz="1800" b="0">
                <a:solidFill>
                  <a:srgbClr val="9A9AA8"/>
                </a:solidFill>
                <a:latin typeface="Arial"/>
              </a:defRPr>
            </a:pPr>
            <a:r>
              <a:t>Economic Defensibility and Industry Transformation</a:t>
            </a:r>
          </a:p>
        </p:txBody>
      </p:sp>
      <p:sp>
        <p:nvSpPr>
          <p:cNvPr id="5" name="Rectangle 4"/>
          <p:cNvSpPr/>
          <p:nvPr/>
        </p:nvSpPr>
        <p:spPr>
          <a:xfrm>
            <a:off x="731520" y="2377440"/>
            <a:ext cx="1371600" cy="38100"/>
          </a:xfrm>
          <a:prstGeom prst="rect">
            <a:avLst/>
          </a:prstGeom>
          <a:solidFill>
            <a:srgbClr val="609B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0F14"/>
        </a:solidFill>
        <a:effectLst/>
      </p:bgPr>
    </p:bg>
    <p:spTree>
      <p:nvGrpSpPr>
        <p:cNvPr id="1" name=""/>
        <p:cNvGrpSpPr/>
        <p:nvPr/>
      </p:nvGrpSpPr>
      <p:grpSpPr/>
      <p:sp>
        <p:nvSpPr>
          <p:cNvPr id="2" name="TextBox 1"/>
          <p:cNvSpPr txBox="1"/>
          <p:nvPr/>
        </p:nvSpPr>
        <p:spPr>
          <a:xfrm>
            <a:off x="731520" y="457200"/>
            <a:ext cx="10698480" cy="731520"/>
          </a:xfrm>
          <a:prstGeom prst="rect">
            <a:avLst/>
          </a:prstGeom>
          <a:noFill/>
        </p:spPr>
        <p:txBody>
          <a:bodyPr wrap="square" anchor="t"/>
          <a:lstStyle/>
          <a:p>
            <a:pPr algn="l">
              <a:defRPr sz="2800" b="1">
                <a:solidFill>
                  <a:srgbClr val="F0F0F5"/>
                </a:solidFill>
                <a:latin typeface="Arial"/>
              </a:defRPr>
            </a:pPr>
            <a:r>
              <a:t>Breaking the CUDA Lock-In</a:t>
            </a:r>
          </a:p>
        </p:txBody>
      </p:sp>
      <p:sp>
        <p:nvSpPr>
          <p:cNvPr id="3" name="Rectangle 2"/>
          <p:cNvSpPr/>
          <p:nvPr/>
        </p:nvSpPr>
        <p:spPr>
          <a:xfrm>
            <a:off x="731520" y="1188720"/>
            <a:ext cx="1371600" cy="38100"/>
          </a:xfrm>
          <a:prstGeom prst="rect">
            <a:avLst/>
          </a:prstGeom>
          <a:solidFill>
            <a:srgbClr val="609B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1463040"/>
            <a:ext cx="365760" cy="457200"/>
          </a:xfrm>
          <a:prstGeom prst="rect">
            <a:avLst/>
          </a:prstGeom>
          <a:noFill/>
        </p:spPr>
        <p:txBody>
          <a:bodyPr wrap="square" anchor="t"/>
          <a:lstStyle/>
          <a:p>
            <a:pPr algn="l">
              <a:defRPr sz="1800" b="1">
                <a:solidFill>
                  <a:srgbClr val="609BFF"/>
                </a:solidFill>
                <a:latin typeface="Arial"/>
              </a:defRPr>
            </a:pPr>
            <a:r>
              <a:t>•</a:t>
            </a:r>
          </a:p>
        </p:txBody>
      </p:sp>
      <p:sp>
        <p:nvSpPr>
          <p:cNvPr id="5" name="TextBox 4"/>
          <p:cNvSpPr txBox="1"/>
          <p:nvPr/>
        </p:nvSpPr>
        <p:spPr>
          <a:xfrm>
            <a:off x="1280160" y="1463040"/>
            <a:ext cx="9601200" cy="457200"/>
          </a:xfrm>
          <a:prstGeom prst="rect">
            <a:avLst/>
          </a:prstGeom>
          <a:noFill/>
        </p:spPr>
        <p:txBody>
          <a:bodyPr wrap="square" anchor="t"/>
          <a:lstStyle/>
          <a:p>
            <a:pPr algn="l">
              <a:defRPr sz="1800" b="0">
                <a:solidFill>
                  <a:srgbClr val="F0F0F5"/>
                </a:solidFill>
                <a:latin typeface="Arial"/>
              </a:defRPr>
            </a:pPr>
            <a:r>
              <a:t>AWS, Google, and Microsoft deploying custom 3nm silicon</a:t>
            </a:r>
          </a:p>
        </p:txBody>
      </p:sp>
      <p:sp>
        <p:nvSpPr>
          <p:cNvPr id="6" name="TextBox 5"/>
          <p:cNvSpPr txBox="1"/>
          <p:nvPr/>
        </p:nvSpPr>
        <p:spPr>
          <a:xfrm>
            <a:off x="731520" y="2148840"/>
            <a:ext cx="365760" cy="457200"/>
          </a:xfrm>
          <a:prstGeom prst="rect">
            <a:avLst/>
          </a:prstGeom>
          <a:noFill/>
        </p:spPr>
        <p:txBody>
          <a:bodyPr wrap="square" anchor="t"/>
          <a:lstStyle/>
          <a:p>
            <a:pPr algn="l">
              <a:defRPr sz="1800" b="1">
                <a:solidFill>
                  <a:srgbClr val="7C6AFF"/>
                </a:solidFill>
                <a:latin typeface="Arial"/>
              </a:defRPr>
            </a:pPr>
            <a:r>
              <a:t>•</a:t>
            </a:r>
          </a:p>
        </p:txBody>
      </p:sp>
      <p:sp>
        <p:nvSpPr>
          <p:cNvPr id="7" name="TextBox 6"/>
          <p:cNvSpPr txBox="1"/>
          <p:nvPr/>
        </p:nvSpPr>
        <p:spPr>
          <a:xfrm>
            <a:off x="1280160" y="2148840"/>
            <a:ext cx="9601200" cy="457200"/>
          </a:xfrm>
          <a:prstGeom prst="rect">
            <a:avLst/>
          </a:prstGeom>
          <a:noFill/>
        </p:spPr>
        <p:txBody>
          <a:bodyPr wrap="square" anchor="t"/>
          <a:lstStyle/>
          <a:p>
            <a:pPr algn="l">
              <a:defRPr sz="1800" b="0">
                <a:solidFill>
                  <a:srgbClr val="F0F0F5"/>
                </a:solidFill>
                <a:latin typeface="Arial"/>
              </a:defRPr>
            </a:pPr>
            <a:r>
              <a:t>TCO reductions of 30-40% compared to NVIDIA Blackwell</a:t>
            </a:r>
          </a:p>
        </p:txBody>
      </p:sp>
      <p:sp>
        <p:nvSpPr>
          <p:cNvPr id="8" name="TextBox 7"/>
          <p:cNvSpPr txBox="1"/>
          <p:nvPr/>
        </p:nvSpPr>
        <p:spPr>
          <a:xfrm>
            <a:off x="731520" y="2834640"/>
            <a:ext cx="365760" cy="457200"/>
          </a:xfrm>
          <a:prstGeom prst="rect">
            <a:avLst/>
          </a:prstGeom>
          <a:noFill/>
        </p:spPr>
        <p:txBody>
          <a:bodyPr wrap="square" anchor="t"/>
          <a:lstStyle/>
          <a:p>
            <a:pPr algn="l">
              <a:defRPr sz="1800" b="1">
                <a:solidFill>
                  <a:srgbClr val="609BFF"/>
                </a:solidFill>
                <a:latin typeface="Arial"/>
              </a:defRPr>
            </a:pPr>
            <a:r>
              <a:t>•</a:t>
            </a:r>
          </a:p>
        </p:txBody>
      </p:sp>
      <p:sp>
        <p:nvSpPr>
          <p:cNvPr id="9" name="TextBox 8"/>
          <p:cNvSpPr txBox="1"/>
          <p:nvPr/>
        </p:nvSpPr>
        <p:spPr>
          <a:xfrm>
            <a:off x="1280160" y="2834640"/>
            <a:ext cx="9601200" cy="457200"/>
          </a:xfrm>
          <a:prstGeom prst="rect">
            <a:avLst/>
          </a:prstGeom>
          <a:noFill/>
        </p:spPr>
        <p:txBody>
          <a:bodyPr wrap="square" anchor="t"/>
          <a:lstStyle/>
          <a:p>
            <a:pPr algn="l">
              <a:defRPr sz="1800" b="0">
                <a:solidFill>
                  <a:srgbClr val="F0F0F5"/>
                </a:solidFill>
                <a:latin typeface="Arial"/>
              </a:defRPr>
            </a:pPr>
            <a:r>
              <a:t>OpenAI's 750MW commitment to Cerebras infrastructure</a:t>
            </a:r>
          </a:p>
        </p:txBody>
      </p:sp>
      <p:sp>
        <p:nvSpPr>
          <p:cNvPr id="10" name="TextBox 9"/>
          <p:cNvSpPr txBox="1"/>
          <p:nvPr/>
        </p:nvSpPr>
        <p:spPr>
          <a:xfrm>
            <a:off x="731520" y="3520440"/>
            <a:ext cx="365760" cy="457200"/>
          </a:xfrm>
          <a:prstGeom prst="rect">
            <a:avLst/>
          </a:prstGeom>
          <a:noFill/>
        </p:spPr>
        <p:txBody>
          <a:bodyPr wrap="square" anchor="t"/>
          <a:lstStyle/>
          <a:p>
            <a:pPr algn="l">
              <a:defRPr sz="1800" b="1">
                <a:solidFill>
                  <a:srgbClr val="7C6AFF"/>
                </a:solidFill>
                <a:latin typeface="Arial"/>
              </a:defRPr>
            </a:pPr>
            <a:r>
              <a:t>•</a:t>
            </a:r>
          </a:p>
        </p:txBody>
      </p:sp>
      <p:sp>
        <p:nvSpPr>
          <p:cNvPr id="11" name="TextBox 10"/>
          <p:cNvSpPr txBox="1"/>
          <p:nvPr/>
        </p:nvSpPr>
        <p:spPr>
          <a:xfrm>
            <a:off x="1280160" y="3520440"/>
            <a:ext cx="9601200" cy="457200"/>
          </a:xfrm>
          <a:prstGeom prst="rect">
            <a:avLst/>
          </a:prstGeom>
          <a:noFill/>
        </p:spPr>
        <p:txBody>
          <a:bodyPr wrap="square" anchor="t"/>
          <a:lstStyle/>
          <a:p>
            <a:pPr algn="l">
              <a:defRPr sz="1800" b="0">
                <a:solidFill>
                  <a:srgbClr val="F0F0F5"/>
                </a:solidFill>
                <a:latin typeface="Arial"/>
              </a:defRPr>
            </a:pPr>
            <a:r>
              <a:t>Heterogeneous stacks as insurance against monopoly pricing</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0F14"/>
        </a:solidFill>
        <a:effectLst/>
      </p:bgPr>
    </p:bg>
    <p:spTree>
      <p:nvGrpSpPr>
        <p:cNvPr id="1" name=""/>
        <p:cNvGrpSpPr/>
        <p:nvPr/>
      </p:nvGrpSpPr>
      <p:grpSpPr/>
      <p:sp>
        <p:nvSpPr>
          <p:cNvPr id="2" name="TextBox 1"/>
          <p:cNvSpPr txBox="1"/>
          <p:nvPr/>
        </p:nvSpPr>
        <p:spPr>
          <a:xfrm>
            <a:off x="731520" y="457200"/>
            <a:ext cx="10698480" cy="731520"/>
          </a:xfrm>
          <a:prstGeom prst="rect">
            <a:avLst/>
          </a:prstGeom>
          <a:noFill/>
        </p:spPr>
        <p:txBody>
          <a:bodyPr wrap="square" anchor="t"/>
          <a:lstStyle/>
          <a:p>
            <a:pPr algn="l">
              <a:defRPr sz="2800" b="1">
                <a:solidFill>
                  <a:srgbClr val="F0F0F5"/>
                </a:solidFill>
                <a:latin typeface="Arial"/>
              </a:defRPr>
            </a:pPr>
            <a:r>
              <a:t>Sources &amp; References</a:t>
            </a:r>
          </a:p>
        </p:txBody>
      </p:sp>
      <p:sp>
        <p:nvSpPr>
          <p:cNvPr id="3" name="Rectangle 2"/>
          <p:cNvSpPr/>
          <p:nvPr/>
        </p:nvSpPr>
        <p:spPr>
          <a:xfrm>
            <a:off x="731520" y="1188720"/>
            <a:ext cx="1371600" cy="38100"/>
          </a:xfrm>
          <a:prstGeom prst="rect">
            <a:avLst/>
          </a:prstGeom>
          <a:solidFill>
            <a:srgbClr val="609B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1463040"/>
            <a:ext cx="5029200" cy="365760"/>
          </a:xfrm>
          <a:prstGeom prst="rect">
            <a:avLst/>
          </a:prstGeom>
          <a:noFill/>
        </p:spPr>
        <p:txBody>
          <a:bodyPr wrap="square" anchor="t"/>
          <a:lstStyle/>
          <a:p>
            <a:pPr algn="l">
              <a:defRPr sz="1100" b="1">
                <a:solidFill>
                  <a:srgbClr val="F0F0F5"/>
                </a:solidFill>
                <a:latin typeface="Arial"/>
              </a:defRPr>
            </a:pPr>
            <a:r>
              <a:t>1. Wafer-Scale AI Compute: A System Software Perspective - acm sigops</a:t>
            </a:r>
          </a:p>
        </p:txBody>
      </p:sp>
      <p:sp>
        <p:nvSpPr>
          <p:cNvPr id="5" name="TextBox 4"/>
          <p:cNvSpPr txBox="1"/>
          <p:nvPr/>
        </p:nvSpPr>
        <p:spPr>
          <a:xfrm>
            <a:off x="731520" y="1783080"/>
            <a:ext cx="5029200" cy="274320"/>
          </a:xfrm>
          <a:prstGeom prst="rect">
            <a:avLst/>
          </a:prstGeom>
          <a:noFill/>
        </p:spPr>
        <p:txBody>
          <a:bodyPr wrap="square" anchor="t"/>
          <a:lstStyle/>
          <a:p>
            <a:pPr algn="l">
              <a:defRPr sz="900" b="0">
                <a:solidFill>
                  <a:srgbClr val="9A9AA8"/>
                </a:solidFill>
                <a:latin typeface="Arial"/>
              </a:defRPr>
            </a:pPr>
            <a:r>
              <a:t>https://www.sigops.org/2025/wafer-scale-ai-compute-a-system-...</a:t>
            </a:r>
          </a:p>
        </p:txBody>
      </p:sp>
      <p:sp>
        <p:nvSpPr>
          <p:cNvPr id="6" name="TextBox 5"/>
          <p:cNvSpPr txBox="1"/>
          <p:nvPr/>
        </p:nvSpPr>
        <p:spPr>
          <a:xfrm>
            <a:off x="731520" y="2240280"/>
            <a:ext cx="5029200" cy="365760"/>
          </a:xfrm>
          <a:prstGeom prst="rect">
            <a:avLst/>
          </a:prstGeom>
          <a:noFill/>
        </p:spPr>
        <p:txBody>
          <a:bodyPr wrap="square" anchor="t"/>
          <a:lstStyle/>
          <a:p>
            <a:pPr algn="l">
              <a:defRPr sz="1100" b="1">
                <a:solidFill>
                  <a:srgbClr val="F0F0F5"/>
                </a:solidFill>
                <a:latin typeface="Arial"/>
              </a:defRPr>
            </a:pPr>
            <a:r>
              <a:t>2. Raising programmer productivity for stencil-based workloads on ...</a:t>
            </a:r>
          </a:p>
        </p:txBody>
      </p:sp>
      <p:sp>
        <p:nvSpPr>
          <p:cNvPr id="7" name="TextBox 6"/>
          <p:cNvSpPr txBox="1"/>
          <p:nvPr/>
        </p:nvSpPr>
        <p:spPr>
          <a:xfrm>
            <a:off x="731520" y="2560320"/>
            <a:ext cx="5029200" cy="274320"/>
          </a:xfrm>
          <a:prstGeom prst="rect">
            <a:avLst/>
          </a:prstGeom>
          <a:noFill/>
        </p:spPr>
        <p:txBody>
          <a:bodyPr wrap="square" anchor="t"/>
          <a:lstStyle/>
          <a:p>
            <a:pPr algn="l">
              <a:defRPr sz="900" b="0">
                <a:solidFill>
                  <a:srgbClr val="9A9AA8"/>
                </a:solidFill>
                <a:latin typeface="Arial"/>
              </a:defRPr>
            </a:pPr>
            <a:r>
              <a:t>https://www.epcc.ed.ac.uk/whats-happening/articles/raising-p...</a:t>
            </a:r>
          </a:p>
        </p:txBody>
      </p:sp>
      <p:sp>
        <p:nvSpPr>
          <p:cNvPr id="8" name="TextBox 7"/>
          <p:cNvSpPr txBox="1"/>
          <p:nvPr/>
        </p:nvSpPr>
        <p:spPr>
          <a:xfrm>
            <a:off x="731520" y="3017520"/>
            <a:ext cx="5029200" cy="365760"/>
          </a:xfrm>
          <a:prstGeom prst="rect">
            <a:avLst/>
          </a:prstGeom>
          <a:noFill/>
        </p:spPr>
        <p:txBody>
          <a:bodyPr wrap="square" anchor="t"/>
          <a:lstStyle/>
          <a:p>
            <a:pPr algn="l">
              <a:defRPr sz="1100" b="1">
                <a:solidFill>
                  <a:srgbClr val="F0F0F5"/>
                </a:solidFill>
                <a:latin typeface="Arial"/>
              </a:defRPr>
            </a:pPr>
            <a:r>
              <a:t>3. [PDF] Evaluating and Mitigating Bandwidth Bottlenecks Across the ...</a:t>
            </a:r>
          </a:p>
        </p:txBody>
      </p:sp>
      <p:sp>
        <p:nvSpPr>
          <p:cNvPr id="9" name="TextBox 8"/>
          <p:cNvSpPr txBox="1"/>
          <p:nvPr/>
        </p:nvSpPr>
        <p:spPr>
          <a:xfrm>
            <a:off x="731520" y="3337560"/>
            <a:ext cx="5029200" cy="274320"/>
          </a:xfrm>
          <a:prstGeom prst="rect">
            <a:avLst/>
          </a:prstGeom>
          <a:noFill/>
        </p:spPr>
        <p:txBody>
          <a:bodyPr wrap="square" anchor="t"/>
          <a:lstStyle/>
          <a:p>
            <a:pPr algn="l">
              <a:defRPr sz="900" b="0">
                <a:solidFill>
                  <a:srgbClr val="9A9AA8"/>
                </a:solidFill>
                <a:latin typeface="Arial"/>
              </a:defRPr>
            </a:pPr>
            <a:r>
              <a:t>https://users.cs.utah.edu/~vijay/papers/ispass17.pdf</a:t>
            </a:r>
          </a:p>
        </p:txBody>
      </p:sp>
      <p:sp>
        <p:nvSpPr>
          <p:cNvPr id="10" name="TextBox 9"/>
          <p:cNvSpPr txBox="1"/>
          <p:nvPr/>
        </p:nvSpPr>
        <p:spPr>
          <a:xfrm>
            <a:off x="731520" y="3794760"/>
            <a:ext cx="5029200" cy="365760"/>
          </a:xfrm>
          <a:prstGeom prst="rect">
            <a:avLst/>
          </a:prstGeom>
          <a:noFill/>
        </p:spPr>
        <p:txBody>
          <a:bodyPr wrap="square" anchor="t"/>
          <a:lstStyle/>
          <a:p>
            <a:pPr algn="l">
              <a:defRPr sz="1100" b="1">
                <a:solidFill>
                  <a:srgbClr val="F0F0F5"/>
                </a:solidFill>
                <a:latin typeface="Arial"/>
              </a:defRPr>
            </a:pPr>
            <a:r>
              <a:t>4. FRED: A Wafer-scale Fabric for 3D Parallel DNN Training - arXiv</a:t>
            </a:r>
          </a:p>
        </p:txBody>
      </p:sp>
      <p:sp>
        <p:nvSpPr>
          <p:cNvPr id="11" name="TextBox 10"/>
          <p:cNvSpPr txBox="1"/>
          <p:nvPr/>
        </p:nvSpPr>
        <p:spPr>
          <a:xfrm>
            <a:off x="731520" y="4114800"/>
            <a:ext cx="5029200" cy="274320"/>
          </a:xfrm>
          <a:prstGeom prst="rect">
            <a:avLst/>
          </a:prstGeom>
          <a:noFill/>
        </p:spPr>
        <p:txBody>
          <a:bodyPr wrap="square" anchor="t"/>
          <a:lstStyle/>
          <a:p>
            <a:pPr algn="l">
              <a:defRPr sz="900" b="0">
                <a:solidFill>
                  <a:srgbClr val="9A9AA8"/>
                </a:solidFill>
                <a:latin typeface="Arial"/>
              </a:defRPr>
            </a:pPr>
            <a:r>
              <a:t>https://arxiv.org/html/2406.19580v2</a:t>
            </a:r>
          </a:p>
        </p:txBody>
      </p:sp>
      <p:sp>
        <p:nvSpPr>
          <p:cNvPr id="12" name="TextBox 11"/>
          <p:cNvSpPr txBox="1"/>
          <p:nvPr/>
        </p:nvSpPr>
        <p:spPr>
          <a:xfrm>
            <a:off x="731520" y="4572000"/>
            <a:ext cx="5029200" cy="365760"/>
          </a:xfrm>
          <a:prstGeom prst="rect">
            <a:avLst/>
          </a:prstGeom>
          <a:noFill/>
        </p:spPr>
        <p:txBody>
          <a:bodyPr wrap="square" anchor="t"/>
          <a:lstStyle/>
          <a:p>
            <a:pPr algn="l">
              <a:defRPr sz="1100" b="1">
                <a:solidFill>
                  <a:srgbClr val="F0F0F5"/>
                </a:solidFill>
                <a:latin typeface="Arial"/>
              </a:defRPr>
            </a:pPr>
            <a:r>
              <a:t>5. A Comparison of the Cerebras Wafer-Scale Integration Technology ...</a:t>
            </a:r>
          </a:p>
        </p:txBody>
      </p:sp>
      <p:sp>
        <p:nvSpPr>
          <p:cNvPr id="13" name="TextBox 12"/>
          <p:cNvSpPr txBox="1"/>
          <p:nvPr/>
        </p:nvSpPr>
        <p:spPr>
          <a:xfrm>
            <a:off x="731520" y="4892040"/>
            <a:ext cx="5029200" cy="274320"/>
          </a:xfrm>
          <a:prstGeom prst="rect">
            <a:avLst/>
          </a:prstGeom>
          <a:noFill/>
        </p:spPr>
        <p:txBody>
          <a:bodyPr wrap="square" anchor="t"/>
          <a:lstStyle/>
          <a:p>
            <a:pPr algn="l">
              <a:defRPr sz="900" b="0">
                <a:solidFill>
                  <a:srgbClr val="9A9AA8"/>
                </a:solidFill>
                <a:latin typeface="Arial"/>
              </a:defRPr>
            </a:pPr>
            <a:r>
              <a:t>https://ar5iv.labs.arxiv.org/html/2503.11698</a:t>
            </a:r>
          </a:p>
        </p:txBody>
      </p:sp>
      <p:sp>
        <p:nvSpPr>
          <p:cNvPr id="14" name="TextBox 13"/>
          <p:cNvSpPr txBox="1"/>
          <p:nvPr/>
        </p:nvSpPr>
        <p:spPr>
          <a:xfrm>
            <a:off x="6400800" y="1463040"/>
            <a:ext cx="5029200" cy="365760"/>
          </a:xfrm>
          <a:prstGeom prst="rect">
            <a:avLst/>
          </a:prstGeom>
          <a:noFill/>
        </p:spPr>
        <p:txBody>
          <a:bodyPr wrap="square" anchor="t"/>
          <a:lstStyle/>
          <a:p>
            <a:pPr algn="l">
              <a:defRPr sz="1100" b="1">
                <a:solidFill>
                  <a:srgbClr val="F0F0F5"/>
                </a:solidFill>
                <a:latin typeface="Arial"/>
              </a:defRPr>
            </a:pPr>
            <a:r>
              <a:t>6. OpenAI Debuts First AI Model Optimized for Cerebras Chips ...</a:t>
            </a:r>
          </a:p>
        </p:txBody>
      </p:sp>
      <p:sp>
        <p:nvSpPr>
          <p:cNvPr id="15" name="TextBox 14"/>
          <p:cNvSpPr txBox="1"/>
          <p:nvPr/>
        </p:nvSpPr>
        <p:spPr>
          <a:xfrm>
            <a:off x="6400800" y="1783080"/>
            <a:ext cx="5029200" cy="274320"/>
          </a:xfrm>
          <a:prstGeom prst="rect">
            <a:avLst/>
          </a:prstGeom>
          <a:noFill/>
        </p:spPr>
        <p:txBody>
          <a:bodyPr wrap="square" anchor="t"/>
          <a:lstStyle/>
          <a:p>
            <a:pPr algn="l">
              <a:defRPr sz="900" b="0">
                <a:solidFill>
                  <a:srgbClr val="9A9AA8"/>
                </a:solidFill>
                <a:latin typeface="Arial"/>
              </a:defRPr>
            </a:pPr>
            <a:r>
              <a:t>https://www.mitsloanme.com/article/openai-debuts-first-ai-mo...</a:t>
            </a:r>
          </a:p>
        </p:txBody>
      </p:sp>
      <p:sp>
        <p:nvSpPr>
          <p:cNvPr id="16" name="TextBox 15"/>
          <p:cNvSpPr txBox="1"/>
          <p:nvPr/>
        </p:nvSpPr>
        <p:spPr>
          <a:xfrm>
            <a:off x="6400800" y="2240280"/>
            <a:ext cx="5029200" cy="365760"/>
          </a:xfrm>
          <a:prstGeom prst="rect">
            <a:avLst/>
          </a:prstGeom>
          <a:noFill/>
        </p:spPr>
        <p:txBody>
          <a:bodyPr wrap="square" anchor="t"/>
          <a:lstStyle/>
          <a:p>
            <a:pPr algn="l">
              <a:defRPr sz="1100" b="1">
                <a:solidFill>
                  <a:srgbClr val="F0F0F5"/>
                </a:solidFill>
                <a:latin typeface="Arial"/>
              </a:defRPr>
            </a:pPr>
            <a:r>
              <a:t>7. OpenAI turns to Cerebras in a mega deal to scale AI inference ...</a:t>
            </a:r>
          </a:p>
        </p:txBody>
      </p:sp>
      <p:sp>
        <p:nvSpPr>
          <p:cNvPr id="17" name="TextBox 16"/>
          <p:cNvSpPr txBox="1"/>
          <p:nvPr/>
        </p:nvSpPr>
        <p:spPr>
          <a:xfrm>
            <a:off x="6400800" y="2560320"/>
            <a:ext cx="5029200" cy="274320"/>
          </a:xfrm>
          <a:prstGeom prst="rect">
            <a:avLst/>
          </a:prstGeom>
          <a:noFill/>
        </p:spPr>
        <p:txBody>
          <a:bodyPr wrap="square" anchor="t"/>
          <a:lstStyle/>
          <a:p>
            <a:pPr algn="l">
              <a:defRPr sz="900" b="0">
                <a:solidFill>
                  <a:srgbClr val="9A9AA8"/>
                </a:solidFill>
                <a:latin typeface="Arial"/>
              </a:defRPr>
            </a:pPr>
            <a:r>
              <a:t>https://www.networkworld.com/article/4117296/openai-turns-to...</a:t>
            </a:r>
          </a:p>
        </p:txBody>
      </p:sp>
      <p:sp>
        <p:nvSpPr>
          <p:cNvPr id="18" name="TextBox 17"/>
          <p:cNvSpPr txBox="1"/>
          <p:nvPr/>
        </p:nvSpPr>
        <p:spPr>
          <a:xfrm>
            <a:off x="6400800" y="3017520"/>
            <a:ext cx="5029200" cy="365760"/>
          </a:xfrm>
          <a:prstGeom prst="rect">
            <a:avLst/>
          </a:prstGeom>
          <a:noFill/>
        </p:spPr>
        <p:txBody>
          <a:bodyPr wrap="square" anchor="t"/>
          <a:lstStyle/>
          <a:p>
            <a:pPr algn="l">
              <a:defRPr sz="1100" b="1">
                <a:solidFill>
                  <a:srgbClr val="F0F0F5"/>
                </a:solidFill>
                <a:latin typeface="Arial"/>
              </a:defRPr>
            </a:pPr>
            <a:r>
              <a:t>8. [PDF] Training Giant Neural Networks Using Weight Streaming on ...</a:t>
            </a:r>
          </a:p>
        </p:txBody>
      </p:sp>
      <p:sp>
        <p:nvSpPr>
          <p:cNvPr id="19" name="TextBox 18"/>
          <p:cNvSpPr txBox="1"/>
          <p:nvPr/>
        </p:nvSpPr>
        <p:spPr>
          <a:xfrm>
            <a:off x="6400800" y="3337560"/>
            <a:ext cx="5029200" cy="274320"/>
          </a:xfrm>
          <a:prstGeom prst="rect">
            <a:avLst/>
          </a:prstGeom>
          <a:noFill/>
        </p:spPr>
        <p:txBody>
          <a:bodyPr wrap="square" anchor="t"/>
          <a:lstStyle/>
          <a:p>
            <a:pPr algn="l">
              <a:defRPr sz="900" b="0">
                <a:solidFill>
                  <a:srgbClr val="9A9AA8"/>
                </a:solidFill>
                <a:latin typeface="Arial"/>
              </a:defRPr>
            </a:pPr>
            <a:r>
              <a:t>https://f.hubspotusercontent30.net/hubfs/8968533/Virtual%20B...</a:t>
            </a:r>
          </a:p>
        </p:txBody>
      </p:sp>
      <p:sp>
        <p:nvSpPr>
          <p:cNvPr id="20" name="TextBox 19"/>
          <p:cNvSpPr txBox="1"/>
          <p:nvPr/>
        </p:nvSpPr>
        <p:spPr>
          <a:xfrm>
            <a:off x="6400800" y="3794760"/>
            <a:ext cx="5029200" cy="365760"/>
          </a:xfrm>
          <a:prstGeom prst="rect">
            <a:avLst/>
          </a:prstGeom>
          <a:noFill/>
        </p:spPr>
        <p:txBody>
          <a:bodyPr wrap="square" anchor="t"/>
          <a:lstStyle/>
          <a:p>
            <a:pPr algn="l">
              <a:defRPr sz="1100" b="1">
                <a:solidFill>
                  <a:srgbClr val="F0F0F5"/>
                </a:solidFill>
                <a:latin typeface="Arial"/>
              </a:defRPr>
            </a:pPr>
            <a:r>
              <a:t>9. Cerebras Wafer-Scale Engine Overview - Emergent Mind</a:t>
            </a:r>
          </a:p>
        </p:txBody>
      </p:sp>
      <p:sp>
        <p:nvSpPr>
          <p:cNvPr id="21" name="TextBox 20"/>
          <p:cNvSpPr txBox="1"/>
          <p:nvPr/>
        </p:nvSpPr>
        <p:spPr>
          <a:xfrm>
            <a:off x="6400800" y="4114800"/>
            <a:ext cx="5029200" cy="274320"/>
          </a:xfrm>
          <a:prstGeom prst="rect">
            <a:avLst/>
          </a:prstGeom>
          <a:noFill/>
        </p:spPr>
        <p:txBody>
          <a:bodyPr wrap="square" anchor="t"/>
          <a:lstStyle/>
          <a:p>
            <a:pPr algn="l">
              <a:defRPr sz="900" b="0">
                <a:solidFill>
                  <a:srgbClr val="9A9AA8"/>
                </a:solidFill>
                <a:latin typeface="Arial"/>
              </a:defRPr>
            </a:pPr>
            <a:r>
              <a:t>https://www.emergentmind.com/topics/cerebras-wafer-scale-eng...</a:t>
            </a:r>
          </a:p>
        </p:txBody>
      </p:sp>
      <p:sp>
        <p:nvSpPr>
          <p:cNvPr id="22" name="TextBox 21"/>
          <p:cNvSpPr txBox="1"/>
          <p:nvPr/>
        </p:nvSpPr>
        <p:spPr>
          <a:xfrm>
            <a:off x="6400800" y="4572000"/>
            <a:ext cx="5029200" cy="365760"/>
          </a:xfrm>
          <a:prstGeom prst="rect">
            <a:avLst/>
          </a:prstGeom>
          <a:noFill/>
        </p:spPr>
        <p:txBody>
          <a:bodyPr wrap="square" anchor="t"/>
          <a:lstStyle/>
          <a:p>
            <a:pPr algn="l">
              <a:defRPr sz="1100" b="1">
                <a:solidFill>
                  <a:srgbClr val="F0F0F5"/>
                </a:solidFill>
                <a:latin typeface="Arial"/>
              </a:defRPr>
            </a:pPr>
            <a:r>
              <a:t>10. Supporting PyTorch on the Cerebras Wafer-Scale Engine</a:t>
            </a:r>
          </a:p>
        </p:txBody>
      </p:sp>
      <p:sp>
        <p:nvSpPr>
          <p:cNvPr id="23" name="TextBox 22"/>
          <p:cNvSpPr txBox="1"/>
          <p:nvPr/>
        </p:nvSpPr>
        <p:spPr>
          <a:xfrm>
            <a:off x="6400800" y="4892040"/>
            <a:ext cx="5029200" cy="274320"/>
          </a:xfrm>
          <a:prstGeom prst="rect">
            <a:avLst/>
          </a:prstGeom>
          <a:noFill/>
        </p:spPr>
        <p:txBody>
          <a:bodyPr wrap="square" anchor="t"/>
          <a:lstStyle/>
          <a:p>
            <a:pPr algn="l">
              <a:defRPr sz="900" b="0">
                <a:solidFill>
                  <a:srgbClr val="9A9AA8"/>
                </a:solidFill>
                <a:latin typeface="Arial"/>
              </a:defRPr>
            </a:pPr>
            <a:r>
              <a:t>https://www.cerebras.ai/blog/supporting-pytorch-on-the-cereb...</a:t>
            </a:r>
          </a:p>
        </p:txBody>
      </p:sp>
      <p:sp>
        <p:nvSpPr>
          <p:cNvPr id="24" name="TextBox 23"/>
          <p:cNvSpPr txBox="1"/>
          <p:nvPr/>
        </p:nvSpPr>
        <p:spPr>
          <a:xfrm>
            <a:off x="731520" y="5943600"/>
            <a:ext cx="10698480" cy="457200"/>
          </a:xfrm>
          <a:prstGeom prst="rect">
            <a:avLst/>
          </a:prstGeom>
          <a:noFill/>
        </p:spPr>
        <p:txBody>
          <a:bodyPr wrap="square" anchor="t"/>
          <a:lstStyle/>
          <a:p>
            <a:pPr algn="ctr">
              <a:defRPr sz="1200" b="0">
                <a:solidFill>
                  <a:srgbClr val="609BFF"/>
                </a:solidFill>
                <a:latin typeface="Arial"/>
              </a:defRPr>
            </a:pPr>
            <a:r>
              <a:t>Full article with all citations available on the blog</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14141E"/>
        </a:solidFill>
        <a:effectLst/>
      </p:bgPr>
    </p:bg>
    <p:spTree>
      <p:nvGrpSpPr>
        <p:cNvPr id="1" name=""/>
        <p:cNvGrpSpPr/>
        <p:nvPr/>
      </p:nvGrpSpPr>
      <p:grpSpPr/>
      <p:sp>
        <p:nvSpPr>
          <p:cNvPr id="2" name="Rectangle 1"/>
          <p:cNvSpPr/>
          <p:nvPr/>
        </p:nvSpPr>
        <p:spPr>
          <a:xfrm>
            <a:off x="1097280" y="1828800"/>
            <a:ext cx="1371600" cy="38100"/>
          </a:xfrm>
          <a:prstGeom prst="rect">
            <a:avLst/>
          </a:prstGeom>
          <a:solidFill>
            <a:srgbClr val="609B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97280" y="2103120"/>
            <a:ext cx="9966960" cy="1828800"/>
          </a:xfrm>
          <a:prstGeom prst="rect">
            <a:avLst/>
          </a:prstGeom>
          <a:noFill/>
        </p:spPr>
        <p:txBody>
          <a:bodyPr wrap="square" anchor="t"/>
          <a:lstStyle/>
          <a:p>
            <a:pPr algn="l">
              <a:defRPr sz="3000" b="1">
                <a:solidFill>
                  <a:srgbClr val="F0F0F5"/>
                </a:solidFill>
                <a:latin typeface="Arial"/>
              </a:defRPr>
            </a:pPr>
            <a:r>
              <a:t>The transition to wafer-scale integration is a physical and economic necessity driven by the 'communication wall' of traditional GPU clusters, enabling a 1000x increase in bandwidth and a fundamental shift toward a heterogeneous, non-NVIDIA AI infrastructure.</a:t>
            </a:r>
          </a:p>
        </p:txBody>
      </p:sp>
      <p:sp>
        <p:nvSpPr>
          <p:cNvPr id="4" name="TextBox 3"/>
          <p:cNvSpPr txBox="1"/>
          <p:nvPr/>
        </p:nvSpPr>
        <p:spPr>
          <a:xfrm>
            <a:off x="1097280" y="4114800"/>
            <a:ext cx="9966960" cy="914400"/>
          </a:xfrm>
          <a:prstGeom prst="rect">
            <a:avLst/>
          </a:prstGeom>
          <a:noFill/>
        </p:spPr>
        <p:txBody>
          <a:bodyPr wrap="square" anchor="t"/>
          <a:lstStyle/>
          <a:p>
            <a:pPr algn="l">
              <a:defRPr sz="2000" b="0">
                <a:solidFill>
                  <a:srgbClr val="9A9AA8"/>
                </a:solidFill>
                <a:latin typeface="Arial"/>
              </a:defRPr>
            </a:pPr>
            <a:r>
              <a:t>Beyond the GPU Era</a:t>
            </a:r>
          </a:p>
        </p:txBody>
      </p:sp>
      <p:sp>
        <p:nvSpPr>
          <p:cNvPr id="5" name="TextBox 4"/>
          <p:cNvSpPr txBox="1"/>
          <p:nvPr/>
        </p:nvSpPr>
        <p:spPr>
          <a:xfrm>
            <a:off x="1097280" y="5669280"/>
            <a:ext cx="9966960" cy="457200"/>
          </a:xfrm>
          <a:prstGeom prst="rect">
            <a:avLst/>
          </a:prstGeom>
          <a:noFill/>
        </p:spPr>
        <p:txBody>
          <a:bodyPr wrap="square" anchor="t"/>
          <a:lstStyle/>
          <a:p>
            <a:pPr algn="l">
              <a:defRPr sz="1400" b="0">
                <a:solidFill>
                  <a:srgbClr val="609BFF"/>
                </a:solidFill>
                <a:latin typeface="Arial"/>
              </a:defRPr>
            </a:pPr>
            <a:r>
              <a:t>Like &amp; Subscribe  |  Prolific Blog</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