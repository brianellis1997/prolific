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we are diving into one of the most significant shifts in operating system history: the integration of Machine Learning directly into the Linux kernel. For decades, we've relied on fixed rules to manage our systems, but as hardware grows more complex, those rules are breaking down. We're going to explore how the kernel is evolving from a collection of static heuristics into a truly intelligent, predictive engine.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start, we need to understand why this shift is happening now. It isn't just a trend; it's a response to a fundamental 'complexity wall' that human engineers can no longer climb alone. Let's look at the three main drivers: the death of static heuristics, the rise of specialized hardware, and the new safety standards provided by the Rust language.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on that idea of complexity, consider the Completely Fair Scheduler, or CFS. When it was introduced in 2007, 4-core systems were high-end, but today we're dealing with 48 cores or more and heterogeneous architectures. Human-written heuristics simply can't account for the billions of possible system states anymore. By using eBPF, we can now run machine learning models directly in kernel space to make smarter, data-driven decisions in real-time.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if you're wondering if these are just marginal gains, look at FarSight. It's the first Linux-based far-memory system to use deep learning for prefetching. By replacing traditional rules with a model that can learn complex access patterns like pointer chasing, it achieved a staggering 3.6x performance boost. This proves that learned patterns consistently outperform hand-tuned parameters in complex environments.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Moving to the hardware side, we're seeing Neural Processing Units, or NPUs, moving directly onto the silicon alongside the CPU. This allows the kernel to perform inference without the massive latency of switching to user space. To keep this safe, the 'Rust-for-Linux' project is critical. Rust's ownership model ensures that these complex ML operations don't introduce the memory bugs that have historically plagued C-based kernel development.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we've covered the 'why' and the 'how,' let's look at where this is actually being applied. We're seeing three major areas of transformation: CPU scheduling, memory management, and the use of eBPF as a universal inference runtime.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world of scheduling, systems like Aegis are using Deep Q-Networks to predict the best task placement, reducing event loss by huge margins. Similarly, in memory management, we're moving away from simple 'Least Recently Used' algorithms. New systems like Sibyl can actually look at the program counter to understand the context of a memory access, allowing the kernel to prefetch data before the application even asks for 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biggest hurdles is making these models small enough to run inside the kernel's restricted environment. Research shows we can use compressed LSTM models to drastically reduce the number of parameters without sacrificing accuracy. This allows us to fit sophisticated intelligence into the tight constraints of the eBPF runtime or kernel modules.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adding intelligence to the kernel isn't without risk. We are essentially opening up a new category of security threats. In this final section, we'll look at adversarial attacks and the massive challenge of verifying probabilistic code in a deterministic world.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you can see in this diagram, an adversary can target both the learning phase and the prediction phase. In a kernel context, an attacker could craft specific memory patterns to 'poison' a prefetcher, forcing it to waste resources. Because these models are probabilistic, it's incredibly hard to detect when an input has been mathematically optimized to trigger a 'wrong' but technically valid decision.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of you looking to dive deeper into the technical papers, I've listed the primary sources here. These include the original FarSight research and the documentation for the Aegis scheduler. I highly recommend checking out the Rust-for-Linux project to see how the safety foundations are being built.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summary, the integration of machine learning into the Linux kernel is a fundamental shift that is already delivering massive performance gains. While the security challenges are real, the combination of NPU hardware and Rust's safety features is paving the way for a more intelligent, adaptive operating system. If you enjoyed this deep dive, please like the video, subscribe for more systems programming content, and check out the full blog post linked in the description. Thanks for watching!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097280" y="16459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920240"/>
            <a:ext cx="9966960" cy="1828800"/>
          </a:xfrm>
          <a:prstGeom prst="rect">
            <a:avLst/>
          </a:prstGeom>
          <a:noFill/>
        </p:spPr>
        <p:txBody>
          <a:bodyPr wrap="square" anchor="t"/>
          <a:lstStyle/>
          <a:p>
            <a:pPr algn="l">
              <a:defRPr sz="4000" b="1">
                <a:solidFill>
                  <a:srgbClr val="F0F0F5"/>
                </a:solidFill>
                <a:latin typeface="Arial"/>
              </a:defRPr>
            </a:pPr>
            <a:r>
              <a:t>Machine Learning in the Linux Kernel</a:t>
            </a:r>
          </a:p>
        </p:txBody>
      </p:sp>
      <p:sp>
        <p:nvSpPr>
          <p:cNvPr id="4" name="TextBox 3"/>
          <p:cNvSpPr txBox="1"/>
          <p:nvPr/>
        </p:nvSpPr>
        <p:spPr>
          <a:xfrm>
            <a:off x="1097280" y="3840480"/>
            <a:ext cx="9966960" cy="914400"/>
          </a:xfrm>
          <a:prstGeom prst="rect">
            <a:avLst/>
          </a:prstGeom>
          <a:noFill/>
        </p:spPr>
        <p:txBody>
          <a:bodyPr wrap="square" anchor="t"/>
          <a:lstStyle/>
          <a:p>
            <a:pPr algn="l">
              <a:defRPr sz="2000" b="0">
                <a:solidFill>
                  <a:srgbClr val="9A9AA8"/>
                </a:solidFill>
                <a:latin typeface="Arial"/>
              </a:defRPr>
            </a:pPr>
            <a:r>
              <a:t>A New Frontier for Systems Programming</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9A9AA8"/>
                </a:solidFill>
                <a:latin typeface="Arial"/>
              </a:defRPr>
            </a:pPr>
            <a:r>
              <a:t>March 10, 2026  |  Prolific Blog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01</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Convergence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Why ML Belongs in the Kernel</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Beyond Static Heuristics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CFS designed for 4 cores; modern systems exceed 48</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System states have exploded into the billions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eBPF provides a safe, programmable ML runtime</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Real-time inference at the point of decision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FarSight achieves up to 3.6 times higher performance compared to current state-of-the-art systems.</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Research Paper 14740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The Hardware &amp; Safety Catalyst</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On-die NPUs (like NXP Neutron) eliminate context switches</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Edge AI demands sub-millisecond response times</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Rust-for-Linux prevents memory safety vulnerabilities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Type safety ensures valid tensor operations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02</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Intelligence in Action</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Transformative Kernel Applications</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Predictive Scheduling &amp; Memory</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5" name="TextBox 4"/>
          <p:cNvSpPr txBox="1"/>
          <p:nvPr/>
        </p:nvSpPr>
        <p:spPr>
          <a:xfrm>
            <a:off x="1280160" y="1463040"/>
            <a:ext cx="9601200" cy="457200"/>
          </a:xfrm>
          <a:prstGeom prst="rect">
            <a:avLst/>
          </a:prstGeom>
          <a:noFill/>
        </p:spPr>
        <p:txBody>
          <a:bodyPr wrap="square" anchor="t"/>
          <a:lstStyle/>
          <a:p>
            <a:pPr algn="l">
              <a:defRPr sz="1800" b="0">
                <a:solidFill>
                  <a:srgbClr val="F0F0F5"/>
                </a:solidFill>
                <a:latin typeface="Arial"/>
              </a:defRPr>
            </a:pPr>
            <a:r>
              <a:t>Aegis uses Deep Q-Networks for task scheduling</a:t>
            </a:r>
          </a:p>
        </p:txBody>
      </p:sp>
      <p:sp>
        <p:nvSpPr>
          <p:cNvPr id="6" name="TextBox 5"/>
          <p:cNvSpPr txBox="1"/>
          <p:nvPr/>
        </p:nvSpPr>
        <p:spPr>
          <a:xfrm>
            <a:off x="731520" y="21488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7" name="TextBox 6"/>
          <p:cNvSpPr txBox="1"/>
          <p:nvPr/>
        </p:nvSpPr>
        <p:spPr>
          <a:xfrm>
            <a:off x="1280160" y="2148840"/>
            <a:ext cx="9601200" cy="457200"/>
          </a:xfrm>
          <a:prstGeom prst="rect">
            <a:avLst/>
          </a:prstGeom>
          <a:noFill/>
        </p:spPr>
        <p:txBody>
          <a:bodyPr wrap="square" anchor="t"/>
          <a:lstStyle/>
          <a:p>
            <a:pPr algn="l">
              <a:defRPr sz="1800" b="0">
                <a:solidFill>
                  <a:srgbClr val="F0F0F5"/>
                </a:solidFill>
                <a:latin typeface="Arial"/>
              </a:defRPr>
            </a:pPr>
            <a:r>
              <a:t>ML models learn application-specific NUMA placement</a:t>
            </a:r>
          </a:p>
        </p:txBody>
      </p:sp>
      <p:sp>
        <p:nvSpPr>
          <p:cNvPr id="8" name="TextBox 7"/>
          <p:cNvSpPr txBox="1"/>
          <p:nvPr/>
        </p:nvSpPr>
        <p:spPr>
          <a:xfrm>
            <a:off x="731520" y="2834640"/>
            <a:ext cx="365760" cy="457200"/>
          </a:xfrm>
          <a:prstGeom prst="rect">
            <a:avLst/>
          </a:prstGeom>
          <a:noFill/>
        </p:spPr>
        <p:txBody>
          <a:bodyPr wrap="square" anchor="t"/>
          <a:lstStyle/>
          <a:p>
            <a:pPr algn="l">
              <a:defRPr sz="1800" b="1">
                <a:solidFill>
                  <a:srgbClr val="609BFF"/>
                </a:solidFill>
                <a:latin typeface="Arial"/>
              </a:defRPr>
            </a:pPr>
            <a:r>
              <a:t>•</a:t>
            </a:r>
          </a:p>
        </p:txBody>
      </p:sp>
      <p:sp>
        <p:nvSpPr>
          <p:cNvPr id="9" name="TextBox 8"/>
          <p:cNvSpPr txBox="1"/>
          <p:nvPr/>
        </p:nvSpPr>
        <p:spPr>
          <a:xfrm>
            <a:off x="1280160" y="2834640"/>
            <a:ext cx="9601200" cy="457200"/>
          </a:xfrm>
          <a:prstGeom prst="rect">
            <a:avLst/>
          </a:prstGeom>
          <a:noFill/>
        </p:spPr>
        <p:txBody>
          <a:bodyPr wrap="square" anchor="t"/>
          <a:lstStyle/>
          <a:p>
            <a:pPr algn="l">
              <a:defRPr sz="1800" b="0">
                <a:solidFill>
                  <a:srgbClr val="F0F0F5"/>
                </a:solidFill>
                <a:latin typeface="Arial"/>
              </a:defRPr>
            </a:pPr>
            <a:r>
              <a:t>Predictive prefetching reduces expensive page faults</a:t>
            </a:r>
          </a:p>
        </p:txBody>
      </p:sp>
      <p:sp>
        <p:nvSpPr>
          <p:cNvPr id="10" name="TextBox 9"/>
          <p:cNvSpPr txBox="1"/>
          <p:nvPr/>
        </p:nvSpPr>
        <p:spPr>
          <a:xfrm>
            <a:off x="731520" y="3520440"/>
            <a:ext cx="365760" cy="457200"/>
          </a:xfrm>
          <a:prstGeom prst="rect">
            <a:avLst/>
          </a:prstGeom>
          <a:noFill/>
        </p:spPr>
        <p:txBody>
          <a:bodyPr wrap="square" anchor="t"/>
          <a:lstStyle/>
          <a:p>
            <a:pPr algn="l">
              <a:defRPr sz="1800" b="1">
                <a:solidFill>
                  <a:srgbClr val="7C6AFF"/>
                </a:solidFill>
                <a:latin typeface="Arial"/>
              </a:defRPr>
            </a:pPr>
            <a:r>
              <a:t>•</a:t>
            </a:r>
          </a:p>
        </p:txBody>
      </p:sp>
      <p:sp>
        <p:nvSpPr>
          <p:cNvPr id="11" name="TextBox 10"/>
          <p:cNvSpPr txBox="1"/>
          <p:nvPr/>
        </p:nvSpPr>
        <p:spPr>
          <a:xfrm>
            <a:off x="1280160" y="3520440"/>
            <a:ext cx="9601200" cy="457200"/>
          </a:xfrm>
          <a:prstGeom prst="rect">
            <a:avLst/>
          </a:prstGeom>
          <a:noFill/>
        </p:spPr>
        <p:txBody>
          <a:bodyPr wrap="square" anchor="t"/>
          <a:lstStyle/>
          <a:p>
            <a:pPr algn="l">
              <a:defRPr sz="1800" b="0">
                <a:solidFill>
                  <a:srgbClr val="F0F0F5"/>
                </a:solidFill>
                <a:latin typeface="Arial"/>
              </a:defRPr>
            </a:pPr>
            <a:r>
              <a:t>Sibyl system uses program counter info for context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Rectangle 1"/>
          <p:cNvSpPr/>
          <p:nvPr/>
        </p:nvSpPr>
        <p:spPr>
          <a:xfrm>
            <a:off x="1371600" y="1371600"/>
            <a:ext cx="94183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188720"/>
            <a:ext cx="914400" cy="914400"/>
          </a:xfrm>
          <a:prstGeom prst="rect">
            <a:avLst/>
          </a:prstGeom>
          <a:noFill/>
        </p:spPr>
        <p:txBody>
          <a:bodyPr wrap="square" anchor="t"/>
          <a:lstStyle/>
          <a:p>
            <a:pPr algn="l">
              <a:defRPr sz="7200" b="1">
                <a:solidFill>
                  <a:srgbClr val="609BFF"/>
                </a:solidFill>
                <a:latin typeface="Arial"/>
              </a:defRPr>
            </a:pPr>
            <a:r>
              <a:t>“</a:t>
            </a:r>
          </a:p>
        </p:txBody>
      </p:sp>
      <p:sp>
        <p:nvSpPr>
          <p:cNvPr id="4" name="TextBox 3"/>
          <p:cNvSpPr txBox="1"/>
          <p:nvPr/>
        </p:nvSpPr>
        <p:spPr>
          <a:xfrm>
            <a:off x="1828800" y="2103120"/>
            <a:ext cx="8503920" cy="2286000"/>
          </a:xfrm>
          <a:prstGeom prst="rect">
            <a:avLst/>
          </a:prstGeom>
          <a:noFill/>
        </p:spPr>
        <p:txBody>
          <a:bodyPr wrap="square" anchor="t"/>
          <a:lstStyle/>
          <a:p>
            <a:pPr algn="l">
              <a:defRPr sz="2400" b="0">
                <a:solidFill>
                  <a:srgbClr val="F0F0F5"/>
                </a:solidFill>
                <a:latin typeface="Arial"/>
              </a:defRPr>
            </a:pPr>
            <a:r>
              <a:t>A compressed LSTM model can reduce parameters by a factor of O(n/logn) without losing accuracy.</a:t>
            </a:r>
          </a:p>
        </p:txBody>
      </p:sp>
      <p:sp>
        <p:nvSpPr>
          <p:cNvPr id="5" name="TextBox 4"/>
          <p:cNvSpPr txBox="1"/>
          <p:nvPr/>
        </p:nvSpPr>
        <p:spPr>
          <a:xfrm>
            <a:off x="1828800" y="4572000"/>
            <a:ext cx="8503920" cy="457200"/>
          </a:xfrm>
          <a:prstGeom prst="rect">
            <a:avLst/>
          </a:prstGeom>
          <a:noFill/>
        </p:spPr>
        <p:txBody>
          <a:bodyPr wrap="square" anchor="t"/>
          <a:lstStyle/>
          <a:p>
            <a:pPr algn="r">
              <a:defRPr sz="1400" b="0">
                <a:solidFill>
                  <a:srgbClr val="9A9AA8"/>
                </a:solidFill>
                <a:latin typeface="Arial"/>
              </a:defRPr>
            </a:pPr>
            <a:r>
              <a:t>— Systems ML Research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TextBox 1"/>
          <p:cNvSpPr txBox="1"/>
          <p:nvPr/>
        </p:nvSpPr>
        <p:spPr>
          <a:xfrm>
            <a:off x="731520" y="1371600"/>
            <a:ext cx="1828800" cy="1097280"/>
          </a:xfrm>
          <a:prstGeom prst="rect">
            <a:avLst/>
          </a:prstGeom>
          <a:noFill/>
        </p:spPr>
        <p:txBody>
          <a:bodyPr wrap="square" anchor="t"/>
          <a:lstStyle/>
          <a:p>
            <a:pPr algn="l">
              <a:defRPr sz="4800" b="1">
                <a:solidFill>
                  <a:srgbClr val="609BFF"/>
                </a:solidFill>
                <a:latin typeface="Arial"/>
              </a:defRPr>
            </a:pPr>
            <a:r>
              <a:t>03</a:t>
            </a:r>
          </a:p>
        </p:txBody>
      </p:sp>
      <p:sp>
        <p:nvSpPr>
          <p:cNvPr id="3" name="TextBox 2"/>
          <p:cNvSpPr txBox="1"/>
          <p:nvPr/>
        </p:nvSpPr>
        <p:spPr>
          <a:xfrm>
            <a:off x="731520" y="2560320"/>
            <a:ext cx="10698480" cy="1371600"/>
          </a:xfrm>
          <a:prstGeom prst="rect">
            <a:avLst/>
          </a:prstGeom>
          <a:noFill/>
        </p:spPr>
        <p:txBody>
          <a:bodyPr wrap="square" anchor="t"/>
          <a:lstStyle/>
          <a:p>
            <a:pPr algn="l">
              <a:defRPr sz="3600" b="1">
                <a:solidFill>
                  <a:srgbClr val="F0F0F5"/>
                </a:solidFill>
                <a:latin typeface="Arial"/>
              </a:defRPr>
            </a:pPr>
            <a:r>
              <a:t>The Security Challenge</a:t>
            </a:r>
          </a:p>
        </p:txBody>
      </p:sp>
      <p:sp>
        <p:nvSpPr>
          <p:cNvPr id="4" name="TextBox 3"/>
          <p:cNvSpPr txBox="1"/>
          <p:nvPr/>
        </p:nvSpPr>
        <p:spPr>
          <a:xfrm>
            <a:off x="731520" y="4023360"/>
            <a:ext cx="10698480" cy="914400"/>
          </a:xfrm>
          <a:prstGeom prst="rect">
            <a:avLst/>
          </a:prstGeom>
          <a:noFill/>
        </p:spPr>
        <p:txBody>
          <a:bodyPr wrap="square" anchor="t"/>
          <a:lstStyle/>
          <a:p>
            <a:pPr algn="l">
              <a:defRPr sz="1800" b="0">
                <a:solidFill>
                  <a:srgbClr val="9A9AA8"/>
                </a:solidFill>
                <a:latin typeface="Arial"/>
              </a:defRPr>
            </a:pPr>
            <a:r>
              <a:t>Defending the Intelligent Kernel</a:t>
            </a:r>
          </a:p>
        </p:txBody>
      </p:sp>
      <p:sp>
        <p:nvSpPr>
          <p:cNvPr id="5" name="Rectangle 4"/>
          <p:cNvSpPr/>
          <p:nvPr/>
        </p:nvSpPr>
        <p:spPr>
          <a:xfrm>
            <a:off x="731520" y="237744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Adversarial Threats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tmpj4kzjb23.png"/>
          <p:cNvPicPr>
            <a:picLocks noChangeAspect="1"/>
          </p:cNvPicPr>
          <p:nvPr/>
        </p:nvPicPr>
        <p:blipFill>
          <a:blip r:embed="rId2"/>
          <a:stretch>
            <a:fillRect/>
          </a:stretch>
        </p:blipFill>
        <p:spPr>
          <a:xfrm>
            <a:off x="731520" y="1645920"/>
            <a:ext cx="5943600" cy="4114800"/>
          </a:xfrm>
          <a:prstGeom prst="rect">
            <a:avLst/>
          </a:prstGeom>
        </p:spPr>
      </p:pic>
      <p:sp>
        <p:nvSpPr>
          <p:cNvPr id="5" name="TextBox 4"/>
          <p:cNvSpPr txBox="1"/>
          <p:nvPr/>
        </p:nvSpPr>
        <p:spPr>
          <a:xfrm>
            <a:off x="731520" y="5943600"/>
            <a:ext cx="5943600" cy="457200"/>
          </a:xfrm>
          <a:prstGeom prst="rect">
            <a:avLst/>
          </a:prstGeom>
          <a:noFill/>
        </p:spPr>
        <p:txBody>
          <a:bodyPr wrap="square" anchor="t"/>
          <a:lstStyle/>
          <a:p>
            <a:pPr algn="ctr">
              <a:defRPr sz="1200" b="0">
                <a:solidFill>
                  <a:srgbClr val="9A9AA8"/>
                </a:solidFill>
                <a:latin typeface="Arial"/>
              </a:defRPr>
            </a:pPr>
            <a:r>
              <a:t>Adversarial attack vectors targeting both learning and prediction phases.</a:t>
            </a:r>
          </a:p>
        </p:txBody>
      </p:sp>
      <p:sp>
        <p:nvSpPr>
          <p:cNvPr id="6" name="TextBox 5"/>
          <p:cNvSpPr txBox="1"/>
          <p:nvPr/>
        </p:nvSpPr>
        <p:spPr>
          <a:xfrm>
            <a:off x="7132320" y="1645920"/>
            <a:ext cx="4297680" cy="548640"/>
          </a:xfrm>
          <a:prstGeom prst="rect">
            <a:avLst/>
          </a:prstGeom>
          <a:noFill/>
        </p:spPr>
        <p:txBody>
          <a:bodyPr wrap="square" anchor="t"/>
          <a:lstStyle/>
          <a:p>
            <a:pPr algn="l">
              <a:defRPr sz="1500" b="0">
                <a:solidFill>
                  <a:srgbClr val="F0F0F5"/>
                </a:solidFill>
                <a:latin typeface="Arial"/>
              </a:defRPr>
            </a:pPr>
            <a:r>
              <a:t>•  Model poisoning via crafted memory access patterns</a:t>
            </a:r>
          </a:p>
        </p:txBody>
      </p:sp>
      <p:sp>
        <p:nvSpPr>
          <p:cNvPr id="7" name="TextBox 6"/>
          <p:cNvSpPr txBox="1"/>
          <p:nvPr/>
        </p:nvSpPr>
        <p:spPr>
          <a:xfrm>
            <a:off x="7132320" y="2286000"/>
            <a:ext cx="4297680" cy="548640"/>
          </a:xfrm>
          <a:prstGeom prst="rect">
            <a:avLst/>
          </a:prstGeom>
          <a:noFill/>
        </p:spPr>
        <p:txBody>
          <a:bodyPr wrap="square" anchor="t"/>
          <a:lstStyle/>
          <a:p>
            <a:pPr algn="l">
              <a:defRPr sz="1500" b="0">
                <a:solidFill>
                  <a:srgbClr val="F0F0F5"/>
                </a:solidFill>
                <a:latin typeface="Arial"/>
              </a:defRPr>
            </a:pPr>
            <a:r>
              <a:t>•  Evasion attacks on eBPF packet filters</a:t>
            </a:r>
          </a:p>
        </p:txBody>
      </p:sp>
      <p:sp>
        <p:nvSpPr>
          <p:cNvPr id="8" name="TextBox 7"/>
          <p:cNvSpPr txBox="1"/>
          <p:nvPr/>
        </p:nvSpPr>
        <p:spPr>
          <a:xfrm>
            <a:off x="7132320" y="2926080"/>
            <a:ext cx="4297680" cy="548640"/>
          </a:xfrm>
          <a:prstGeom prst="rect">
            <a:avLst/>
          </a:prstGeom>
          <a:noFill/>
        </p:spPr>
        <p:txBody>
          <a:bodyPr wrap="square" anchor="t"/>
          <a:lstStyle/>
          <a:p>
            <a:pPr algn="l">
              <a:defRPr sz="1500" b="0">
                <a:solidFill>
                  <a:srgbClr val="F0F0F5"/>
                </a:solidFill>
                <a:latin typeface="Arial"/>
              </a:defRPr>
            </a:pPr>
            <a:r>
              <a:t>•  Model extraction through repeated probing</a:t>
            </a:r>
          </a:p>
        </p:txBody>
      </p:sp>
      <p:sp>
        <p:nvSpPr>
          <p:cNvPr id="9" name="TextBox 8"/>
          <p:cNvSpPr txBox="1"/>
          <p:nvPr/>
        </p:nvSpPr>
        <p:spPr>
          <a:xfrm>
            <a:off x="7132320" y="3566160"/>
            <a:ext cx="4297680" cy="548640"/>
          </a:xfrm>
          <a:prstGeom prst="rect">
            <a:avLst/>
          </a:prstGeom>
          <a:noFill/>
        </p:spPr>
        <p:txBody>
          <a:bodyPr wrap="square" anchor="t"/>
          <a:lstStyle/>
          <a:p>
            <a:pPr algn="l">
              <a:defRPr sz="1500" b="0">
                <a:solidFill>
                  <a:srgbClr val="F0F0F5"/>
                </a:solidFill>
                <a:latin typeface="Arial"/>
              </a:defRPr>
            </a:pPr>
            <a:r>
              <a:t>•  The 'Super Producer' threat in provenance systems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0F14"/>
        </a:solidFill>
        <a:effectLst/>
      </p:bgPr>
    </p:bg>
    <p:spTree>
      <p:nvGrpSpPr>
        <p:cNvPr id="1" name=""/>
        <p:cNvGrpSpPr/>
        <p:nvPr/>
      </p:nvGrpSpPr>
      <p:grpSpPr/>
      <p:sp>
        <p:nvSpPr>
          <p:cNvPr id="2" name="TextBox 1"/>
          <p:cNvSpPr txBox="1"/>
          <p:nvPr/>
        </p:nvSpPr>
        <p:spPr>
          <a:xfrm>
            <a:off x="731520" y="457200"/>
            <a:ext cx="10698480" cy="731520"/>
          </a:xfrm>
          <a:prstGeom prst="rect">
            <a:avLst/>
          </a:prstGeom>
          <a:noFill/>
        </p:spPr>
        <p:txBody>
          <a:bodyPr wrap="square" anchor="t"/>
          <a:lstStyle/>
          <a:p>
            <a:pPr algn="l">
              <a:defRPr sz="2800" b="1">
                <a:solidFill>
                  <a:srgbClr val="F0F0F5"/>
                </a:solidFill>
                <a:latin typeface="Arial"/>
              </a:defRPr>
            </a:pPr>
            <a:r>
              <a:t>Sources &amp; References</a:t>
            </a:r>
          </a:p>
        </p:txBody>
      </p:sp>
      <p:sp>
        <p:nvSpPr>
          <p:cNvPr id="3" name="Rectangle 2"/>
          <p:cNvSpPr/>
          <p:nvPr/>
        </p:nvSpPr>
        <p:spPr>
          <a:xfrm>
            <a:off x="731520" y="118872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463040"/>
            <a:ext cx="5029200" cy="365760"/>
          </a:xfrm>
          <a:prstGeom prst="rect">
            <a:avLst/>
          </a:prstGeom>
          <a:noFill/>
        </p:spPr>
        <p:txBody>
          <a:bodyPr wrap="square" anchor="t"/>
          <a:lstStyle/>
          <a:p>
            <a:pPr algn="l">
              <a:defRPr sz="1100" b="1">
                <a:solidFill>
                  <a:srgbClr val="F0F0F5"/>
                </a:solidFill>
                <a:latin typeface="Arial"/>
              </a:defRPr>
            </a:pPr>
            <a:r>
              <a:t>1. [PDF] Towards Machine Learning-Based I/O Scheduling</a:t>
            </a:r>
          </a:p>
        </p:txBody>
      </p:sp>
      <p:sp>
        <p:nvSpPr>
          <p:cNvPr id="5" name="TextBox 4"/>
          <p:cNvSpPr txBox="1"/>
          <p:nvPr/>
        </p:nvSpPr>
        <p:spPr>
          <a:xfrm>
            <a:off x="731520" y="1783080"/>
            <a:ext cx="5029200" cy="274320"/>
          </a:xfrm>
          <a:prstGeom prst="rect">
            <a:avLst/>
          </a:prstGeom>
          <a:noFill/>
        </p:spPr>
        <p:txBody>
          <a:bodyPr wrap="square" anchor="t"/>
          <a:lstStyle/>
          <a:p>
            <a:pPr algn="l">
              <a:defRPr sz="900" b="0">
                <a:solidFill>
                  <a:srgbClr val="9A9AA8"/>
                </a:solidFill>
                <a:latin typeface="Arial"/>
              </a:defRPr>
            </a:pPr>
            <a:r>
              <a:t>https://www.fsl.cs.sunysb.edu/docs/kml/kml-iosched-25-07.pdf</a:t>
            </a:r>
          </a:p>
        </p:txBody>
      </p:sp>
      <p:sp>
        <p:nvSpPr>
          <p:cNvPr id="6" name="TextBox 5"/>
          <p:cNvSpPr txBox="1"/>
          <p:nvPr/>
        </p:nvSpPr>
        <p:spPr>
          <a:xfrm>
            <a:off x="731520" y="2240280"/>
            <a:ext cx="5029200" cy="365760"/>
          </a:xfrm>
          <a:prstGeom prst="rect">
            <a:avLst/>
          </a:prstGeom>
          <a:noFill/>
        </p:spPr>
        <p:txBody>
          <a:bodyPr wrap="square" anchor="t"/>
          <a:lstStyle/>
          <a:p>
            <a:pPr algn="l">
              <a:defRPr sz="1100" b="1">
                <a:solidFill>
                  <a:srgbClr val="F0F0F5"/>
                </a:solidFill>
                <a:latin typeface="Arial"/>
              </a:defRPr>
            </a:pPr>
            <a:r>
              <a:t>2. Learning Semantics, Not Addresses: Runtime Neural Prefetching for...</a:t>
            </a:r>
          </a:p>
        </p:txBody>
      </p:sp>
      <p:sp>
        <p:nvSpPr>
          <p:cNvPr id="7" name="TextBox 6"/>
          <p:cNvSpPr txBox="1"/>
          <p:nvPr/>
        </p:nvSpPr>
        <p:spPr>
          <a:xfrm>
            <a:off x="731520" y="2560320"/>
            <a:ext cx="5029200" cy="274320"/>
          </a:xfrm>
          <a:prstGeom prst="rect">
            <a:avLst/>
          </a:prstGeom>
          <a:noFill/>
        </p:spPr>
        <p:txBody>
          <a:bodyPr wrap="square" anchor="t"/>
          <a:lstStyle/>
          <a:p>
            <a:pPr algn="l">
              <a:defRPr sz="900" b="0">
                <a:solidFill>
                  <a:srgbClr val="9A9AA8"/>
                </a:solidFill>
                <a:latin typeface="Arial"/>
              </a:defRPr>
            </a:pPr>
            <a:r>
              <a:t>https://openreview.net/forum?id=I0s7USllLz</a:t>
            </a:r>
          </a:p>
        </p:txBody>
      </p:sp>
      <p:sp>
        <p:nvSpPr>
          <p:cNvPr id="8" name="TextBox 7"/>
          <p:cNvSpPr txBox="1"/>
          <p:nvPr/>
        </p:nvSpPr>
        <p:spPr>
          <a:xfrm>
            <a:off x="731520" y="3017520"/>
            <a:ext cx="5029200" cy="365760"/>
          </a:xfrm>
          <a:prstGeom prst="rect">
            <a:avLst/>
          </a:prstGeom>
          <a:noFill/>
        </p:spPr>
        <p:txBody>
          <a:bodyPr wrap="square" anchor="t"/>
          <a:lstStyle/>
          <a:p>
            <a:pPr algn="l">
              <a:defRPr sz="1100" b="1">
                <a:solidFill>
                  <a:srgbClr val="F0F0F5"/>
                </a:solidFill>
                <a:latin typeface="Arial"/>
              </a:defRPr>
            </a:pPr>
            <a:r>
              <a:t>3. ML-driven Memory Prefetcher – DATA SCIENCE LAB</a:t>
            </a:r>
          </a:p>
        </p:txBody>
      </p:sp>
      <p:sp>
        <p:nvSpPr>
          <p:cNvPr id="9" name="TextBox 8"/>
          <p:cNvSpPr txBox="1"/>
          <p:nvPr/>
        </p:nvSpPr>
        <p:spPr>
          <a:xfrm>
            <a:off x="731520" y="3337560"/>
            <a:ext cx="5029200" cy="274320"/>
          </a:xfrm>
          <a:prstGeom prst="rect">
            <a:avLst/>
          </a:prstGeom>
          <a:noFill/>
        </p:spPr>
        <p:txBody>
          <a:bodyPr wrap="square" anchor="t"/>
          <a:lstStyle/>
          <a:p>
            <a:pPr algn="l">
              <a:defRPr sz="900" b="0">
                <a:solidFill>
                  <a:srgbClr val="9A9AA8"/>
                </a:solidFill>
                <a:latin typeface="Arial"/>
              </a:defRPr>
            </a:pPr>
            <a:r>
              <a:t>https://sites.usc.edu/dslab/projects/ml-driven-memory-prefet...</a:t>
            </a:r>
          </a:p>
        </p:txBody>
      </p:sp>
      <p:sp>
        <p:nvSpPr>
          <p:cNvPr id="10" name="TextBox 9"/>
          <p:cNvSpPr txBox="1"/>
          <p:nvPr/>
        </p:nvSpPr>
        <p:spPr>
          <a:xfrm>
            <a:off x="731520" y="3794760"/>
            <a:ext cx="5029200" cy="365760"/>
          </a:xfrm>
          <a:prstGeom prst="rect">
            <a:avLst/>
          </a:prstGeom>
          <a:noFill/>
        </p:spPr>
        <p:txBody>
          <a:bodyPr wrap="square" anchor="t"/>
          <a:lstStyle/>
          <a:p>
            <a:pPr algn="l">
              <a:defRPr sz="1100" b="1">
                <a:solidFill>
                  <a:srgbClr val="F0F0F5"/>
                </a:solidFill>
                <a:latin typeface="Arial"/>
              </a:defRPr>
            </a:pPr>
            <a:r>
              <a:t>4. [PDF] Lightweight ML-based Runtime Prefetcher Selection on Many-core ....</a:t>
            </a:r>
          </a:p>
        </p:txBody>
      </p:sp>
      <p:sp>
        <p:nvSpPr>
          <p:cNvPr id="11" name="TextBox 10"/>
          <p:cNvSpPr txBox="1"/>
          <p:nvPr/>
        </p:nvSpPr>
        <p:spPr>
          <a:xfrm>
            <a:off x="731520" y="4114800"/>
            <a:ext cx="5029200" cy="274320"/>
          </a:xfrm>
          <a:prstGeom prst="rect">
            <a:avLst/>
          </a:prstGeom>
          <a:noFill/>
        </p:spPr>
        <p:txBody>
          <a:bodyPr wrap="square" anchor="t"/>
          <a:lstStyle/>
          <a:p>
            <a:pPr algn="l">
              <a:defRPr sz="900" b="0">
                <a:solidFill>
                  <a:srgbClr val="9A9AA8"/>
                </a:solidFill>
                <a:latin typeface="Arial"/>
              </a:defRPr>
            </a:pPr>
            <a:r>
              <a:t>http://slam.ece.utexas.edu/pubs/mlarchsys23.prefetch.pdf</a:t>
            </a:r>
          </a:p>
        </p:txBody>
      </p:sp>
      <p:sp>
        <p:nvSpPr>
          <p:cNvPr id="12" name="TextBox 11"/>
          <p:cNvSpPr txBox="1"/>
          <p:nvPr/>
        </p:nvSpPr>
        <p:spPr>
          <a:xfrm>
            <a:off x="731520" y="4572000"/>
            <a:ext cx="5029200" cy="365760"/>
          </a:xfrm>
          <a:prstGeom prst="rect">
            <a:avLst/>
          </a:prstGeom>
          <a:noFill/>
        </p:spPr>
        <p:txBody>
          <a:bodyPr wrap="square" anchor="t"/>
          <a:lstStyle/>
          <a:p>
            <a:pPr algn="l">
              <a:defRPr sz="1100" b="1">
                <a:solidFill>
                  <a:srgbClr val="F0F0F5"/>
                </a:solidFill>
                <a:latin typeface="Arial"/>
              </a:defRPr>
            </a:pPr>
            <a:r>
              <a:t>5. [PDF] Practical Model Checking for Verifying Rust OS Kernel Concurrenc...</a:t>
            </a:r>
          </a:p>
        </p:txBody>
      </p:sp>
      <p:sp>
        <p:nvSpPr>
          <p:cNvPr id="13" name="TextBox 12"/>
          <p:cNvSpPr txBox="1"/>
          <p:nvPr/>
        </p:nvSpPr>
        <p:spPr>
          <a:xfrm>
            <a:off x="731520" y="4892040"/>
            <a:ext cx="5029200" cy="274320"/>
          </a:xfrm>
          <a:prstGeom prst="rect">
            <a:avLst/>
          </a:prstGeom>
          <a:noFill/>
        </p:spPr>
        <p:txBody>
          <a:bodyPr wrap="square" anchor="t"/>
          <a:lstStyle/>
          <a:p>
            <a:pPr algn="l">
              <a:defRPr sz="900" b="0">
                <a:solidFill>
                  <a:srgbClr val="9A9AA8"/>
                </a:solidFill>
                <a:latin typeface="Arial"/>
              </a:defRPr>
            </a:pPr>
            <a:r>
              <a:t>https://www.usenix.org/system/files/atc25-tang.pdf</a:t>
            </a:r>
          </a:p>
        </p:txBody>
      </p:sp>
      <p:sp>
        <p:nvSpPr>
          <p:cNvPr id="14" name="TextBox 13"/>
          <p:cNvSpPr txBox="1"/>
          <p:nvPr/>
        </p:nvSpPr>
        <p:spPr>
          <a:xfrm>
            <a:off x="6400800" y="1463040"/>
            <a:ext cx="5029200" cy="365760"/>
          </a:xfrm>
          <a:prstGeom prst="rect">
            <a:avLst/>
          </a:prstGeom>
          <a:noFill/>
        </p:spPr>
        <p:txBody>
          <a:bodyPr wrap="square" anchor="t"/>
          <a:lstStyle/>
          <a:p>
            <a:pPr algn="l">
              <a:defRPr sz="1100" b="1">
                <a:solidFill>
                  <a:srgbClr val="F0F0F5"/>
                </a:solidFill>
                <a:latin typeface="Arial"/>
              </a:defRPr>
            </a:pPr>
            <a:r>
              <a:t>6. Verify the Safety of the Rust Standard Library | AWS Open Source Blog</a:t>
            </a:r>
          </a:p>
        </p:txBody>
      </p:sp>
      <p:sp>
        <p:nvSpPr>
          <p:cNvPr id="15" name="TextBox 14"/>
          <p:cNvSpPr txBox="1"/>
          <p:nvPr/>
        </p:nvSpPr>
        <p:spPr>
          <a:xfrm>
            <a:off x="6400800" y="1783080"/>
            <a:ext cx="5029200" cy="274320"/>
          </a:xfrm>
          <a:prstGeom prst="rect">
            <a:avLst/>
          </a:prstGeom>
          <a:noFill/>
        </p:spPr>
        <p:txBody>
          <a:bodyPr wrap="square" anchor="t"/>
          <a:lstStyle/>
          <a:p>
            <a:pPr algn="l">
              <a:defRPr sz="900" b="0">
                <a:solidFill>
                  <a:srgbClr val="9A9AA8"/>
                </a:solidFill>
                <a:latin typeface="Arial"/>
              </a:defRPr>
            </a:pPr>
            <a:r>
              <a:t>https://aws.amazon.com/blogs/opensource/verify-the-safety-of...</a:t>
            </a:r>
          </a:p>
        </p:txBody>
      </p:sp>
      <p:sp>
        <p:nvSpPr>
          <p:cNvPr id="16" name="TextBox 15"/>
          <p:cNvSpPr txBox="1"/>
          <p:nvPr/>
        </p:nvSpPr>
        <p:spPr>
          <a:xfrm>
            <a:off x="6400800" y="2240280"/>
            <a:ext cx="5029200" cy="365760"/>
          </a:xfrm>
          <a:prstGeom prst="rect">
            <a:avLst/>
          </a:prstGeom>
          <a:noFill/>
        </p:spPr>
        <p:txBody>
          <a:bodyPr wrap="square" anchor="t"/>
          <a:lstStyle/>
          <a:p>
            <a:pPr algn="l">
              <a:defRPr sz="1100" b="1">
                <a:solidFill>
                  <a:srgbClr val="F0F0F5"/>
                </a:solidFill>
                <a:latin typeface="Arial"/>
              </a:defRPr>
            </a:pPr>
            <a:r>
              <a:t>7. On the Integration of Machine Learning Models within the Linux ...</a:t>
            </a:r>
          </a:p>
        </p:txBody>
      </p:sp>
      <p:sp>
        <p:nvSpPr>
          <p:cNvPr id="17" name="TextBox 16"/>
          <p:cNvSpPr txBox="1"/>
          <p:nvPr/>
        </p:nvSpPr>
        <p:spPr>
          <a:xfrm>
            <a:off x="6400800" y="2560320"/>
            <a:ext cx="5029200" cy="274320"/>
          </a:xfrm>
          <a:prstGeom prst="rect">
            <a:avLst/>
          </a:prstGeom>
          <a:noFill/>
        </p:spPr>
        <p:txBody>
          <a:bodyPr wrap="square" anchor="t"/>
          <a:lstStyle/>
          <a:p>
            <a:pPr algn="l">
              <a:defRPr sz="900" b="0">
                <a:solidFill>
                  <a:srgbClr val="9A9AA8"/>
                </a:solidFill>
                <a:latin typeface="Arial"/>
              </a:defRPr>
            </a:pPr>
            <a:r>
              <a:t>https://www.youtube.com/watch?v=l1mNgj1PdZQ</a:t>
            </a:r>
          </a:p>
        </p:txBody>
      </p:sp>
      <p:sp>
        <p:nvSpPr>
          <p:cNvPr id="18" name="TextBox 17"/>
          <p:cNvSpPr txBox="1"/>
          <p:nvPr/>
        </p:nvSpPr>
        <p:spPr>
          <a:xfrm>
            <a:off x="6400800" y="3017520"/>
            <a:ext cx="5029200" cy="365760"/>
          </a:xfrm>
          <a:prstGeom prst="rect">
            <a:avLst/>
          </a:prstGeom>
          <a:noFill/>
        </p:spPr>
        <p:txBody>
          <a:bodyPr wrap="square" anchor="t"/>
          <a:lstStyle/>
          <a:p>
            <a:pPr algn="l">
              <a:defRPr sz="1100" b="1">
                <a:solidFill>
                  <a:srgbClr val="F0F0F5"/>
                </a:solidFill>
                <a:latin typeface="Arial"/>
              </a:defRPr>
            </a:pPr>
            <a:r>
              <a:t>8. CN-TU/machine-learning-in-ebpf - GitHub</a:t>
            </a:r>
          </a:p>
        </p:txBody>
      </p:sp>
      <p:sp>
        <p:nvSpPr>
          <p:cNvPr id="19" name="TextBox 18"/>
          <p:cNvSpPr txBox="1"/>
          <p:nvPr/>
        </p:nvSpPr>
        <p:spPr>
          <a:xfrm>
            <a:off x="6400800" y="3337560"/>
            <a:ext cx="5029200" cy="274320"/>
          </a:xfrm>
          <a:prstGeom prst="rect">
            <a:avLst/>
          </a:prstGeom>
          <a:noFill/>
        </p:spPr>
        <p:txBody>
          <a:bodyPr wrap="square" anchor="t"/>
          <a:lstStyle/>
          <a:p>
            <a:pPr algn="l">
              <a:defRPr sz="900" b="0">
                <a:solidFill>
                  <a:srgbClr val="9A9AA8"/>
                </a:solidFill>
                <a:latin typeface="Arial"/>
              </a:defRPr>
            </a:pPr>
            <a:r>
              <a:t>https://github.com/CN-TU/machine-learning-in-ebpf</a:t>
            </a:r>
          </a:p>
        </p:txBody>
      </p:sp>
      <p:sp>
        <p:nvSpPr>
          <p:cNvPr id="20" name="TextBox 19"/>
          <p:cNvSpPr txBox="1"/>
          <p:nvPr/>
        </p:nvSpPr>
        <p:spPr>
          <a:xfrm>
            <a:off x="6400800" y="3794760"/>
            <a:ext cx="5029200" cy="365760"/>
          </a:xfrm>
          <a:prstGeom prst="rect">
            <a:avLst/>
          </a:prstGeom>
          <a:noFill/>
        </p:spPr>
        <p:txBody>
          <a:bodyPr wrap="square" anchor="t"/>
          <a:lstStyle/>
          <a:p>
            <a:pPr algn="l">
              <a:defRPr sz="1100" b="1">
                <a:solidFill>
                  <a:srgbClr val="F0F0F5"/>
                </a:solidFill>
                <a:latin typeface="Arial"/>
              </a:defRPr>
            </a:pPr>
            <a:r>
              <a:t>9. NXP Posts New Linux Accelerator Driver For Their Neutron NPU</a:t>
            </a:r>
          </a:p>
        </p:txBody>
      </p:sp>
      <p:sp>
        <p:nvSpPr>
          <p:cNvPr id="21" name="TextBox 20"/>
          <p:cNvSpPr txBox="1"/>
          <p:nvPr/>
        </p:nvSpPr>
        <p:spPr>
          <a:xfrm>
            <a:off x="6400800" y="4114800"/>
            <a:ext cx="5029200" cy="274320"/>
          </a:xfrm>
          <a:prstGeom prst="rect">
            <a:avLst/>
          </a:prstGeom>
          <a:noFill/>
        </p:spPr>
        <p:txBody>
          <a:bodyPr wrap="square" anchor="t"/>
          <a:lstStyle/>
          <a:p>
            <a:pPr algn="l">
              <a:defRPr sz="900" b="0">
                <a:solidFill>
                  <a:srgbClr val="9A9AA8"/>
                </a:solidFill>
                <a:latin typeface="Arial"/>
              </a:defRPr>
            </a:pPr>
            <a:r>
              <a:t>https://www.phoronix.com/news/NXP-Neutron-Linux-Accel-Driver</a:t>
            </a:r>
          </a:p>
        </p:txBody>
      </p:sp>
      <p:sp>
        <p:nvSpPr>
          <p:cNvPr id="22" name="TextBox 21"/>
          <p:cNvSpPr txBox="1"/>
          <p:nvPr/>
        </p:nvSpPr>
        <p:spPr>
          <a:xfrm>
            <a:off x="6400800" y="4572000"/>
            <a:ext cx="5029200" cy="365760"/>
          </a:xfrm>
          <a:prstGeom prst="rect">
            <a:avLst/>
          </a:prstGeom>
          <a:noFill/>
        </p:spPr>
        <p:txBody>
          <a:bodyPr wrap="square" anchor="t"/>
          <a:lstStyle/>
          <a:p>
            <a:pPr algn="l">
              <a:defRPr sz="1100" b="1">
                <a:solidFill>
                  <a:srgbClr val="F0F0F5"/>
                </a:solidFill>
                <a:latin typeface="Arial"/>
              </a:defRPr>
            </a:pPr>
            <a:r>
              <a:t>10. Improved load balancing with machine learning - LWN.net</a:t>
            </a:r>
          </a:p>
        </p:txBody>
      </p:sp>
      <p:sp>
        <p:nvSpPr>
          <p:cNvPr id="23" name="TextBox 22"/>
          <p:cNvSpPr txBox="1"/>
          <p:nvPr/>
        </p:nvSpPr>
        <p:spPr>
          <a:xfrm>
            <a:off x="6400800" y="4892040"/>
            <a:ext cx="5029200" cy="274320"/>
          </a:xfrm>
          <a:prstGeom prst="rect">
            <a:avLst/>
          </a:prstGeom>
          <a:noFill/>
        </p:spPr>
        <p:txBody>
          <a:bodyPr wrap="square" anchor="t"/>
          <a:lstStyle/>
          <a:p>
            <a:pPr algn="l">
              <a:defRPr sz="900" b="0">
                <a:solidFill>
                  <a:srgbClr val="9A9AA8"/>
                </a:solidFill>
                <a:latin typeface="Arial"/>
              </a:defRPr>
            </a:pPr>
            <a:r>
              <a:t>https://lwn.net/Articles/1027096/</a:t>
            </a:r>
          </a:p>
        </p:txBody>
      </p:sp>
      <p:sp>
        <p:nvSpPr>
          <p:cNvPr id="24" name="TextBox 23"/>
          <p:cNvSpPr txBox="1"/>
          <p:nvPr/>
        </p:nvSpPr>
        <p:spPr>
          <a:xfrm>
            <a:off x="731520" y="5943600"/>
            <a:ext cx="10698480" cy="457200"/>
          </a:xfrm>
          <a:prstGeom prst="rect">
            <a:avLst/>
          </a:prstGeom>
          <a:noFill/>
        </p:spPr>
        <p:txBody>
          <a:bodyPr wrap="square" anchor="t"/>
          <a:lstStyle/>
          <a:p>
            <a:pPr algn="ctr">
              <a:defRPr sz="1200" b="0">
                <a:solidFill>
                  <a:srgbClr val="609BFF"/>
                </a:solidFill>
                <a:latin typeface="Arial"/>
              </a:defRPr>
            </a:pPr>
            <a:r>
              <a:t>Full article with all citations available on the blog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141E"/>
        </a:solidFill>
        <a:effectLst/>
      </p:bgPr>
    </p:bg>
    <p:spTree>
      <p:nvGrpSpPr>
        <p:cNvPr id="1" name=""/>
        <p:cNvGrpSpPr/>
        <p:nvPr/>
      </p:nvGrpSpPr>
      <p:grpSpPr/>
      <p:sp>
        <p:nvSpPr>
          <p:cNvPr id="2" name="Rectangle 1"/>
          <p:cNvSpPr/>
          <p:nvPr/>
        </p:nvSpPr>
        <p:spPr>
          <a:xfrm>
            <a:off x="1097280" y="1828800"/>
            <a:ext cx="1371600" cy="38100"/>
          </a:xfrm>
          <a:prstGeom prst="rect">
            <a:avLst/>
          </a:prstGeom>
          <a:solidFill>
            <a:srgbClr val="609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103120"/>
            <a:ext cx="9966960" cy="1828800"/>
          </a:xfrm>
          <a:prstGeom prst="rect">
            <a:avLst/>
          </a:prstGeom>
          <a:noFill/>
        </p:spPr>
        <p:txBody>
          <a:bodyPr wrap="square" anchor="t"/>
          <a:lstStyle/>
          <a:p>
            <a:pPr algn="l">
              <a:defRPr sz="3000" b="1">
                <a:solidFill>
                  <a:srgbClr val="F0F0F5"/>
                </a:solidFill>
                <a:latin typeface="Arial"/>
              </a:defRPr>
            </a:pPr>
            <a:r>
              <a:t>The transition from static, hand-tuned heuristics to dynamic, ML-driven models in the Linux kernel—enabled by eBPF, Rust, and NPU hardware—represents a necessary evolution to handle the complexity of modern multi-core systems and data-intensive workloads.</a:t>
            </a:r>
          </a:p>
        </p:txBody>
      </p:sp>
      <p:sp>
        <p:nvSpPr>
          <p:cNvPr id="4" name="TextBox 3"/>
          <p:cNvSpPr txBox="1"/>
          <p:nvPr/>
        </p:nvSpPr>
        <p:spPr>
          <a:xfrm>
            <a:off x="1097280" y="4114800"/>
            <a:ext cx="9966960" cy="914400"/>
          </a:xfrm>
          <a:prstGeom prst="rect">
            <a:avLst/>
          </a:prstGeom>
          <a:noFill/>
        </p:spPr>
        <p:txBody>
          <a:bodyPr wrap="square" anchor="t"/>
          <a:lstStyle/>
          <a:p>
            <a:pPr algn="l">
              <a:defRPr sz="2000" b="0">
                <a:solidFill>
                  <a:srgbClr val="9A9AA8"/>
                </a:solidFill>
                <a:latin typeface="Arial"/>
              </a:defRPr>
            </a:pPr>
            <a:r>
              <a:t>Join the Evolution of Linux</a:t>
            </a:r>
          </a:p>
        </p:txBody>
      </p:sp>
      <p:sp>
        <p:nvSpPr>
          <p:cNvPr id="5" name="TextBox 4"/>
          <p:cNvSpPr txBox="1"/>
          <p:nvPr/>
        </p:nvSpPr>
        <p:spPr>
          <a:xfrm>
            <a:off x="1097280" y="5669280"/>
            <a:ext cx="9966960" cy="457200"/>
          </a:xfrm>
          <a:prstGeom prst="rect">
            <a:avLst/>
          </a:prstGeom>
          <a:noFill/>
        </p:spPr>
        <p:txBody>
          <a:bodyPr wrap="square" anchor="t"/>
          <a:lstStyle/>
          <a:p>
            <a:pPr algn="l">
              <a:defRPr sz="1400" b="0">
                <a:solidFill>
                  <a:srgbClr val="609BFF"/>
                </a:solidFill>
                <a:latin typeface="Arial"/>
              </a:defRPr>
            </a:pPr>
            <a:r>
              <a:t>Like &amp; Subscribe  |  Prolific Blog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